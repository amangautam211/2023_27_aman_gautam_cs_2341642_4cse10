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Importance</c:v>
                </c:pt>
              </c:strCache>
            </c:strRef>
          </c:tx>
          <c:spPr>
            <a:solidFill>
              <a:srgbClr val="0F2A47"/>
            </a:solidFill>
            <a:effectLst/>
          </c:spPr>
          <c:invertIfNegative val="0"/>
          <c:dLbls>
            <c:numFmt formatCode="0.0000" sourceLinked="0"/>
            <c:txPr>
              <a:bodyPr/>
              <a:lstStyle/>
              <a:p>
                <a:pPr>
                  <a:defRPr b="0" i="0" strike="noStrike" sz="1000" u="none">
                    <a:solidFill>
                      <a:srgbClr val="5B6B7B"/>
                    </a:solidFill>
                    <a:latin typeface="Arial"/>
                  </a:defRPr>
                </a:pPr>
              </a:p>
            </c:txPr>
            <c:showLegendKey val="0"/>
            <c:showVal val="1"/>
            <c:showCatName val="0"/>
            <c:showSerName val="0"/>
            <c:showPercent val="0"/>
            <c:showBubbleSize val="0"/>
            <c:showLeaderLines val="0"/>
          </c:dLbls>
          <c:cat>
            <c:multiLvlStrRef>
              <c:f>Sheet1!$A$2:$A$11</c:f>
              <c:multiLvlStrCache>
                <c:ptCount val="10"/>
                <c:lvl>
                  <c:pt idx="0">
                    <c:v>url_count</c:v>
                  </c:pt>
                  <c:pt idx="1">
                    <c:v>suspicious_keyword_count</c:v>
                  </c:pt>
                  <c:pt idx="2">
                    <c:v>"http"</c:v>
                  </c:pt>
                  <c:pt idx="3">
                    <c:v>text_length</c:v>
                  </c:pt>
                  <c:pt idx="4">
                    <c:v>"account"</c:v>
                  </c:pt>
                  <c:pt idx="5">
                    <c:v>"verify"</c:v>
                  </c:pt>
                  <c:pt idx="6">
                    <c:v>"login"</c:v>
                  </c:pt>
                  <c:pt idx="7">
                    <c:v>"hi"</c:v>
                  </c:pt>
                  <c:pt idx="8">
                    <c:v>"com"</c:v>
                  </c:pt>
                  <c:pt idx="9">
                    <c:v>"immediately"</c:v>
                  </c:pt>
                </c:lvl>
              </c:multiLvlStrCache>
            </c:multiLvlStrRef>
          </c:cat>
          <c:val>
            <c:numRef>
              <c:f>Sheet1!$B$2:$B$11</c:f>
              <c:numCache>
                <c:formatCode>General</c:formatCode>
                <c:ptCount val="10"/>
                <c:pt idx="0">
                  <c:v>0.131</c:v>
                </c:pt>
                <c:pt idx="1">
                  <c:v>0.106</c:v>
                </c:pt>
                <c:pt idx="2">
                  <c:v>0.0802</c:v>
                </c:pt>
                <c:pt idx="3">
                  <c:v>0.0717</c:v>
                </c:pt>
                <c:pt idx="4">
                  <c:v>0.0586</c:v>
                </c:pt>
                <c:pt idx="5">
                  <c:v>0.0347</c:v>
                </c:pt>
                <c:pt idx="6">
                  <c:v>0.0295</c:v>
                </c:pt>
                <c:pt idx="7">
                  <c:v>0.0256</c:v>
                </c:pt>
                <c:pt idx="8">
                  <c:v>0.0251</c:v>
                </c:pt>
                <c:pt idx="9">
                  <c:v>0.0172</c:v>
                </c:pt>
              </c:numCache>
            </c:numRef>
          </c:val>
        </c:ser>
        <c:dLbls>
          <c:numFmt formatCode="0.0000" sourceLinked="0"/>
          <c:txPr>
            <a:bodyPr/>
            <a:lstStyle/>
            <a:p>
              <a:pPr>
                <a:defRPr b="0" i="0" strike="noStrike" sz="1000" u="none">
                  <a:solidFill>
                    <a:srgbClr val="5B6B7B"/>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B2B3A"/>
                </a:solidFill>
                <a:latin typeface="Calibri"/>
              </a:defRPr>
            </a:pPr>
            <a:endParaRPr lang="en-US"/>
          </a:p>
        </c:txPr>
        <c:crossAx val="2094734552"/>
        <c:crosses val="autoZero"/>
        <c:auto val="1"/>
        <c:lblAlgn val="ctr"/>
        <c:noMultiLvlLbl val="1"/>
      </c:catAx>
      <c:valAx>
        <c:axId val="2094734552"/>
        <c:scaling>
          <c:orientation val="minMax"/>
          <c:max val="0.17"/>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Aman Kumar Gautam, roll number CS-2341642, B.Tech CSE, IILM University. The topic is the Phishing Detection System, built during a cybersecurity internship.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Phishing is a social-engineering attack: the attacker pretends to be a trusted sender to steal passwords or money. Emails are sent in bulk and look genuine, so manual checking does not scale. The task was to build an ML model that classifies emails as Phishing or 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objectives, from training the classifier to making it practical to use. The scope is deliberately limited to the text of an email; attachments, images and sender authentication are out of scope and are listed as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is a CSV with subject, body and label. It has 360 emails, 180 per class, generated from templates so the pipeline could be built without first collecting a large real corpus. Be honest that only 270 rows are unique because templates repeat.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pipeline is a chain of steps where the output of one step feeds the next. A raw email goes in, features are extracted, the Random Forest scores them, and a label with a confidence comes out. The vectoriser is fitted on training emails only so nothing leaks from the test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TF-IDF captures which words are used. The six engineered features capture structure, such as the number of links. The two sets are merged into one matrix with SciPy hstack.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Random Forest builds many decision trees on random samples of the data, and the majority vote decides the label. This reduces over-fitting compared to a single tree and provides feature importances. The share of trees voting for each class is the confidence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Pandas handles the data, Scikit-learn builds and evaluates the model, SciPy and NumPy handle the maths, Matplotlib draws the confusion matrix, and the built-in libraries handle regex and email access. Development was done in VS Code with a virtual environment and the code is hosted on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scripts. phishing_detector.py is the core. check_my_email.py lets anyone test a pasted email. merge_datasets.py brings in a real Kaggle dataset. check_inbox.py scans a live inbox over IMAP using an app password so the real password is never exposed.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90 test emails the model made no mistakes: 45 of 45 phishing and 45 of 45 safe emails were classified correctly. Precision, recall and F1 are 1.00 for both classes. Two new emails not in the dataset were also classified as expected.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most important features are engineered ones, so adding them was worthwhile. A few top features, like the word hi and text length, reflect the templates in the synthetic data and would not carry over to real mail. The 100% score validates the pipeline, not real-world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a working model that classifies emails as Phishing or Safe, evaluated with accuracy and a confusion matrix, plus three practical tools. The most important next step is validating on a real dataset. Thank the audience and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11-1.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A47"/>
        </a:solidFill>
      </p:bgPr>
    </p:bg>
    <p:spTree>
      <p:nvGrpSpPr>
        <p:cNvPr id="1" name=""/>
        <p:cNvGrpSpPr/>
        <p:nvPr/>
      </p:nvGrpSpPr>
      <p:grpSpPr>
        <a:xfrm>
          <a:off x="0" y="0"/>
          <a:ext cx="0" cy="0"/>
          <a:chOff x="0" y="0"/>
          <a:chExt cx="0" cy="0"/>
        </a:xfrm>
      </p:grpSpPr>
      <p:sp>
        <p:nvSpPr>
          <p:cNvPr id="2" name="Shape 0"/>
          <p:cNvSpPr/>
          <p:nvPr/>
        </p:nvSpPr>
        <p:spPr>
          <a:xfrm>
            <a:off x="0" y="0"/>
            <a:ext cx="3291840" cy="5143500"/>
          </a:xfrm>
          <a:prstGeom prst="rect">
            <a:avLst/>
          </a:prstGeom>
          <a:solidFill>
            <a:srgbClr val="FFFFFF"/>
          </a:solidFill>
          <a:ln w="12700">
            <a:solidFill>
              <a:srgbClr val="FFFFFF"/>
            </a:solidFill>
            <a:prstDash val="solid"/>
          </a:ln>
        </p:spPr>
      </p:sp>
      <p:pic>
        <p:nvPicPr>
          <p:cNvPr id="3" name="Image 0" descr="logo.png">    </p:cNvPr>
          <p:cNvPicPr>
            <a:picLocks noChangeAspect="1"/>
          </p:cNvPicPr>
          <p:nvPr/>
        </p:nvPicPr>
        <p:blipFill>
          <a:blip r:embed="rId1"/>
          <a:stretch>
            <a:fillRect/>
          </a:stretch>
        </p:blipFill>
        <p:spPr>
          <a:xfrm>
            <a:off x="822960" y="868680"/>
            <a:ext cx="1645920" cy="1618488"/>
          </a:xfrm>
          <a:prstGeom prst="rect">
            <a:avLst/>
          </a:prstGeom>
        </p:spPr>
      </p:pic>
      <p:sp>
        <p:nvSpPr>
          <p:cNvPr id="4" name="Text 1"/>
          <p:cNvSpPr txBox="1"/>
          <p:nvPr/>
        </p:nvSpPr>
        <p:spPr>
          <a:xfrm>
            <a:off x="182880" y="2743200"/>
            <a:ext cx="2926080" cy="411480"/>
          </a:xfrm>
          <a:prstGeom prst="rect">
            <a:avLst/>
          </a:prstGeom>
          <a:noFill/>
          <a:ln/>
        </p:spPr>
        <p:txBody>
          <a:bodyPr wrap="square" lIns="0" tIns="0" rIns="0" bIns="0" rtlCol="0" anchor="ctr"/>
          <a:lstStyle/>
          <a:p>
            <a:pPr algn="ctr" indent="0" marL="0">
              <a:buNone/>
            </a:pPr>
            <a:r>
              <a:rPr lang="en-US" sz="2000" b="1" dirty="0">
                <a:solidFill>
                  <a:srgbClr val="0F2A47"/>
                </a:solidFill>
                <a:latin typeface="Cambria" pitchFamily="34" charset="0"/>
                <a:ea typeface="Cambria" pitchFamily="34" charset="-122"/>
                <a:cs typeface="Cambria" pitchFamily="34" charset="-120"/>
              </a:rPr>
              <a:t>IILM University</a:t>
            </a:r>
            <a:endParaRPr lang="en-US" sz="2000" dirty="0"/>
          </a:p>
        </p:txBody>
      </p:sp>
      <p:sp>
        <p:nvSpPr>
          <p:cNvPr id="5" name="Text 2"/>
          <p:cNvSpPr txBox="1"/>
          <p:nvPr/>
        </p:nvSpPr>
        <p:spPr>
          <a:xfrm>
            <a:off x="274320" y="3200400"/>
            <a:ext cx="2743200" cy="548640"/>
          </a:xfrm>
          <a:prstGeom prst="rect">
            <a:avLst/>
          </a:prstGeom>
          <a:noFill/>
          <a:ln/>
        </p:spPr>
        <p:txBody>
          <a:bodyPr wrap="square" lIns="0" tIns="0" rIns="0" bIns="0" rtlCol="0" anchor="t"/>
          <a:lstStyle/>
          <a:p>
            <a:pPr algn="ctr" indent="0" marL="0">
              <a:buNone/>
            </a:pPr>
            <a:r>
              <a:rPr lang="en-US" sz="1300" dirty="0">
                <a:solidFill>
                  <a:srgbClr val="1B3F63"/>
                </a:solidFill>
                <a:latin typeface="Calibri" pitchFamily="34" charset="0"/>
                <a:ea typeface="Calibri" pitchFamily="34" charset="-122"/>
                <a:cs typeface="Calibri" pitchFamily="34" charset="-120"/>
              </a:rPr>
              <a:t>School of Computer Science and Engineering</a:t>
            </a:r>
            <a:endParaRPr lang="en-US" sz="1300" dirty="0"/>
          </a:p>
        </p:txBody>
      </p:sp>
      <p:sp>
        <p:nvSpPr>
          <p:cNvPr id="6" name="Text 3"/>
          <p:cNvSpPr txBox="1"/>
          <p:nvPr/>
        </p:nvSpPr>
        <p:spPr>
          <a:xfrm>
            <a:off x="274320" y="3794760"/>
            <a:ext cx="2743200" cy="274320"/>
          </a:xfrm>
          <a:prstGeom prst="rect">
            <a:avLst/>
          </a:prstGeom>
          <a:noFill/>
          <a:ln/>
        </p:spPr>
        <p:txBody>
          <a:bodyPr wrap="square" lIns="0" tIns="0" rIns="0" bIns="0" rtlCol="0" anchor="ctr"/>
          <a:lstStyle/>
          <a:p>
            <a:pPr algn="ctr" indent="0" marL="0">
              <a:buNone/>
            </a:pPr>
            <a:r>
              <a:rPr lang="en-US" sz="1300" dirty="0">
                <a:solidFill>
                  <a:srgbClr val="5B6B7B"/>
                </a:solidFill>
                <a:latin typeface="Calibri" pitchFamily="34" charset="0"/>
                <a:ea typeface="Calibri" pitchFamily="34" charset="-122"/>
                <a:cs typeface="Calibri" pitchFamily="34" charset="-120"/>
              </a:rPr>
              <a:t>Greater Noida, U.P.</a:t>
            </a:r>
            <a:endParaRPr lang="en-US" sz="1300" dirty="0"/>
          </a:p>
        </p:txBody>
      </p:sp>
      <p:sp>
        <p:nvSpPr>
          <p:cNvPr id="7" name="Text 4"/>
          <p:cNvSpPr txBox="1"/>
          <p:nvPr/>
        </p:nvSpPr>
        <p:spPr>
          <a:xfrm>
            <a:off x="3749040" y="868680"/>
            <a:ext cx="4937760" cy="274320"/>
          </a:xfrm>
          <a:prstGeom prst="rect">
            <a:avLst/>
          </a:prstGeom>
          <a:noFill/>
          <a:ln/>
        </p:spPr>
        <p:txBody>
          <a:bodyPr wrap="square" lIns="0" tIns="0" rIns="0" bIns="0" rtlCol="0" anchor="ctr"/>
          <a:lstStyle/>
          <a:p>
            <a:pPr indent="0" marL="0">
              <a:buNone/>
            </a:pPr>
            <a:r>
              <a:rPr lang="en-US" sz="1100" b="1" spc="200" kern="0" dirty="0">
                <a:solidFill>
                  <a:srgbClr val="00A896"/>
                </a:solidFill>
                <a:latin typeface="Calibri" pitchFamily="34" charset="0"/>
                <a:ea typeface="Calibri" pitchFamily="34" charset="-122"/>
                <a:cs typeface="Calibri" pitchFamily="34" charset="-120"/>
              </a:rPr>
              <a:t>CYBERSECURITY INTERNSHIP  |  B.TECH CSE</a:t>
            </a:r>
            <a:endParaRPr lang="en-US" sz="1100" dirty="0"/>
          </a:p>
        </p:txBody>
      </p:sp>
      <p:sp>
        <p:nvSpPr>
          <p:cNvPr id="8" name="Text 5"/>
          <p:cNvSpPr txBox="1"/>
          <p:nvPr/>
        </p:nvSpPr>
        <p:spPr>
          <a:xfrm>
            <a:off x="3749040" y="1234440"/>
            <a:ext cx="4937760" cy="137160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Phishing Detection System</a:t>
            </a:r>
            <a:endParaRPr lang="en-US" sz="4000" dirty="0"/>
          </a:p>
        </p:txBody>
      </p:sp>
      <p:sp>
        <p:nvSpPr>
          <p:cNvPr id="9" name="Text 6"/>
          <p:cNvSpPr txBox="1"/>
          <p:nvPr/>
        </p:nvSpPr>
        <p:spPr>
          <a:xfrm>
            <a:off x="3749040" y="2651760"/>
            <a:ext cx="4754880" cy="594360"/>
          </a:xfrm>
          <a:prstGeom prst="rect">
            <a:avLst/>
          </a:prstGeom>
          <a:noFill/>
          <a:ln/>
        </p:spPr>
        <p:txBody>
          <a:bodyPr wrap="square" lIns="0" tIns="0" rIns="0" bIns="0" rtlCol="0" anchor="t"/>
          <a:lstStyle/>
          <a:p>
            <a:pPr indent="0" marL="0">
              <a:buNone/>
            </a:pPr>
            <a:r>
              <a:rPr lang="en-US" sz="1500" dirty="0">
                <a:solidFill>
                  <a:srgbClr val="B8C7D6"/>
                </a:solidFill>
                <a:latin typeface="Calibri" pitchFamily="34" charset="0"/>
                <a:ea typeface="Calibri" pitchFamily="34" charset="-122"/>
                <a:cs typeface="Calibri" pitchFamily="34" charset="-120"/>
              </a:rPr>
              <a:t>A machine learning model that classifies emails as Phishing or Safe</a:t>
            </a:r>
            <a:endParaRPr lang="en-US" sz="1500" dirty="0"/>
          </a:p>
        </p:txBody>
      </p:sp>
      <p:sp>
        <p:nvSpPr>
          <p:cNvPr id="10" name="Shape 7"/>
          <p:cNvSpPr/>
          <p:nvPr/>
        </p:nvSpPr>
        <p:spPr>
          <a:xfrm>
            <a:off x="3749040" y="3474720"/>
            <a:ext cx="4846320" cy="1143000"/>
          </a:xfrm>
          <a:prstGeom prst="roundRect">
            <a:avLst>
              <a:gd name="adj" fmla="val 8000"/>
            </a:avLst>
          </a:prstGeom>
          <a:solidFill>
            <a:srgbClr val="1B3F63"/>
          </a:solidFill>
          <a:ln w="12700">
            <a:solidFill>
              <a:srgbClr val="1B3F63"/>
            </a:solidFill>
            <a:prstDash val="solid"/>
          </a:ln>
        </p:spPr>
      </p:sp>
      <p:sp>
        <p:nvSpPr>
          <p:cNvPr id="11" name="Text 8"/>
          <p:cNvSpPr txBox="1"/>
          <p:nvPr/>
        </p:nvSpPr>
        <p:spPr>
          <a:xfrm>
            <a:off x="3977640" y="3566160"/>
            <a:ext cx="4480560" cy="36576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Aman Kumar Gautam</a:t>
            </a:r>
            <a:endParaRPr lang="en-US" sz="2000" dirty="0"/>
          </a:p>
        </p:txBody>
      </p:sp>
      <p:sp>
        <p:nvSpPr>
          <p:cNvPr id="12" name="Text 9"/>
          <p:cNvSpPr txBox="1"/>
          <p:nvPr/>
        </p:nvSpPr>
        <p:spPr>
          <a:xfrm>
            <a:off x="3977640" y="3950208"/>
            <a:ext cx="4480560" cy="274320"/>
          </a:xfrm>
          <a:prstGeom prst="rect">
            <a:avLst/>
          </a:prstGeom>
          <a:noFill/>
          <a:ln/>
        </p:spPr>
        <p:txBody>
          <a:bodyPr wrap="square" lIns="0" tIns="0" rIns="0" bIns="0" rtlCol="0" anchor="ctr"/>
          <a:lstStyle/>
          <a:p>
            <a:pPr indent="0" marL="0">
              <a:buNone/>
            </a:pPr>
            <a:r>
              <a:rPr lang="en-US" sz="1400" b="1" dirty="0">
                <a:solidFill>
                  <a:srgbClr val="00A896"/>
                </a:solidFill>
                <a:latin typeface="Calibri" pitchFamily="34" charset="0"/>
                <a:ea typeface="Calibri" pitchFamily="34" charset="-122"/>
                <a:cs typeface="Calibri" pitchFamily="34" charset="-120"/>
              </a:rPr>
              <a:t>Roll No: CS-2341642</a:t>
            </a:r>
            <a:endParaRPr lang="en-US" sz="1400" dirty="0"/>
          </a:p>
        </p:txBody>
      </p:sp>
      <p:sp>
        <p:nvSpPr>
          <p:cNvPr id="13" name="Text 10"/>
          <p:cNvSpPr txBox="1"/>
          <p:nvPr/>
        </p:nvSpPr>
        <p:spPr>
          <a:xfrm>
            <a:off x="3977640" y="4242816"/>
            <a:ext cx="4480560" cy="256032"/>
          </a:xfrm>
          <a:prstGeom prst="rect">
            <a:avLst/>
          </a:prstGeom>
          <a:noFill/>
          <a:ln/>
        </p:spPr>
        <p:txBody>
          <a:bodyPr wrap="square" lIns="0" tIns="0" rIns="0" bIns="0" rtlCol="0" anchor="ctr"/>
          <a:lstStyle/>
          <a:p>
            <a:pPr indent="0" marL="0">
              <a:buNone/>
            </a:pPr>
            <a:r>
              <a:rPr lang="en-US" sz="1200" dirty="0">
                <a:solidFill>
                  <a:srgbClr val="B8C7D6"/>
                </a:solidFill>
                <a:latin typeface="Calibri" pitchFamily="34" charset="0"/>
                <a:ea typeface="Calibri" pitchFamily="34" charset="-122"/>
                <a:cs typeface="Calibri" pitchFamily="34" charset="-120"/>
              </a:rPr>
              <a:t>Batch 2023-27</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6FA"/>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640080"/>
          </a:xfrm>
          <a:prstGeom prst="rect">
            <a:avLst/>
          </a:prstGeom>
          <a:noFill/>
          <a:ln/>
        </p:spPr>
        <p:txBody>
          <a:bodyPr wrap="square" lIns="0" tIns="0" rIns="0" bIns="0" rtlCol="0" anchor="ctr"/>
          <a:lstStyle/>
          <a:p>
            <a:pPr indent="0" marL="0">
              <a:buNone/>
            </a:pPr>
            <a:r>
              <a:rPr lang="en-US" sz="3200" b="1" dirty="0">
                <a:solidFill>
                  <a:srgbClr val="1B2B3A"/>
                </a:solidFill>
                <a:latin typeface="Cambria" pitchFamily="34" charset="0"/>
                <a:ea typeface="Cambria" pitchFamily="34" charset="-122"/>
                <a:cs typeface="Cambria" pitchFamily="34" charset="-120"/>
              </a:rPr>
              <a:t>Introduction and problem</a:t>
            </a:r>
            <a:endParaRPr lang="en-US" sz="3200" dirty="0"/>
          </a:p>
        </p:txBody>
      </p:sp>
      <p:sp>
        <p:nvSpPr>
          <p:cNvPr id="3" name="Text 1"/>
          <p:cNvSpPr txBox="1"/>
          <p:nvPr/>
        </p:nvSpPr>
        <p:spPr>
          <a:xfrm>
            <a:off x="548640" y="4846320"/>
            <a:ext cx="6400800" cy="201168"/>
          </a:xfrm>
          <a:prstGeom prst="rect">
            <a:avLst/>
          </a:prstGeom>
          <a:noFill/>
          <a:ln/>
        </p:spPr>
        <p:txBody>
          <a:bodyPr wrap="square" lIns="0" tIns="0" rIns="0" bIns="0" rtlCol="0" anchor="ctr"/>
          <a:lstStyle/>
          <a:p>
            <a:pPr indent="0" marL="0">
              <a:buNone/>
            </a:pPr>
            <a:r>
              <a:rPr lang="en-US" sz="900" dirty="0">
                <a:solidFill>
                  <a:srgbClr val="5B6B7B"/>
                </a:solidFill>
                <a:latin typeface="Calibri" pitchFamily="34" charset="0"/>
                <a:ea typeface="Calibri" pitchFamily="34" charset="-122"/>
                <a:cs typeface="Calibri" pitchFamily="34" charset="-120"/>
              </a:rPr>
              <a:t>Phishing Detection System  |  Aman Kumar Gautam  |  CS-2341642</a:t>
            </a:r>
            <a:endParaRPr lang="en-US" sz="900" dirty="0"/>
          </a:p>
        </p:txBody>
      </p:sp>
      <p:sp>
        <p:nvSpPr>
          <p:cNvPr id="4" name="Text 2"/>
          <p:cNvSpPr txBox="1"/>
          <p:nvPr/>
        </p:nvSpPr>
        <p:spPr>
          <a:xfrm>
            <a:off x="8138160" y="4846320"/>
            <a:ext cx="457200" cy="201168"/>
          </a:xfrm>
          <a:prstGeom prst="rect">
            <a:avLst/>
          </a:prstGeom>
          <a:noFill/>
          <a:ln/>
        </p:spPr>
        <p:txBody>
          <a:bodyPr wrap="square" lIns="0" tIns="0" rIns="0" bIns="0"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2</a:t>
            </a:r>
            <a:endParaRPr lang="en-US" sz="900" dirty="0"/>
          </a:p>
        </p:txBody>
      </p:sp>
      <p:sp>
        <p:nvSpPr>
          <p:cNvPr id="6" name="Shape 3"/>
          <p:cNvSpPr/>
          <p:nvPr/>
        </p:nvSpPr>
        <p:spPr>
          <a:xfrm>
            <a:off x="548640" y="1234440"/>
            <a:ext cx="640080" cy="640080"/>
          </a:xfrm>
          <a:prstGeom prst="ellipse">
            <a:avLst/>
          </a:prstGeom>
          <a:solidFill>
            <a:srgbClr val="0F2A47"/>
          </a:solidFill>
          <a:ln w="12700">
            <a:solidFill>
              <a:srgbClr val="0F2A47"/>
            </a:solidFill>
            <a:prstDash val="solid"/>
          </a:ln>
        </p:spPr>
      </p:sp>
      <p:pic>
        <p:nvPicPr>
          <p:cNvPr id="7" name="Image 0" descr="preencoded.png">    </p:cNvPr>
          <p:cNvPicPr>
            <a:picLocks noChangeAspect="1"/>
          </p:cNvPicPr>
          <p:nvPr/>
        </p:nvPicPr>
        <p:blipFill>
          <a:blip r:embed="rId1"/>
          <a:stretch>
            <a:fillRect/>
          </a:stretch>
        </p:blipFill>
        <p:spPr>
          <a:xfrm>
            <a:off x="708660" y="1394460"/>
            <a:ext cx="320040" cy="320040"/>
          </a:xfrm>
          <a:prstGeom prst="rect">
            <a:avLst/>
          </a:prstGeom>
        </p:spPr>
      </p:pic>
      <p:sp>
        <p:nvSpPr>
          <p:cNvPr id="8" name="Text 4"/>
          <p:cNvSpPr txBox="1"/>
          <p:nvPr/>
        </p:nvSpPr>
        <p:spPr>
          <a:xfrm>
            <a:off x="1371600" y="1234440"/>
            <a:ext cx="3108960" cy="320040"/>
          </a:xfrm>
          <a:prstGeom prst="rect">
            <a:avLst/>
          </a:prstGeom>
          <a:noFill/>
          <a:ln/>
        </p:spPr>
        <p:txBody>
          <a:bodyPr wrap="square" lIns="0" tIns="0" rIns="0" bIns="0" rtlCol="0" anchor="ctr"/>
          <a:lstStyle/>
          <a:p>
            <a:pPr indent="0" marL="0">
              <a:buNone/>
            </a:pPr>
            <a:r>
              <a:rPr lang="en-US" sz="1700" b="1" dirty="0">
                <a:solidFill>
                  <a:srgbClr val="1B2B3A"/>
                </a:solidFill>
                <a:latin typeface="Calibri" pitchFamily="34" charset="0"/>
                <a:ea typeface="Calibri" pitchFamily="34" charset="-122"/>
                <a:cs typeface="Calibri" pitchFamily="34" charset="-120"/>
              </a:rPr>
              <a:t>Fake urgency and fear</a:t>
            </a:r>
            <a:endParaRPr lang="en-US" sz="1700" dirty="0"/>
          </a:p>
        </p:txBody>
      </p:sp>
      <p:sp>
        <p:nvSpPr>
          <p:cNvPr id="9" name="Text 5"/>
          <p:cNvSpPr txBox="1"/>
          <p:nvPr/>
        </p:nvSpPr>
        <p:spPr>
          <a:xfrm>
            <a:off x="1371600" y="1572768"/>
            <a:ext cx="3108960" cy="594360"/>
          </a:xfrm>
          <a:prstGeom prst="rect">
            <a:avLst/>
          </a:prstGeom>
          <a:noFill/>
          <a:ln/>
        </p:spPr>
        <p:txBody>
          <a:bodyPr wrap="square" lIns="0" tIns="0" rIns="0" bIns="0" rtlCol="0" anchor="t"/>
          <a:lstStyle/>
          <a:p>
            <a:pPr indent="0" marL="0">
              <a:buNone/>
            </a:pPr>
            <a:r>
              <a:rPr lang="en-US" sz="1300" dirty="0">
                <a:solidFill>
                  <a:srgbClr val="5B6B7B"/>
                </a:solidFill>
                <a:latin typeface="Calibri" pitchFamily="34" charset="0"/>
                <a:ea typeface="Calibri" pitchFamily="34" charset="-122"/>
                <a:cs typeface="Calibri" pitchFamily="34" charset="-120"/>
              </a:rPr>
              <a:t>"Your account will be suspended in 24 hours".</a:t>
            </a:r>
            <a:endParaRPr lang="en-US" sz="1300" dirty="0"/>
          </a:p>
        </p:txBody>
      </p:sp>
      <p:sp>
        <p:nvSpPr>
          <p:cNvPr id="10" name="Shape 6"/>
          <p:cNvSpPr/>
          <p:nvPr/>
        </p:nvSpPr>
        <p:spPr>
          <a:xfrm>
            <a:off x="548640" y="2331720"/>
            <a:ext cx="640080" cy="640080"/>
          </a:xfrm>
          <a:prstGeom prst="ellipse">
            <a:avLst/>
          </a:prstGeom>
          <a:solidFill>
            <a:srgbClr val="0F2A47"/>
          </a:solidFill>
          <a:ln w="12700">
            <a:solidFill>
              <a:srgbClr val="0F2A47"/>
            </a:solidFill>
            <a:prstDash val="solid"/>
          </a:ln>
        </p:spPr>
      </p:sp>
      <p:pic>
        <p:nvPicPr>
          <p:cNvPr id="11" name="Image 1" descr="preencoded.png">    </p:cNvPr>
          <p:cNvPicPr>
            <a:picLocks noChangeAspect="1"/>
          </p:cNvPicPr>
          <p:nvPr/>
        </p:nvPicPr>
        <p:blipFill>
          <a:blip r:embed="rId2"/>
          <a:stretch>
            <a:fillRect/>
          </a:stretch>
        </p:blipFill>
        <p:spPr>
          <a:xfrm>
            <a:off x="708660" y="2491740"/>
            <a:ext cx="320040" cy="320040"/>
          </a:xfrm>
          <a:prstGeom prst="rect">
            <a:avLst/>
          </a:prstGeom>
        </p:spPr>
      </p:pic>
      <p:sp>
        <p:nvSpPr>
          <p:cNvPr id="12" name="Text 7"/>
          <p:cNvSpPr txBox="1"/>
          <p:nvPr/>
        </p:nvSpPr>
        <p:spPr>
          <a:xfrm>
            <a:off x="1371600" y="2331720"/>
            <a:ext cx="3108960" cy="320040"/>
          </a:xfrm>
          <a:prstGeom prst="rect">
            <a:avLst/>
          </a:prstGeom>
          <a:noFill/>
          <a:ln/>
        </p:spPr>
        <p:txBody>
          <a:bodyPr wrap="square" lIns="0" tIns="0" rIns="0" bIns="0" rtlCol="0" anchor="ctr"/>
          <a:lstStyle/>
          <a:p>
            <a:pPr indent="0" marL="0">
              <a:buNone/>
            </a:pPr>
            <a:r>
              <a:rPr lang="en-US" sz="1700" b="1" dirty="0">
                <a:solidFill>
                  <a:srgbClr val="1B2B3A"/>
                </a:solidFill>
                <a:latin typeface="Calibri" pitchFamily="34" charset="0"/>
                <a:ea typeface="Calibri" pitchFamily="34" charset="-122"/>
                <a:cs typeface="Calibri" pitchFamily="34" charset="-120"/>
              </a:rPr>
              <a:t>Look-alike links</a:t>
            </a:r>
            <a:endParaRPr lang="en-US" sz="1700" dirty="0"/>
          </a:p>
        </p:txBody>
      </p:sp>
      <p:sp>
        <p:nvSpPr>
          <p:cNvPr id="13" name="Text 8"/>
          <p:cNvSpPr txBox="1"/>
          <p:nvPr/>
        </p:nvSpPr>
        <p:spPr>
          <a:xfrm>
            <a:off x="1371600" y="2670048"/>
            <a:ext cx="3108960" cy="594360"/>
          </a:xfrm>
          <a:prstGeom prst="rect">
            <a:avLst/>
          </a:prstGeom>
          <a:noFill/>
          <a:ln/>
        </p:spPr>
        <p:txBody>
          <a:bodyPr wrap="square" lIns="0" tIns="0" rIns="0" bIns="0" rtlCol="0" anchor="t"/>
          <a:lstStyle/>
          <a:p>
            <a:pPr indent="0" marL="0">
              <a:buNone/>
            </a:pPr>
            <a:r>
              <a:rPr lang="en-US" sz="1300" dirty="0">
                <a:solidFill>
                  <a:srgbClr val="5B6B7B"/>
                </a:solidFill>
                <a:latin typeface="Calibri" pitchFamily="34" charset="0"/>
                <a:ea typeface="Calibri" pitchFamily="34" charset="-122"/>
                <a:cs typeface="Calibri" pitchFamily="34" charset="-120"/>
              </a:rPr>
              <a:t>Fake sites imitate real brands to steal logins.</a:t>
            </a:r>
            <a:endParaRPr lang="en-US" sz="1300" dirty="0"/>
          </a:p>
        </p:txBody>
      </p:sp>
      <p:sp>
        <p:nvSpPr>
          <p:cNvPr id="14" name="Shape 9"/>
          <p:cNvSpPr/>
          <p:nvPr/>
        </p:nvSpPr>
        <p:spPr>
          <a:xfrm>
            <a:off x="548640" y="3429000"/>
            <a:ext cx="640080" cy="640080"/>
          </a:xfrm>
          <a:prstGeom prst="ellipse">
            <a:avLst/>
          </a:prstGeom>
          <a:solidFill>
            <a:srgbClr val="0F2A47"/>
          </a:solidFill>
          <a:ln w="12700">
            <a:solidFill>
              <a:srgbClr val="0F2A47"/>
            </a:solidFill>
            <a:prstDash val="solid"/>
          </a:ln>
        </p:spPr>
      </p:sp>
      <p:pic>
        <p:nvPicPr>
          <p:cNvPr id="15" name="Image 2" descr="preencoded.png">    </p:cNvPr>
          <p:cNvPicPr>
            <a:picLocks noChangeAspect="1"/>
          </p:cNvPicPr>
          <p:nvPr/>
        </p:nvPicPr>
        <p:blipFill>
          <a:blip r:embed="rId3"/>
          <a:stretch>
            <a:fillRect/>
          </a:stretch>
        </p:blipFill>
        <p:spPr>
          <a:xfrm>
            <a:off x="708660" y="3589020"/>
            <a:ext cx="320040" cy="320040"/>
          </a:xfrm>
          <a:prstGeom prst="rect">
            <a:avLst/>
          </a:prstGeom>
        </p:spPr>
      </p:pic>
      <p:sp>
        <p:nvSpPr>
          <p:cNvPr id="16" name="Text 10"/>
          <p:cNvSpPr txBox="1"/>
          <p:nvPr/>
        </p:nvSpPr>
        <p:spPr>
          <a:xfrm>
            <a:off x="1371600" y="3429000"/>
            <a:ext cx="3108960" cy="320040"/>
          </a:xfrm>
          <a:prstGeom prst="rect">
            <a:avLst/>
          </a:prstGeom>
          <a:noFill/>
          <a:ln/>
        </p:spPr>
        <p:txBody>
          <a:bodyPr wrap="square" lIns="0" tIns="0" rIns="0" bIns="0" rtlCol="0" anchor="ctr"/>
          <a:lstStyle/>
          <a:p>
            <a:pPr indent="0" marL="0">
              <a:buNone/>
            </a:pPr>
            <a:r>
              <a:rPr lang="en-US" sz="1700" b="1" dirty="0">
                <a:solidFill>
                  <a:srgbClr val="1B2B3A"/>
                </a:solidFill>
                <a:latin typeface="Calibri" pitchFamily="34" charset="0"/>
                <a:ea typeface="Calibri" pitchFamily="34" charset="-122"/>
                <a:cs typeface="Calibri" pitchFamily="34" charset="-120"/>
              </a:rPr>
              <a:t>Sent in bulk</a:t>
            </a:r>
            <a:endParaRPr lang="en-US" sz="1700" dirty="0"/>
          </a:p>
        </p:txBody>
      </p:sp>
      <p:sp>
        <p:nvSpPr>
          <p:cNvPr id="17" name="Text 11"/>
          <p:cNvSpPr txBox="1"/>
          <p:nvPr/>
        </p:nvSpPr>
        <p:spPr>
          <a:xfrm>
            <a:off x="1371600" y="3767328"/>
            <a:ext cx="3108960" cy="594360"/>
          </a:xfrm>
          <a:prstGeom prst="rect">
            <a:avLst/>
          </a:prstGeom>
          <a:noFill/>
          <a:ln/>
        </p:spPr>
        <p:txBody>
          <a:bodyPr wrap="square" lIns="0" tIns="0" rIns="0" bIns="0" rtlCol="0" anchor="t"/>
          <a:lstStyle/>
          <a:p>
            <a:pPr indent="0" marL="0">
              <a:buNone/>
            </a:pPr>
            <a:r>
              <a:rPr lang="en-US" sz="1300" dirty="0">
                <a:solidFill>
                  <a:srgbClr val="5B6B7B"/>
                </a:solidFill>
                <a:latin typeface="Calibri" pitchFamily="34" charset="0"/>
                <a:ea typeface="Calibri" pitchFamily="34" charset="-122"/>
                <a:cs typeface="Calibri" pitchFamily="34" charset="-120"/>
              </a:rPr>
              <a:t>Written to look genuine, so manual review does not scale.</a:t>
            </a:r>
            <a:endParaRPr lang="en-US" sz="1300" dirty="0"/>
          </a:p>
        </p:txBody>
      </p:sp>
      <p:sp>
        <p:nvSpPr>
          <p:cNvPr id="18" name="Shape 12"/>
          <p:cNvSpPr/>
          <p:nvPr/>
        </p:nvSpPr>
        <p:spPr>
          <a:xfrm>
            <a:off x="4846320" y="1234440"/>
            <a:ext cx="3749040" cy="3291840"/>
          </a:xfrm>
          <a:prstGeom prst="roundRect">
            <a:avLst>
              <a:gd name="adj" fmla="val 3333"/>
            </a:avLst>
          </a:prstGeom>
          <a:solidFill>
            <a:srgbClr val="0F2A47"/>
          </a:solidFill>
          <a:ln w="9525">
            <a:solidFill>
              <a:srgbClr val="E1E8EF"/>
            </a:solidFill>
            <a:prstDash val="solid"/>
          </a:ln>
          <a:effectLst>
            <a:outerShdw sx="100000" sy="100000" kx="0" ky="0" algn="bl" rotWithShape="0" blurRad="101600" dist="25400" dir="5400000">
              <a:srgbClr val="000000">
                <a:alpha val="12000"/>
              </a:srgbClr>
            </a:outerShdw>
          </a:effectLst>
        </p:spPr>
      </p:sp>
      <p:sp>
        <p:nvSpPr>
          <p:cNvPr id="19" name="Text 13"/>
          <p:cNvSpPr txBox="1"/>
          <p:nvPr/>
        </p:nvSpPr>
        <p:spPr>
          <a:xfrm>
            <a:off x="5120640" y="1417320"/>
            <a:ext cx="3200400" cy="274320"/>
          </a:xfrm>
          <a:prstGeom prst="rect">
            <a:avLst/>
          </a:prstGeom>
          <a:noFill/>
          <a:ln/>
        </p:spPr>
        <p:txBody>
          <a:bodyPr wrap="square" lIns="0" tIns="0" rIns="0" bIns="0" rtlCol="0" anchor="ctr"/>
          <a:lstStyle/>
          <a:p>
            <a:pPr indent="0" marL="0">
              <a:buNone/>
            </a:pPr>
            <a:r>
              <a:rPr lang="en-US" sz="1100" b="1" spc="200" kern="0" dirty="0">
                <a:solidFill>
                  <a:srgbClr val="00A896"/>
                </a:solidFill>
                <a:latin typeface="Calibri" pitchFamily="34" charset="0"/>
                <a:ea typeface="Calibri" pitchFamily="34" charset="-122"/>
                <a:cs typeface="Calibri" pitchFamily="34" charset="-120"/>
              </a:rPr>
              <a:t>PROBLEM STATEMENT</a:t>
            </a:r>
            <a:endParaRPr lang="en-US" sz="1100" dirty="0"/>
          </a:p>
        </p:txBody>
      </p:sp>
      <p:sp>
        <p:nvSpPr>
          <p:cNvPr id="20" name="Text 14"/>
          <p:cNvSpPr txBox="1"/>
          <p:nvPr/>
        </p:nvSpPr>
        <p:spPr>
          <a:xfrm>
            <a:off x="5120640" y="1737360"/>
            <a:ext cx="32004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Build a Scikit-learn model that can:</a:t>
            </a:r>
            <a:endParaRPr lang="en-US" sz="1400" dirty="0"/>
          </a:p>
        </p:txBody>
      </p:sp>
      <p:sp>
        <p:nvSpPr>
          <p:cNvPr id="21" name="Text 15"/>
          <p:cNvSpPr txBox="1"/>
          <p:nvPr/>
        </p:nvSpPr>
        <p:spPr>
          <a:xfrm>
            <a:off x="5120640" y="2194560"/>
            <a:ext cx="3200400" cy="2240280"/>
          </a:xfrm>
          <a:prstGeom prst="rect">
            <a:avLst/>
          </a:prstGeom>
          <a:noFill/>
          <a:ln/>
        </p:spPr>
        <p:txBody>
          <a:bodyPr wrap="square" lIns="0" tIns="0" rIns="0" bIns="0" rtlCol="0" anchor="t"/>
          <a:lstStyle/>
          <a:p>
            <a:pPr marL="342900" indent="-342900">
              <a:spcAft>
                <a:spcPts val="1200"/>
              </a:spcAft>
              <a:buSzPct val="100000"/>
              <a:buChar char="•"/>
            </a:pPr>
            <a:r>
              <a:rPr lang="en-US" sz="1500" dirty="0">
                <a:solidFill>
                  <a:srgbClr val="FFFFFF"/>
                </a:solidFill>
                <a:latin typeface="Calibri" pitchFamily="34" charset="0"/>
                <a:ea typeface="Calibri" pitchFamily="34" charset="-122"/>
                <a:cs typeface="Calibri" pitchFamily="34" charset="-120"/>
              </a:rPr>
              <a:t>Train on phishing and legitimate emails</a:t>
            </a:r>
            <a:endParaRPr lang="en-US" sz="1500" dirty="0"/>
          </a:p>
          <a:p>
            <a:pPr marL="342900" indent="-342900">
              <a:spcAft>
                <a:spcPts val="1200"/>
              </a:spcAft>
              <a:buSzPct val="100000"/>
              <a:buChar char="•"/>
            </a:pPr>
            <a:r>
              <a:rPr lang="en-US" sz="1500" dirty="0">
                <a:solidFill>
                  <a:srgbClr val="FFFFFF"/>
                </a:solidFill>
                <a:latin typeface="Calibri" pitchFamily="34" charset="0"/>
                <a:ea typeface="Calibri" pitchFamily="34" charset="-122"/>
                <a:cs typeface="Calibri" pitchFamily="34" charset="-120"/>
              </a:rPr>
              <a:t>Extract features such as URLs and keywords</a:t>
            </a:r>
            <a:endParaRPr lang="en-US" sz="1500" dirty="0"/>
          </a:p>
          <a:p>
            <a:pPr marL="342900" indent="-342900">
              <a:spcAft>
                <a:spcPts val="1200"/>
              </a:spcAft>
              <a:buSzPct val="100000"/>
              <a:buChar char="•"/>
            </a:pPr>
            <a:r>
              <a:rPr lang="en-US" sz="1500" dirty="0">
                <a:solidFill>
                  <a:srgbClr val="FFFFFF"/>
                </a:solidFill>
                <a:latin typeface="Calibri" pitchFamily="34" charset="0"/>
                <a:ea typeface="Calibri" pitchFamily="34" charset="-122"/>
                <a:cs typeface="Calibri" pitchFamily="34" charset="-120"/>
              </a:rPr>
              <a:t>Classify emails as Phishing or Safe</a:t>
            </a:r>
            <a:endParaRPr lang="en-US" sz="1500" dirty="0"/>
          </a:p>
          <a:p>
            <a:pPr marL="342900" indent="-342900">
              <a:spcAft>
                <a:spcPts val="1200"/>
              </a:spcAft>
              <a:buSzPct val="100000"/>
              <a:buChar char="•"/>
            </a:pPr>
            <a:r>
              <a:rPr lang="en-US" sz="1500" dirty="0">
                <a:solidFill>
                  <a:srgbClr val="FFFFFF"/>
                </a:solidFill>
                <a:latin typeface="Calibri" pitchFamily="34" charset="0"/>
                <a:ea typeface="Calibri" pitchFamily="34" charset="-122"/>
                <a:cs typeface="Calibri" pitchFamily="34" charset="-120"/>
              </a:rPr>
              <a:t>Display accuracy and confusion matrix</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6FA"/>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640080"/>
          </a:xfrm>
          <a:prstGeom prst="rect">
            <a:avLst/>
          </a:prstGeom>
          <a:noFill/>
          <a:ln/>
        </p:spPr>
        <p:txBody>
          <a:bodyPr wrap="square" lIns="0" tIns="0" rIns="0" bIns="0" rtlCol="0" anchor="ctr"/>
          <a:lstStyle/>
          <a:p>
            <a:pPr indent="0" marL="0">
              <a:buNone/>
            </a:pPr>
            <a:r>
              <a:rPr lang="en-US" sz="3200" b="1" dirty="0">
                <a:solidFill>
                  <a:srgbClr val="1B2B3A"/>
                </a:solidFill>
                <a:latin typeface="Cambria" pitchFamily="34" charset="0"/>
                <a:ea typeface="Cambria" pitchFamily="34" charset="-122"/>
                <a:cs typeface="Cambria" pitchFamily="34" charset="-120"/>
              </a:rPr>
              <a:t>Objectives and scope</a:t>
            </a:r>
            <a:endParaRPr lang="en-US" sz="3200" dirty="0"/>
          </a:p>
        </p:txBody>
      </p:sp>
      <p:sp>
        <p:nvSpPr>
          <p:cNvPr id="3" name="Text 1"/>
          <p:cNvSpPr txBox="1"/>
          <p:nvPr/>
        </p:nvSpPr>
        <p:spPr>
          <a:xfrm>
            <a:off x="548640" y="4846320"/>
            <a:ext cx="6400800" cy="201168"/>
          </a:xfrm>
          <a:prstGeom prst="rect">
            <a:avLst/>
          </a:prstGeom>
          <a:noFill/>
          <a:ln/>
        </p:spPr>
        <p:txBody>
          <a:bodyPr wrap="square" lIns="0" tIns="0" rIns="0" bIns="0" rtlCol="0" anchor="ctr"/>
          <a:lstStyle/>
          <a:p>
            <a:pPr indent="0" marL="0">
              <a:buNone/>
            </a:pPr>
            <a:r>
              <a:rPr lang="en-US" sz="900" dirty="0">
                <a:solidFill>
                  <a:srgbClr val="5B6B7B"/>
                </a:solidFill>
                <a:latin typeface="Calibri" pitchFamily="34" charset="0"/>
                <a:ea typeface="Calibri" pitchFamily="34" charset="-122"/>
                <a:cs typeface="Calibri" pitchFamily="34" charset="-120"/>
              </a:rPr>
              <a:t>Phishing Detection System  |  Aman Kumar Gautam  |  CS-2341642</a:t>
            </a:r>
            <a:endParaRPr lang="en-US" sz="900" dirty="0"/>
          </a:p>
        </p:txBody>
      </p:sp>
      <p:sp>
        <p:nvSpPr>
          <p:cNvPr id="4" name="Text 2"/>
          <p:cNvSpPr txBox="1"/>
          <p:nvPr/>
        </p:nvSpPr>
        <p:spPr>
          <a:xfrm>
            <a:off x="8138160" y="4846320"/>
            <a:ext cx="457200" cy="201168"/>
          </a:xfrm>
          <a:prstGeom prst="rect">
            <a:avLst/>
          </a:prstGeom>
          <a:noFill/>
          <a:ln/>
        </p:spPr>
        <p:txBody>
          <a:bodyPr wrap="square" lIns="0" tIns="0" rIns="0" bIns="0"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3</a:t>
            </a:r>
            <a:endParaRPr lang="en-US" sz="900" dirty="0"/>
          </a:p>
        </p:txBody>
      </p:sp>
      <p:sp>
        <p:nvSpPr>
          <p:cNvPr id="6" name="Shape 3"/>
          <p:cNvSpPr/>
          <p:nvPr/>
        </p:nvSpPr>
        <p:spPr>
          <a:xfrm>
            <a:off x="548640" y="1188720"/>
            <a:ext cx="457200" cy="457200"/>
          </a:xfrm>
          <a:prstGeom prst="ellipse">
            <a:avLst/>
          </a:prstGeom>
          <a:solidFill>
            <a:srgbClr val="0F2A47"/>
          </a:solidFill>
          <a:ln w="12700">
            <a:solidFill>
              <a:srgbClr val="0F2A47"/>
            </a:solidFill>
            <a:prstDash val="solid"/>
          </a:ln>
        </p:spPr>
      </p:sp>
      <p:sp>
        <p:nvSpPr>
          <p:cNvPr id="7" name="Text 4"/>
          <p:cNvSpPr txBox="1"/>
          <p:nvPr/>
        </p:nvSpPr>
        <p:spPr>
          <a:xfrm>
            <a:off x="548640" y="1188720"/>
            <a:ext cx="457200" cy="457200"/>
          </a:xfrm>
          <a:prstGeom prst="rect">
            <a:avLst/>
          </a:prstGeom>
          <a:noFill/>
          <a:ln/>
        </p:spPr>
        <p:txBody>
          <a:bodyPr wrap="square" lIns="0" tIns="0" rIns="0" bIns="0" rtlCol="0" anchor="ctr"/>
          <a:lstStyle/>
          <a:p>
            <a:pPr algn="ctr" indent="0" marL="0">
              <a:buNone/>
            </a:pPr>
            <a:r>
              <a:rPr lang="en-US" sz="1600" b="1" dirty="0">
                <a:solidFill>
                  <a:srgbClr val="00A896"/>
                </a:solidFill>
                <a:latin typeface="Cambria" pitchFamily="34" charset="0"/>
                <a:ea typeface="Cambria" pitchFamily="34" charset="-122"/>
                <a:cs typeface="Cambria" pitchFamily="34" charset="-120"/>
              </a:rPr>
              <a:t>1</a:t>
            </a:r>
            <a:endParaRPr lang="en-US" sz="1600" dirty="0"/>
          </a:p>
        </p:txBody>
      </p:sp>
      <p:sp>
        <p:nvSpPr>
          <p:cNvPr id="8" name="Text 5"/>
          <p:cNvSpPr txBox="1"/>
          <p:nvPr/>
        </p:nvSpPr>
        <p:spPr>
          <a:xfrm>
            <a:off x="1188720" y="1188720"/>
            <a:ext cx="3657600" cy="457200"/>
          </a:xfrm>
          <a:prstGeom prst="rect">
            <a:avLst/>
          </a:prstGeom>
          <a:noFill/>
          <a:ln/>
        </p:spPr>
        <p:txBody>
          <a:bodyPr wrap="square" lIns="0" tIns="0" rIns="0" bIns="0" rtlCol="0" anchor="ctr"/>
          <a:lstStyle/>
          <a:p>
            <a:pPr indent="0" marL="0">
              <a:buNone/>
            </a:pPr>
            <a:r>
              <a:rPr lang="en-US" sz="1400" dirty="0">
                <a:solidFill>
                  <a:srgbClr val="1B2B3A"/>
                </a:solidFill>
                <a:latin typeface="Calibri" pitchFamily="34" charset="0"/>
                <a:ea typeface="Calibri" pitchFamily="34" charset="-122"/>
                <a:cs typeface="Calibri" pitchFamily="34" charset="-120"/>
              </a:rPr>
              <a:t>Train a classifier on phishing and legitimate emails</a:t>
            </a:r>
            <a:endParaRPr lang="en-US" sz="1400" dirty="0"/>
          </a:p>
        </p:txBody>
      </p:sp>
      <p:sp>
        <p:nvSpPr>
          <p:cNvPr id="9" name="Shape 6"/>
          <p:cNvSpPr/>
          <p:nvPr/>
        </p:nvSpPr>
        <p:spPr>
          <a:xfrm>
            <a:off x="548640" y="1865376"/>
            <a:ext cx="457200" cy="457200"/>
          </a:xfrm>
          <a:prstGeom prst="ellipse">
            <a:avLst/>
          </a:prstGeom>
          <a:solidFill>
            <a:srgbClr val="0F2A47"/>
          </a:solidFill>
          <a:ln w="12700">
            <a:solidFill>
              <a:srgbClr val="0F2A47"/>
            </a:solidFill>
            <a:prstDash val="solid"/>
          </a:ln>
        </p:spPr>
      </p:sp>
      <p:sp>
        <p:nvSpPr>
          <p:cNvPr id="10" name="Text 7"/>
          <p:cNvSpPr txBox="1"/>
          <p:nvPr/>
        </p:nvSpPr>
        <p:spPr>
          <a:xfrm>
            <a:off x="548640" y="1865376"/>
            <a:ext cx="457200" cy="457200"/>
          </a:xfrm>
          <a:prstGeom prst="rect">
            <a:avLst/>
          </a:prstGeom>
          <a:noFill/>
          <a:ln/>
        </p:spPr>
        <p:txBody>
          <a:bodyPr wrap="square" lIns="0" tIns="0" rIns="0" bIns="0" rtlCol="0" anchor="ctr"/>
          <a:lstStyle/>
          <a:p>
            <a:pPr algn="ctr" indent="0" marL="0">
              <a:buNone/>
            </a:pPr>
            <a:r>
              <a:rPr lang="en-US" sz="1600" b="1" dirty="0">
                <a:solidFill>
                  <a:srgbClr val="00A896"/>
                </a:solidFill>
                <a:latin typeface="Cambria" pitchFamily="34" charset="0"/>
                <a:ea typeface="Cambria" pitchFamily="34" charset="-122"/>
                <a:cs typeface="Cambria" pitchFamily="34" charset="-120"/>
              </a:rPr>
              <a:t>2</a:t>
            </a:r>
            <a:endParaRPr lang="en-US" sz="1600" dirty="0"/>
          </a:p>
        </p:txBody>
      </p:sp>
      <p:sp>
        <p:nvSpPr>
          <p:cNvPr id="11" name="Text 8"/>
          <p:cNvSpPr txBox="1"/>
          <p:nvPr/>
        </p:nvSpPr>
        <p:spPr>
          <a:xfrm>
            <a:off x="1188720" y="1865376"/>
            <a:ext cx="3657600" cy="457200"/>
          </a:xfrm>
          <a:prstGeom prst="rect">
            <a:avLst/>
          </a:prstGeom>
          <a:noFill/>
          <a:ln/>
        </p:spPr>
        <p:txBody>
          <a:bodyPr wrap="square" lIns="0" tIns="0" rIns="0" bIns="0" rtlCol="0" anchor="ctr"/>
          <a:lstStyle/>
          <a:p>
            <a:pPr indent="0" marL="0">
              <a:buNone/>
            </a:pPr>
            <a:r>
              <a:rPr lang="en-US" sz="1400" dirty="0">
                <a:solidFill>
                  <a:srgbClr val="1B2B3A"/>
                </a:solidFill>
                <a:latin typeface="Calibri" pitchFamily="34" charset="0"/>
                <a:ea typeface="Calibri" pitchFamily="34" charset="-122"/>
                <a:cs typeface="Calibri" pitchFamily="34" charset="-120"/>
              </a:rPr>
              <a:t>Extract features: URLs, suspicious keywords, word patterns</a:t>
            </a:r>
            <a:endParaRPr lang="en-US" sz="1400" dirty="0"/>
          </a:p>
        </p:txBody>
      </p:sp>
      <p:sp>
        <p:nvSpPr>
          <p:cNvPr id="12" name="Shape 9"/>
          <p:cNvSpPr/>
          <p:nvPr/>
        </p:nvSpPr>
        <p:spPr>
          <a:xfrm>
            <a:off x="548640" y="2542032"/>
            <a:ext cx="457200" cy="457200"/>
          </a:xfrm>
          <a:prstGeom prst="ellipse">
            <a:avLst/>
          </a:prstGeom>
          <a:solidFill>
            <a:srgbClr val="0F2A47"/>
          </a:solidFill>
          <a:ln w="12700">
            <a:solidFill>
              <a:srgbClr val="0F2A47"/>
            </a:solidFill>
            <a:prstDash val="solid"/>
          </a:ln>
        </p:spPr>
      </p:sp>
      <p:sp>
        <p:nvSpPr>
          <p:cNvPr id="13" name="Text 10"/>
          <p:cNvSpPr txBox="1"/>
          <p:nvPr/>
        </p:nvSpPr>
        <p:spPr>
          <a:xfrm>
            <a:off x="548640" y="2542032"/>
            <a:ext cx="457200" cy="457200"/>
          </a:xfrm>
          <a:prstGeom prst="rect">
            <a:avLst/>
          </a:prstGeom>
          <a:noFill/>
          <a:ln/>
        </p:spPr>
        <p:txBody>
          <a:bodyPr wrap="square" lIns="0" tIns="0" rIns="0" bIns="0" rtlCol="0" anchor="ctr"/>
          <a:lstStyle/>
          <a:p>
            <a:pPr algn="ctr" indent="0" marL="0">
              <a:buNone/>
            </a:pPr>
            <a:r>
              <a:rPr lang="en-US" sz="1600" b="1" dirty="0">
                <a:solidFill>
                  <a:srgbClr val="00A896"/>
                </a:solidFill>
                <a:latin typeface="Cambria" pitchFamily="34" charset="0"/>
                <a:ea typeface="Cambria" pitchFamily="34" charset="-122"/>
                <a:cs typeface="Cambria" pitchFamily="34" charset="-120"/>
              </a:rPr>
              <a:t>3</a:t>
            </a:r>
            <a:endParaRPr lang="en-US" sz="1600" dirty="0"/>
          </a:p>
        </p:txBody>
      </p:sp>
      <p:sp>
        <p:nvSpPr>
          <p:cNvPr id="14" name="Text 11"/>
          <p:cNvSpPr txBox="1"/>
          <p:nvPr/>
        </p:nvSpPr>
        <p:spPr>
          <a:xfrm>
            <a:off x="1188720" y="2542032"/>
            <a:ext cx="3657600" cy="457200"/>
          </a:xfrm>
          <a:prstGeom prst="rect">
            <a:avLst/>
          </a:prstGeom>
          <a:noFill/>
          <a:ln/>
        </p:spPr>
        <p:txBody>
          <a:bodyPr wrap="square" lIns="0" tIns="0" rIns="0" bIns="0" rtlCol="0" anchor="ctr"/>
          <a:lstStyle/>
          <a:p>
            <a:pPr indent="0" marL="0">
              <a:buNone/>
            </a:pPr>
            <a:r>
              <a:rPr lang="en-US" sz="1400" dirty="0">
                <a:solidFill>
                  <a:srgbClr val="1B2B3A"/>
                </a:solidFill>
                <a:latin typeface="Calibri" pitchFamily="34" charset="0"/>
                <a:ea typeface="Calibri" pitchFamily="34" charset="-122"/>
                <a:cs typeface="Calibri" pitchFamily="34" charset="-120"/>
              </a:rPr>
              <a:t>Classify new emails with a confidence score</a:t>
            </a:r>
            <a:endParaRPr lang="en-US" sz="1400" dirty="0"/>
          </a:p>
        </p:txBody>
      </p:sp>
      <p:sp>
        <p:nvSpPr>
          <p:cNvPr id="15" name="Shape 12"/>
          <p:cNvSpPr/>
          <p:nvPr/>
        </p:nvSpPr>
        <p:spPr>
          <a:xfrm>
            <a:off x="548640" y="3218688"/>
            <a:ext cx="457200" cy="457200"/>
          </a:xfrm>
          <a:prstGeom prst="ellipse">
            <a:avLst/>
          </a:prstGeom>
          <a:solidFill>
            <a:srgbClr val="0F2A47"/>
          </a:solidFill>
          <a:ln w="12700">
            <a:solidFill>
              <a:srgbClr val="0F2A47"/>
            </a:solidFill>
            <a:prstDash val="solid"/>
          </a:ln>
        </p:spPr>
      </p:sp>
      <p:sp>
        <p:nvSpPr>
          <p:cNvPr id="16" name="Text 13"/>
          <p:cNvSpPr txBox="1"/>
          <p:nvPr/>
        </p:nvSpPr>
        <p:spPr>
          <a:xfrm>
            <a:off x="548640" y="3218688"/>
            <a:ext cx="457200" cy="457200"/>
          </a:xfrm>
          <a:prstGeom prst="rect">
            <a:avLst/>
          </a:prstGeom>
          <a:noFill/>
          <a:ln/>
        </p:spPr>
        <p:txBody>
          <a:bodyPr wrap="square" lIns="0" tIns="0" rIns="0" bIns="0" rtlCol="0" anchor="ctr"/>
          <a:lstStyle/>
          <a:p>
            <a:pPr algn="ctr" indent="0" marL="0">
              <a:buNone/>
            </a:pPr>
            <a:r>
              <a:rPr lang="en-US" sz="1600" b="1" dirty="0">
                <a:solidFill>
                  <a:srgbClr val="00A896"/>
                </a:solidFill>
                <a:latin typeface="Cambria" pitchFamily="34" charset="0"/>
                <a:ea typeface="Cambria" pitchFamily="34" charset="-122"/>
                <a:cs typeface="Cambria" pitchFamily="34" charset="-120"/>
              </a:rPr>
              <a:t>4</a:t>
            </a:r>
            <a:endParaRPr lang="en-US" sz="1600" dirty="0"/>
          </a:p>
        </p:txBody>
      </p:sp>
      <p:sp>
        <p:nvSpPr>
          <p:cNvPr id="17" name="Text 14"/>
          <p:cNvSpPr txBox="1"/>
          <p:nvPr/>
        </p:nvSpPr>
        <p:spPr>
          <a:xfrm>
            <a:off x="1188720" y="3218688"/>
            <a:ext cx="3657600" cy="457200"/>
          </a:xfrm>
          <a:prstGeom prst="rect">
            <a:avLst/>
          </a:prstGeom>
          <a:noFill/>
          <a:ln/>
        </p:spPr>
        <p:txBody>
          <a:bodyPr wrap="square" lIns="0" tIns="0" rIns="0" bIns="0" rtlCol="0" anchor="ctr"/>
          <a:lstStyle/>
          <a:p>
            <a:pPr indent="0" marL="0">
              <a:buNone/>
            </a:pPr>
            <a:r>
              <a:rPr lang="en-US" sz="1400" dirty="0">
                <a:solidFill>
                  <a:srgbClr val="1B2B3A"/>
                </a:solidFill>
                <a:latin typeface="Calibri" pitchFamily="34" charset="0"/>
                <a:ea typeface="Calibri" pitchFamily="34" charset="-122"/>
                <a:cs typeface="Calibri" pitchFamily="34" charset="-120"/>
              </a:rPr>
              <a:t>Evaluate with accuracy, confusion matrix, precision and recall</a:t>
            </a:r>
            <a:endParaRPr lang="en-US" sz="1400" dirty="0"/>
          </a:p>
        </p:txBody>
      </p:sp>
      <p:sp>
        <p:nvSpPr>
          <p:cNvPr id="18" name="Shape 15"/>
          <p:cNvSpPr/>
          <p:nvPr/>
        </p:nvSpPr>
        <p:spPr>
          <a:xfrm>
            <a:off x="548640" y="3895344"/>
            <a:ext cx="457200" cy="457200"/>
          </a:xfrm>
          <a:prstGeom prst="ellipse">
            <a:avLst/>
          </a:prstGeom>
          <a:solidFill>
            <a:srgbClr val="0F2A47"/>
          </a:solidFill>
          <a:ln w="12700">
            <a:solidFill>
              <a:srgbClr val="0F2A47"/>
            </a:solidFill>
            <a:prstDash val="solid"/>
          </a:ln>
        </p:spPr>
      </p:sp>
      <p:sp>
        <p:nvSpPr>
          <p:cNvPr id="19" name="Text 16"/>
          <p:cNvSpPr txBox="1"/>
          <p:nvPr/>
        </p:nvSpPr>
        <p:spPr>
          <a:xfrm>
            <a:off x="548640" y="3895344"/>
            <a:ext cx="457200" cy="457200"/>
          </a:xfrm>
          <a:prstGeom prst="rect">
            <a:avLst/>
          </a:prstGeom>
          <a:noFill/>
          <a:ln/>
        </p:spPr>
        <p:txBody>
          <a:bodyPr wrap="square" lIns="0" tIns="0" rIns="0" bIns="0" rtlCol="0" anchor="ctr"/>
          <a:lstStyle/>
          <a:p>
            <a:pPr algn="ctr" indent="0" marL="0">
              <a:buNone/>
            </a:pPr>
            <a:r>
              <a:rPr lang="en-US" sz="1600" b="1" dirty="0">
                <a:solidFill>
                  <a:srgbClr val="00A896"/>
                </a:solidFill>
                <a:latin typeface="Cambria" pitchFamily="34" charset="0"/>
                <a:ea typeface="Cambria" pitchFamily="34" charset="-122"/>
                <a:cs typeface="Cambria" pitchFamily="34" charset="-120"/>
              </a:rPr>
              <a:t>5</a:t>
            </a:r>
            <a:endParaRPr lang="en-US" sz="1600" dirty="0"/>
          </a:p>
        </p:txBody>
      </p:sp>
      <p:sp>
        <p:nvSpPr>
          <p:cNvPr id="20" name="Text 17"/>
          <p:cNvSpPr txBox="1"/>
          <p:nvPr/>
        </p:nvSpPr>
        <p:spPr>
          <a:xfrm>
            <a:off x="1188720" y="3895344"/>
            <a:ext cx="3657600" cy="457200"/>
          </a:xfrm>
          <a:prstGeom prst="rect">
            <a:avLst/>
          </a:prstGeom>
          <a:noFill/>
          <a:ln/>
        </p:spPr>
        <p:txBody>
          <a:bodyPr wrap="square" lIns="0" tIns="0" rIns="0" bIns="0" rtlCol="0" anchor="ctr"/>
          <a:lstStyle/>
          <a:p>
            <a:pPr indent="0" marL="0">
              <a:buNone/>
            </a:pPr>
            <a:r>
              <a:rPr lang="en-US" sz="1400" dirty="0">
                <a:solidFill>
                  <a:srgbClr val="1B2B3A"/>
                </a:solidFill>
                <a:latin typeface="Calibri" pitchFamily="34" charset="0"/>
                <a:ea typeface="Calibri" pitchFamily="34" charset="-122"/>
                <a:cs typeface="Calibri" pitchFamily="34" charset="-120"/>
              </a:rPr>
              <a:t>Make it practical: single-email check, dataset merge, inbox scan</a:t>
            </a:r>
            <a:endParaRPr lang="en-US" sz="1400" dirty="0"/>
          </a:p>
        </p:txBody>
      </p:sp>
      <p:sp>
        <p:nvSpPr>
          <p:cNvPr id="21" name="Shape 18"/>
          <p:cNvSpPr/>
          <p:nvPr/>
        </p:nvSpPr>
        <p:spPr>
          <a:xfrm>
            <a:off x="5120640" y="1188720"/>
            <a:ext cx="3474720" cy="1508760"/>
          </a:xfrm>
          <a:prstGeom prst="roundRect">
            <a:avLst>
              <a:gd name="adj" fmla="val 7273"/>
            </a:avLst>
          </a:prstGeom>
          <a:solidFill>
            <a:srgbClr val="FFFFFF"/>
          </a:solidFill>
          <a:ln w="9525">
            <a:solidFill>
              <a:srgbClr val="E1E8EF"/>
            </a:solidFill>
            <a:prstDash val="solid"/>
          </a:ln>
          <a:effectLst>
            <a:outerShdw sx="100000" sy="100000" kx="0" ky="0" algn="bl" rotWithShape="0" blurRad="101600" dist="25400" dir="5400000">
              <a:srgbClr val="000000">
                <a:alpha val="12000"/>
              </a:srgbClr>
            </a:outerShdw>
          </a:effectLst>
        </p:spPr>
      </p:sp>
      <p:sp>
        <p:nvSpPr>
          <p:cNvPr id="22" name="Shape 19"/>
          <p:cNvSpPr/>
          <p:nvPr/>
        </p:nvSpPr>
        <p:spPr>
          <a:xfrm>
            <a:off x="5303520" y="1325880"/>
            <a:ext cx="411480" cy="411480"/>
          </a:xfrm>
          <a:prstGeom prst="ellipse">
            <a:avLst/>
          </a:prstGeom>
          <a:solidFill>
            <a:srgbClr val="00A896"/>
          </a:solidFill>
          <a:ln w="12700">
            <a:solidFill>
              <a:srgbClr val="00A896"/>
            </a:solidFill>
            <a:prstDash val="solid"/>
          </a:ln>
        </p:spPr>
      </p:sp>
      <p:pic>
        <p:nvPicPr>
          <p:cNvPr id="23" name="Image 0" descr="preencoded.png">    </p:cNvPr>
          <p:cNvPicPr>
            <a:picLocks noChangeAspect="1"/>
          </p:cNvPicPr>
          <p:nvPr/>
        </p:nvPicPr>
        <p:blipFill>
          <a:blip r:embed="rId1"/>
          <a:stretch>
            <a:fillRect/>
          </a:stretch>
        </p:blipFill>
        <p:spPr>
          <a:xfrm>
            <a:off x="5406390" y="1428750"/>
            <a:ext cx="205740" cy="205740"/>
          </a:xfrm>
          <a:prstGeom prst="rect">
            <a:avLst/>
          </a:prstGeom>
        </p:spPr>
      </p:pic>
      <p:sp>
        <p:nvSpPr>
          <p:cNvPr id="24" name="Text 20"/>
          <p:cNvSpPr txBox="1"/>
          <p:nvPr/>
        </p:nvSpPr>
        <p:spPr>
          <a:xfrm>
            <a:off x="5852160" y="1325880"/>
            <a:ext cx="2560320" cy="411480"/>
          </a:xfrm>
          <a:prstGeom prst="rect">
            <a:avLst/>
          </a:prstGeom>
          <a:noFill/>
          <a:ln/>
        </p:spPr>
        <p:txBody>
          <a:bodyPr wrap="square" lIns="0" tIns="0" rIns="0" bIns="0" rtlCol="0" anchor="ctr"/>
          <a:lstStyle/>
          <a:p>
            <a:pPr indent="0" marL="0">
              <a:buNone/>
            </a:pPr>
            <a:r>
              <a:rPr lang="en-US" sz="1600" b="1" dirty="0">
                <a:solidFill>
                  <a:srgbClr val="1B2B3A"/>
                </a:solidFill>
                <a:latin typeface="Calibri" pitchFamily="34" charset="0"/>
                <a:ea typeface="Calibri" pitchFamily="34" charset="-122"/>
                <a:cs typeface="Calibri" pitchFamily="34" charset="-120"/>
              </a:rPr>
              <a:t>In scope</a:t>
            </a:r>
            <a:endParaRPr lang="en-US" sz="1600" dirty="0"/>
          </a:p>
        </p:txBody>
      </p:sp>
      <p:sp>
        <p:nvSpPr>
          <p:cNvPr id="25" name="Text 21"/>
          <p:cNvSpPr txBox="1"/>
          <p:nvPr/>
        </p:nvSpPr>
        <p:spPr>
          <a:xfrm>
            <a:off x="5303520" y="1920240"/>
            <a:ext cx="3108960" cy="274320"/>
          </a:xfrm>
          <a:prstGeom prst="rect">
            <a:avLst/>
          </a:prstGeom>
          <a:noFill/>
          <a:ln/>
        </p:spPr>
        <p:txBody>
          <a:bodyPr wrap="square" lIns="0" tIns="0" rIns="0" bIns="0" rtlCol="0" anchor="ctr"/>
          <a:lstStyle/>
          <a:p>
            <a:pPr indent="0" marL="0">
              <a:buNone/>
            </a:pPr>
            <a:r>
              <a:rPr lang="en-US" sz="1300" dirty="0">
                <a:solidFill>
                  <a:srgbClr val="1B2B3A"/>
                </a:solidFill>
                <a:latin typeface="Calibri" pitchFamily="34" charset="0"/>
                <a:ea typeface="Calibri" pitchFamily="34" charset="-122"/>
                <a:cs typeface="Calibri" pitchFamily="34" charset="-120"/>
              </a:rPr>
              <a:t>Email text: subject and body</a:t>
            </a:r>
            <a:endParaRPr lang="en-US" sz="1300" dirty="0"/>
          </a:p>
        </p:txBody>
      </p:sp>
      <p:sp>
        <p:nvSpPr>
          <p:cNvPr id="26" name="Text 22"/>
          <p:cNvSpPr txBox="1"/>
          <p:nvPr/>
        </p:nvSpPr>
        <p:spPr>
          <a:xfrm>
            <a:off x="5303520" y="2240280"/>
            <a:ext cx="3108960" cy="274320"/>
          </a:xfrm>
          <a:prstGeom prst="rect">
            <a:avLst/>
          </a:prstGeom>
          <a:noFill/>
          <a:ln/>
        </p:spPr>
        <p:txBody>
          <a:bodyPr wrap="square" lIns="0" tIns="0" rIns="0" bIns="0" rtlCol="0" anchor="ctr"/>
          <a:lstStyle/>
          <a:p>
            <a:pPr indent="0" marL="0">
              <a:buNone/>
            </a:pPr>
            <a:r>
              <a:rPr lang="en-US" sz="1300" dirty="0">
                <a:solidFill>
                  <a:srgbClr val="1B2B3A"/>
                </a:solidFill>
                <a:latin typeface="Calibri" pitchFamily="34" charset="0"/>
                <a:ea typeface="Calibri" pitchFamily="34" charset="-122"/>
                <a:cs typeface="Calibri" pitchFamily="34" charset="-120"/>
              </a:rPr>
              <a:t>Phishing or Safe with confidence</a:t>
            </a:r>
            <a:endParaRPr lang="en-US" sz="1300" dirty="0"/>
          </a:p>
        </p:txBody>
      </p:sp>
      <p:sp>
        <p:nvSpPr>
          <p:cNvPr id="27" name="Shape 23"/>
          <p:cNvSpPr/>
          <p:nvPr/>
        </p:nvSpPr>
        <p:spPr>
          <a:xfrm>
            <a:off x="5120640" y="2880360"/>
            <a:ext cx="3474720" cy="1691640"/>
          </a:xfrm>
          <a:prstGeom prst="roundRect">
            <a:avLst>
              <a:gd name="adj" fmla="val 6486"/>
            </a:avLst>
          </a:prstGeom>
          <a:solidFill>
            <a:srgbClr val="FFFFFF"/>
          </a:solidFill>
          <a:ln w="9525">
            <a:solidFill>
              <a:srgbClr val="E1E8EF"/>
            </a:solidFill>
            <a:prstDash val="solid"/>
          </a:ln>
          <a:effectLst>
            <a:outerShdw sx="100000" sy="100000" kx="0" ky="0" algn="bl" rotWithShape="0" blurRad="101600" dist="25400" dir="5400000">
              <a:srgbClr val="000000">
                <a:alpha val="12000"/>
              </a:srgbClr>
            </a:outerShdw>
          </a:effectLst>
        </p:spPr>
      </p:sp>
      <p:sp>
        <p:nvSpPr>
          <p:cNvPr id="28" name="Shape 24"/>
          <p:cNvSpPr/>
          <p:nvPr/>
        </p:nvSpPr>
        <p:spPr>
          <a:xfrm>
            <a:off x="5303520" y="3017520"/>
            <a:ext cx="411480" cy="411480"/>
          </a:xfrm>
          <a:prstGeom prst="ellipse">
            <a:avLst/>
          </a:prstGeom>
          <a:solidFill>
            <a:srgbClr val="E4572E"/>
          </a:solidFill>
          <a:ln w="12700">
            <a:solidFill>
              <a:srgbClr val="E4572E"/>
            </a:solidFill>
            <a:prstDash val="solid"/>
          </a:ln>
        </p:spPr>
      </p:sp>
      <p:pic>
        <p:nvPicPr>
          <p:cNvPr id="29" name="Image 1" descr="preencoded.png">    </p:cNvPr>
          <p:cNvPicPr>
            <a:picLocks noChangeAspect="1"/>
          </p:cNvPicPr>
          <p:nvPr/>
        </p:nvPicPr>
        <p:blipFill>
          <a:blip r:embed="rId2"/>
          <a:stretch>
            <a:fillRect/>
          </a:stretch>
        </p:blipFill>
        <p:spPr>
          <a:xfrm>
            <a:off x="5406390" y="3120390"/>
            <a:ext cx="205740" cy="205740"/>
          </a:xfrm>
          <a:prstGeom prst="rect">
            <a:avLst/>
          </a:prstGeom>
        </p:spPr>
      </p:pic>
      <p:sp>
        <p:nvSpPr>
          <p:cNvPr id="30" name="Text 25"/>
          <p:cNvSpPr txBox="1"/>
          <p:nvPr/>
        </p:nvSpPr>
        <p:spPr>
          <a:xfrm>
            <a:off x="5852160" y="3017520"/>
            <a:ext cx="2560320" cy="411480"/>
          </a:xfrm>
          <a:prstGeom prst="rect">
            <a:avLst/>
          </a:prstGeom>
          <a:noFill/>
          <a:ln/>
        </p:spPr>
        <p:txBody>
          <a:bodyPr wrap="square" lIns="0" tIns="0" rIns="0" bIns="0" rtlCol="0" anchor="ctr"/>
          <a:lstStyle/>
          <a:p>
            <a:pPr indent="0" marL="0">
              <a:buNone/>
            </a:pPr>
            <a:r>
              <a:rPr lang="en-US" sz="1600" b="1" dirty="0">
                <a:solidFill>
                  <a:srgbClr val="1B2B3A"/>
                </a:solidFill>
                <a:latin typeface="Calibri" pitchFamily="34" charset="0"/>
                <a:ea typeface="Calibri" pitchFamily="34" charset="-122"/>
                <a:cs typeface="Calibri" pitchFamily="34" charset="-120"/>
              </a:rPr>
              <a:t>Out of scope</a:t>
            </a:r>
            <a:endParaRPr lang="en-US" sz="1600" dirty="0"/>
          </a:p>
        </p:txBody>
      </p:sp>
      <p:sp>
        <p:nvSpPr>
          <p:cNvPr id="31" name="Text 26"/>
          <p:cNvSpPr txBox="1"/>
          <p:nvPr/>
        </p:nvSpPr>
        <p:spPr>
          <a:xfrm>
            <a:off x="5303520" y="3611880"/>
            <a:ext cx="3108960" cy="274320"/>
          </a:xfrm>
          <a:prstGeom prst="rect">
            <a:avLst/>
          </a:prstGeom>
          <a:noFill/>
          <a:ln/>
        </p:spPr>
        <p:txBody>
          <a:bodyPr wrap="square" lIns="0" tIns="0" rIns="0" bIns="0" rtlCol="0" anchor="ctr"/>
          <a:lstStyle/>
          <a:p>
            <a:pPr indent="0" marL="0">
              <a:buNone/>
            </a:pPr>
            <a:r>
              <a:rPr lang="en-US" sz="1300" dirty="0">
                <a:solidFill>
                  <a:srgbClr val="1B2B3A"/>
                </a:solidFill>
                <a:latin typeface="Calibri" pitchFamily="34" charset="0"/>
                <a:ea typeface="Calibri" pitchFamily="34" charset="-122"/>
                <a:cs typeface="Calibri" pitchFamily="34" charset="-120"/>
              </a:rPr>
              <a:t>Attachments and images</a:t>
            </a:r>
            <a:endParaRPr lang="en-US" sz="1300" dirty="0"/>
          </a:p>
        </p:txBody>
      </p:sp>
      <p:sp>
        <p:nvSpPr>
          <p:cNvPr id="32" name="Text 27"/>
          <p:cNvSpPr txBox="1"/>
          <p:nvPr/>
        </p:nvSpPr>
        <p:spPr>
          <a:xfrm>
            <a:off x="5303520" y="3913632"/>
            <a:ext cx="3108960" cy="274320"/>
          </a:xfrm>
          <a:prstGeom prst="rect">
            <a:avLst/>
          </a:prstGeom>
          <a:noFill/>
          <a:ln/>
        </p:spPr>
        <p:txBody>
          <a:bodyPr wrap="square" lIns="0" tIns="0" rIns="0" bIns="0" rtlCol="0" anchor="ctr"/>
          <a:lstStyle/>
          <a:p>
            <a:pPr indent="0" marL="0">
              <a:buNone/>
            </a:pPr>
            <a:r>
              <a:rPr lang="en-US" sz="1300" dirty="0">
                <a:solidFill>
                  <a:srgbClr val="1B2B3A"/>
                </a:solidFill>
                <a:latin typeface="Calibri" pitchFamily="34" charset="0"/>
                <a:ea typeface="Calibri" pitchFamily="34" charset="-122"/>
                <a:cs typeface="Calibri" pitchFamily="34" charset="-120"/>
              </a:rPr>
              <a:t>SPF, DKIM and DMARC checks</a:t>
            </a:r>
            <a:endParaRPr lang="en-US" sz="1300" dirty="0"/>
          </a:p>
        </p:txBody>
      </p:sp>
      <p:sp>
        <p:nvSpPr>
          <p:cNvPr id="33" name="Text 28"/>
          <p:cNvSpPr txBox="1"/>
          <p:nvPr/>
        </p:nvSpPr>
        <p:spPr>
          <a:xfrm>
            <a:off x="5303520" y="4215384"/>
            <a:ext cx="3108960" cy="274320"/>
          </a:xfrm>
          <a:prstGeom prst="rect">
            <a:avLst/>
          </a:prstGeom>
          <a:noFill/>
          <a:ln/>
        </p:spPr>
        <p:txBody>
          <a:bodyPr wrap="square" lIns="0" tIns="0" rIns="0" bIns="0" rtlCol="0" anchor="ctr"/>
          <a:lstStyle/>
          <a:p>
            <a:pPr indent="0" marL="0">
              <a:buNone/>
            </a:pPr>
            <a:r>
              <a:rPr lang="en-US" sz="1300" dirty="0">
                <a:solidFill>
                  <a:srgbClr val="1B2B3A"/>
                </a:solidFill>
                <a:latin typeface="Calibri" pitchFamily="34" charset="0"/>
                <a:ea typeface="Calibri" pitchFamily="34" charset="-122"/>
                <a:cs typeface="Calibri" pitchFamily="34" charset="-120"/>
              </a:rPr>
              <a:t>Reputation of linked websites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6FA"/>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640080"/>
          </a:xfrm>
          <a:prstGeom prst="rect">
            <a:avLst/>
          </a:prstGeom>
          <a:noFill/>
          <a:ln/>
        </p:spPr>
        <p:txBody>
          <a:bodyPr wrap="square" lIns="0" tIns="0" rIns="0" bIns="0" rtlCol="0" anchor="ctr"/>
          <a:lstStyle/>
          <a:p>
            <a:pPr indent="0" marL="0">
              <a:buNone/>
            </a:pPr>
            <a:r>
              <a:rPr lang="en-US" sz="3200" b="1" dirty="0">
                <a:solidFill>
                  <a:srgbClr val="1B2B3A"/>
                </a:solidFill>
                <a:latin typeface="Cambria" pitchFamily="34" charset="0"/>
                <a:ea typeface="Cambria" pitchFamily="34" charset="-122"/>
                <a:cs typeface="Cambria" pitchFamily="34" charset="-120"/>
              </a:rPr>
              <a:t>Dataset</a:t>
            </a:r>
            <a:endParaRPr lang="en-US" sz="3200" dirty="0"/>
          </a:p>
        </p:txBody>
      </p:sp>
      <p:sp>
        <p:nvSpPr>
          <p:cNvPr id="3" name="Text 1"/>
          <p:cNvSpPr txBox="1"/>
          <p:nvPr/>
        </p:nvSpPr>
        <p:spPr>
          <a:xfrm>
            <a:off x="548640" y="4846320"/>
            <a:ext cx="6400800" cy="201168"/>
          </a:xfrm>
          <a:prstGeom prst="rect">
            <a:avLst/>
          </a:prstGeom>
          <a:noFill/>
          <a:ln/>
        </p:spPr>
        <p:txBody>
          <a:bodyPr wrap="square" lIns="0" tIns="0" rIns="0" bIns="0" rtlCol="0" anchor="ctr"/>
          <a:lstStyle/>
          <a:p>
            <a:pPr indent="0" marL="0">
              <a:buNone/>
            </a:pPr>
            <a:r>
              <a:rPr lang="en-US" sz="900" dirty="0">
                <a:solidFill>
                  <a:srgbClr val="5B6B7B"/>
                </a:solidFill>
                <a:latin typeface="Calibri" pitchFamily="34" charset="0"/>
                <a:ea typeface="Calibri" pitchFamily="34" charset="-122"/>
                <a:cs typeface="Calibri" pitchFamily="34" charset="-120"/>
              </a:rPr>
              <a:t>Phishing Detection System  |  Aman Kumar Gautam  |  CS-2341642</a:t>
            </a:r>
            <a:endParaRPr lang="en-US" sz="900" dirty="0"/>
          </a:p>
        </p:txBody>
      </p:sp>
      <p:sp>
        <p:nvSpPr>
          <p:cNvPr id="4" name="Text 2"/>
          <p:cNvSpPr txBox="1"/>
          <p:nvPr/>
        </p:nvSpPr>
        <p:spPr>
          <a:xfrm>
            <a:off x="8138160" y="4846320"/>
            <a:ext cx="457200" cy="201168"/>
          </a:xfrm>
          <a:prstGeom prst="rect">
            <a:avLst/>
          </a:prstGeom>
          <a:noFill/>
          <a:ln/>
        </p:spPr>
        <p:txBody>
          <a:bodyPr wrap="square" lIns="0" tIns="0" rIns="0" bIns="0"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4</a:t>
            </a:r>
            <a:endParaRPr lang="en-US" sz="900" dirty="0"/>
          </a:p>
        </p:txBody>
      </p:sp>
      <p:sp>
        <p:nvSpPr>
          <p:cNvPr id="6" name="Shape 3"/>
          <p:cNvSpPr/>
          <p:nvPr/>
        </p:nvSpPr>
        <p:spPr>
          <a:xfrm>
            <a:off x="548640" y="1188720"/>
            <a:ext cx="2560320" cy="1188720"/>
          </a:xfrm>
          <a:prstGeom prst="roundRect">
            <a:avLst>
              <a:gd name="adj" fmla="val 9231"/>
            </a:avLst>
          </a:prstGeom>
          <a:solidFill>
            <a:srgbClr val="FFFFFF"/>
          </a:solidFill>
          <a:ln w="9525">
            <a:solidFill>
              <a:srgbClr val="E1E8EF"/>
            </a:solidFill>
            <a:prstDash val="solid"/>
          </a:ln>
          <a:effectLst>
            <a:outerShdw sx="100000" sy="100000" kx="0" ky="0" algn="bl" rotWithShape="0" blurRad="101600" dist="25400" dir="5400000">
              <a:srgbClr val="000000">
                <a:alpha val="12000"/>
              </a:srgbClr>
            </a:outerShdw>
          </a:effectLst>
        </p:spPr>
      </p:sp>
      <p:sp>
        <p:nvSpPr>
          <p:cNvPr id="7" name="Text 4"/>
          <p:cNvSpPr txBox="1"/>
          <p:nvPr/>
        </p:nvSpPr>
        <p:spPr>
          <a:xfrm>
            <a:off x="548640" y="1280160"/>
            <a:ext cx="2560320" cy="640080"/>
          </a:xfrm>
          <a:prstGeom prst="rect">
            <a:avLst/>
          </a:prstGeom>
          <a:noFill/>
          <a:ln/>
        </p:spPr>
        <p:txBody>
          <a:bodyPr wrap="square" lIns="0" tIns="0" rIns="0" bIns="0" rtlCol="0" anchor="ctr"/>
          <a:lstStyle/>
          <a:p>
            <a:pPr algn="ctr" indent="0" marL="0">
              <a:buNone/>
            </a:pPr>
            <a:r>
              <a:rPr lang="en-US" sz="3200" b="1" dirty="0">
                <a:solidFill>
                  <a:srgbClr val="00A896"/>
                </a:solidFill>
                <a:latin typeface="Cambria" pitchFamily="34" charset="0"/>
                <a:ea typeface="Cambria" pitchFamily="34" charset="-122"/>
                <a:cs typeface="Cambria" pitchFamily="34" charset="-120"/>
              </a:rPr>
              <a:t>360</a:t>
            </a:r>
            <a:endParaRPr lang="en-US" sz="3200" dirty="0"/>
          </a:p>
        </p:txBody>
      </p:sp>
      <p:sp>
        <p:nvSpPr>
          <p:cNvPr id="8" name="Text 5"/>
          <p:cNvSpPr txBox="1"/>
          <p:nvPr/>
        </p:nvSpPr>
        <p:spPr>
          <a:xfrm>
            <a:off x="548640" y="1920240"/>
            <a:ext cx="2560320" cy="320040"/>
          </a:xfrm>
          <a:prstGeom prst="rect">
            <a:avLst/>
          </a:prstGeom>
          <a:noFill/>
          <a:ln/>
        </p:spPr>
        <p:txBody>
          <a:bodyPr wrap="square" lIns="0" tIns="0" rIns="0" bIns="0" rtlCol="0" anchor="ctr"/>
          <a:lstStyle/>
          <a:p>
            <a:pPr algn="ctr" indent="0" marL="0">
              <a:buNone/>
            </a:pPr>
            <a:r>
              <a:rPr lang="en-US" sz="1300" dirty="0">
                <a:solidFill>
                  <a:srgbClr val="5B6B7B"/>
                </a:solidFill>
                <a:latin typeface="Calibri" pitchFamily="34" charset="0"/>
                <a:ea typeface="Calibri" pitchFamily="34" charset="-122"/>
                <a:cs typeface="Calibri" pitchFamily="34" charset="-120"/>
              </a:rPr>
              <a:t>labelled emails</a:t>
            </a:r>
            <a:endParaRPr lang="en-US" sz="1300" dirty="0"/>
          </a:p>
        </p:txBody>
      </p:sp>
      <p:sp>
        <p:nvSpPr>
          <p:cNvPr id="9" name="Shape 6"/>
          <p:cNvSpPr/>
          <p:nvPr/>
        </p:nvSpPr>
        <p:spPr>
          <a:xfrm>
            <a:off x="3291840" y="1188720"/>
            <a:ext cx="2560320" cy="1188720"/>
          </a:xfrm>
          <a:prstGeom prst="roundRect">
            <a:avLst>
              <a:gd name="adj" fmla="val 9231"/>
            </a:avLst>
          </a:prstGeom>
          <a:solidFill>
            <a:srgbClr val="FFFFFF"/>
          </a:solidFill>
          <a:ln w="9525">
            <a:solidFill>
              <a:srgbClr val="E1E8EF"/>
            </a:solidFill>
            <a:prstDash val="solid"/>
          </a:ln>
          <a:effectLst>
            <a:outerShdw sx="100000" sy="100000" kx="0" ky="0" algn="bl" rotWithShape="0" blurRad="101600" dist="25400" dir="5400000">
              <a:srgbClr val="000000">
                <a:alpha val="12000"/>
              </a:srgbClr>
            </a:outerShdw>
          </a:effectLst>
        </p:spPr>
      </p:sp>
      <p:sp>
        <p:nvSpPr>
          <p:cNvPr id="10" name="Text 7"/>
          <p:cNvSpPr txBox="1"/>
          <p:nvPr/>
        </p:nvSpPr>
        <p:spPr>
          <a:xfrm>
            <a:off x="3291840" y="1280160"/>
            <a:ext cx="2560320" cy="640080"/>
          </a:xfrm>
          <a:prstGeom prst="rect">
            <a:avLst/>
          </a:prstGeom>
          <a:noFill/>
          <a:ln/>
        </p:spPr>
        <p:txBody>
          <a:bodyPr wrap="square" lIns="0" tIns="0" rIns="0" bIns="0" rtlCol="0" anchor="ctr"/>
          <a:lstStyle/>
          <a:p>
            <a:pPr algn="ctr" indent="0" marL="0">
              <a:buNone/>
            </a:pPr>
            <a:r>
              <a:rPr lang="en-US" sz="3200" b="1" dirty="0">
                <a:solidFill>
                  <a:srgbClr val="00A896"/>
                </a:solidFill>
                <a:latin typeface="Cambria" pitchFamily="34" charset="0"/>
                <a:ea typeface="Cambria" pitchFamily="34" charset="-122"/>
                <a:cs typeface="Cambria" pitchFamily="34" charset="-120"/>
              </a:rPr>
              <a:t>180 : 180</a:t>
            </a:r>
            <a:endParaRPr lang="en-US" sz="3200" dirty="0"/>
          </a:p>
        </p:txBody>
      </p:sp>
      <p:sp>
        <p:nvSpPr>
          <p:cNvPr id="11" name="Text 8"/>
          <p:cNvSpPr txBox="1"/>
          <p:nvPr/>
        </p:nvSpPr>
        <p:spPr>
          <a:xfrm>
            <a:off x="3291840" y="1920240"/>
            <a:ext cx="2560320" cy="320040"/>
          </a:xfrm>
          <a:prstGeom prst="rect">
            <a:avLst/>
          </a:prstGeom>
          <a:noFill/>
          <a:ln/>
        </p:spPr>
        <p:txBody>
          <a:bodyPr wrap="square" lIns="0" tIns="0" rIns="0" bIns="0" rtlCol="0" anchor="ctr"/>
          <a:lstStyle/>
          <a:p>
            <a:pPr algn="ctr" indent="0" marL="0">
              <a:buNone/>
            </a:pPr>
            <a:r>
              <a:rPr lang="en-US" sz="1300" dirty="0">
                <a:solidFill>
                  <a:srgbClr val="5B6B7B"/>
                </a:solidFill>
                <a:latin typeface="Calibri" pitchFamily="34" charset="0"/>
                <a:ea typeface="Calibri" pitchFamily="34" charset="-122"/>
                <a:cs typeface="Calibri" pitchFamily="34" charset="-120"/>
              </a:rPr>
              <a:t>phishing : safe</a:t>
            </a:r>
            <a:endParaRPr lang="en-US" sz="1300" dirty="0"/>
          </a:p>
        </p:txBody>
      </p:sp>
      <p:sp>
        <p:nvSpPr>
          <p:cNvPr id="12" name="Shape 9"/>
          <p:cNvSpPr/>
          <p:nvPr/>
        </p:nvSpPr>
        <p:spPr>
          <a:xfrm>
            <a:off x="6035040" y="1188720"/>
            <a:ext cx="2560320" cy="1188720"/>
          </a:xfrm>
          <a:prstGeom prst="roundRect">
            <a:avLst>
              <a:gd name="adj" fmla="val 9231"/>
            </a:avLst>
          </a:prstGeom>
          <a:solidFill>
            <a:srgbClr val="FFFFFF"/>
          </a:solidFill>
          <a:ln w="9525">
            <a:solidFill>
              <a:srgbClr val="E1E8EF"/>
            </a:solidFill>
            <a:prstDash val="solid"/>
          </a:ln>
          <a:effectLst>
            <a:outerShdw sx="100000" sy="100000" kx="0" ky="0" algn="bl" rotWithShape="0" blurRad="101600" dist="25400" dir="5400000">
              <a:srgbClr val="000000">
                <a:alpha val="12000"/>
              </a:srgbClr>
            </a:outerShdw>
          </a:effectLst>
        </p:spPr>
      </p:sp>
      <p:sp>
        <p:nvSpPr>
          <p:cNvPr id="13" name="Text 10"/>
          <p:cNvSpPr txBox="1"/>
          <p:nvPr/>
        </p:nvSpPr>
        <p:spPr>
          <a:xfrm>
            <a:off x="6035040" y="1280160"/>
            <a:ext cx="2560320" cy="640080"/>
          </a:xfrm>
          <a:prstGeom prst="rect">
            <a:avLst/>
          </a:prstGeom>
          <a:noFill/>
          <a:ln/>
        </p:spPr>
        <p:txBody>
          <a:bodyPr wrap="square" lIns="0" tIns="0" rIns="0" bIns="0" rtlCol="0" anchor="ctr"/>
          <a:lstStyle/>
          <a:p>
            <a:pPr algn="ctr" indent="0" marL="0">
              <a:buNone/>
            </a:pPr>
            <a:r>
              <a:rPr lang="en-US" sz="3200" b="1" dirty="0">
                <a:solidFill>
                  <a:srgbClr val="00A896"/>
                </a:solidFill>
                <a:latin typeface="Cambria" pitchFamily="34" charset="0"/>
                <a:ea typeface="Cambria" pitchFamily="34" charset="-122"/>
                <a:cs typeface="Cambria" pitchFamily="34" charset="-120"/>
              </a:rPr>
              <a:t>270 / 90</a:t>
            </a:r>
            <a:endParaRPr lang="en-US" sz="3200" dirty="0"/>
          </a:p>
        </p:txBody>
      </p:sp>
      <p:sp>
        <p:nvSpPr>
          <p:cNvPr id="14" name="Text 11"/>
          <p:cNvSpPr txBox="1"/>
          <p:nvPr/>
        </p:nvSpPr>
        <p:spPr>
          <a:xfrm>
            <a:off x="6035040" y="1920240"/>
            <a:ext cx="2560320" cy="320040"/>
          </a:xfrm>
          <a:prstGeom prst="rect">
            <a:avLst/>
          </a:prstGeom>
          <a:noFill/>
          <a:ln/>
        </p:spPr>
        <p:txBody>
          <a:bodyPr wrap="square" lIns="0" tIns="0" rIns="0" bIns="0" rtlCol="0" anchor="ctr"/>
          <a:lstStyle/>
          <a:p>
            <a:pPr algn="ctr" indent="0" marL="0">
              <a:buNone/>
            </a:pPr>
            <a:r>
              <a:rPr lang="en-US" sz="1300" dirty="0">
                <a:solidFill>
                  <a:srgbClr val="5B6B7B"/>
                </a:solidFill>
                <a:latin typeface="Calibri" pitchFamily="34" charset="0"/>
                <a:ea typeface="Calibri" pitchFamily="34" charset="-122"/>
                <a:cs typeface="Calibri" pitchFamily="34" charset="-120"/>
              </a:rPr>
              <a:t>train / test split</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2697480"/>
          <a:ext cx="3840480" cy="914400"/>
        </p:xfrm>
        <a:graphic>
          <a:graphicData uri="http://schemas.openxmlformats.org/drawingml/2006/table">
            <a:tbl>
              <a:tblPr/>
              <a:tblGrid>
                <a:gridCol w="1463040"/>
                <a:gridCol w="1097280"/>
                <a:gridCol w="1280160"/>
              </a:tblGrid>
              <a:tr h="34747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Class</a:t>
                      </a:r>
                      <a:endParaRPr lang="en-US" sz="1200" dirty="0">
                        <a:latin typeface="Calibri" charset="0"/>
                        <a:ea typeface="Calibri" charset="0"/>
                        <a:cs typeface="Calibri" charset="0"/>
                      </a:endParaRPr>
                    </a:p>
                  </a:txBody>
                  <a:tcPr marL="91440" marR="91440" marT="36576" marB="36576" anchor="ctr">
                    <a:lnL w="6350" cap="flat" cmpd="sng" algn="ctr">
                      <a:solidFill>
                        <a:srgbClr val="E1E8EF"/>
                      </a:solidFill>
                      <a:prstDash val="solid"/>
                      <a:round/>
                      <a:headEnd type="none" w="med" len="med"/>
                      <a:tailEnd type="none" w="med" len="med"/>
                    </a:lnL>
                    <a:lnR w="6350" cap="flat" cmpd="sng" algn="ctr">
                      <a:solidFill>
                        <a:srgbClr val="E1E8EF"/>
                      </a:solidFill>
                      <a:prstDash val="solid"/>
                      <a:round/>
                      <a:headEnd type="none" w="med" len="med"/>
                      <a:tailEnd type="none" w="med" len="med"/>
                    </a:lnR>
                    <a:lnT w="6350" cap="flat" cmpd="sng" algn="ctr">
                      <a:solidFill>
                        <a:srgbClr val="E1E8EF"/>
                      </a:solidFill>
                      <a:prstDash val="solid"/>
                      <a:round/>
                      <a:headEnd type="none" w="med" len="med"/>
                      <a:tailEnd type="none" w="med" len="med"/>
                    </a:lnT>
                    <a:lnB w="6350" cap="flat" cmpd="sng" algn="ctr">
                      <a:solidFill>
                        <a:srgbClr val="E1E8EF"/>
                      </a:solidFill>
                      <a:prstDash val="solid"/>
                      <a:round/>
                      <a:headEnd type="none" w="med" len="med"/>
                      <a:tailEnd type="none" w="med" len="med"/>
                    </a:lnB>
                    <a:solidFill>
                      <a:srgbClr val="0F2A47"/>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Rows</a:t>
                      </a:r>
                      <a:endParaRPr lang="en-US" sz="1200" dirty="0">
                        <a:latin typeface="Calibri" charset="0"/>
                        <a:ea typeface="Calibri" charset="0"/>
                        <a:cs typeface="Calibri" charset="0"/>
                      </a:endParaRPr>
                    </a:p>
                  </a:txBody>
                  <a:tcPr marL="91440" marR="91440" marT="36576" marB="36576" anchor="ctr">
                    <a:lnL w="6350" cap="flat" cmpd="sng" algn="ctr">
                      <a:solidFill>
                        <a:srgbClr val="E1E8EF"/>
                      </a:solidFill>
                      <a:prstDash val="solid"/>
                      <a:round/>
                      <a:headEnd type="none" w="med" len="med"/>
                      <a:tailEnd type="none" w="med" len="med"/>
                    </a:lnL>
                    <a:lnR w="6350" cap="flat" cmpd="sng" algn="ctr">
                      <a:solidFill>
                        <a:srgbClr val="E1E8EF"/>
                      </a:solidFill>
                      <a:prstDash val="solid"/>
                      <a:round/>
                      <a:headEnd type="none" w="med" len="med"/>
                      <a:tailEnd type="none" w="med" len="med"/>
                    </a:lnR>
                    <a:lnT w="6350" cap="flat" cmpd="sng" algn="ctr">
                      <a:solidFill>
                        <a:srgbClr val="E1E8EF"/>
                      </a:solidFill>
                      <a:prstDash val="solid"/>
                      <a:round/>
                      <a:headEnd type="none" w="med" len="med"/>
                      <a:tailEnd type="none" w="med" len="med"/>
                    </a:lnT>
                    <a:lnB w="6350" cap="flat" cmpd="sng" algn="ctr">
                      <a:solidFill>
                        <a:srgbClr val="E1E8EF"/>
                      </a:solidFill>
                      <a:prstDash val="solid"/>
                      <a:round/>
                      <a:headEnd type="none" w="med" len="med"/>
                      <a:tailEnd type="none" w="med" len="med"/>
                    </a:lnB>
                    <a:solidFill>
                      <a:srgbClr val="0F2A47"/>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Unique texts</a:t>
                      </a:r>
                      <a:endParaRPr lang="en-US" sz="1200" dirty="0">
                        <a:latin typeface="Calibri" charset="0"/>
                        <a:ea typeface="Calibri" charset="0"/>
                        <a:cs typeface="Calibri" charset="0"/>
                      </a:endParaRPr>
                    </a:p>
                  </a:txBody>
                  <a:tcPr marL="91440" marR="91440" marT="36576" marB="36576" anchor="ctr">
                    <a:lnL w="6350" cap="flat" cmpd="sng" algn="ctr">
                      <a:solidFill>
                        <a:srgbClr val="E1E8EF"/>
                      </a:solidFill>
                      <a:prstDash val="solid"/>
                      <a:round/>
                      <a:headEnd type="none" w="med" len="med"/>
                      <a:tailEnd type="none" w="med" len="med"/>
                    </a:lnL>
                    <a:lnR w="6350" cap="flat" cmpd="sng" algn="ctr">
                      <a:solidFill>
                        <a:srgbClr val="E1E8EF"/>
                      </a:solidFill>
                      <a:prstDash val="solid"/>
                      <a:round/>
                      <a:headEnd type="none" w="med" len="med"/>
                      <a:tailEnd type="none" w="med" len="med"/>
                    </a:lnR>
                    <a:lnT w="6350" cap="flat" cmpd="sng" algn="ctr">
                      <a:solidFill>
                        <a:srgbClr val="E1E8EF"/>
                      </a:solidFill>
                      <a:prstDash val="solid"/>
                      <a:round/>
                      <a:headEnd type="none" w="med" len="med"/>
                      <a:tailEnd type="none" w="med" len="med"/>
                    </a:lnT>
                    <a:lnB w="6350" cap="flat" cmpd="sng" algn="ctr">
                      <a:solidFill>
                        <a:srgbClr val="E1E8EF"/>
                      </a:solidFill>
                      <a:prstDash val="solid"/>
                      <a:round/>
                      <a:headEnd type="none" w="med" len="med"/>
                      <a:tailEnd type="none" w="med" len="med"/>
                    </a:lnB>
                    <a:solidFill>
                      <a:srgbClr val="0F2A47"/>
                    </a:solidFill>
                  </a:tcPr>
                </a:tc>
              </a:tr>
              <a:tr h="347472">
                <a:tc>
                  <a:txBody>
                    <a:bodyPr/>
                    <a:lstStyle/>
                    <a:p>
                      <a:pPr indent="0" marL="0">
                        <a:buNone/>
                      </a:pPr>
                      <a:r>
                        <a:rPr lang="en-US" sz="1200" dirty="0">
                          <a:solidFill>
                            <a:srgbClr val="1B2B3A"/>
                          </a:solidFill>
                          <a:latin typeface="Calibri" pitchFamily="34" charset="0"/>
                          <a:ea typeface="Calibri" pitchFamily="34" charset="-122"/>
                          <a:cs typeface="Calibri" pitchFamily="34" charset="-120"/>
                        </a:rPr>
                        <a:t>Phishing</a:t>
                      </a:r>
                      <a:endParaRPr lang="en-US" sz="1200" dirty="0">
                        <a:latin typeface="Calibri" charset="0"/>
                        <a:ea typeface="Calibri" charset="0"/>
                        <a:cs typeface="Calibri" charset="0"/>
                      </a:endParaRPr>
                    </a:p>
                  </a:txBody>
                  <a:tcPr marL="91440" marR="91440" marT="36576" marB="36576" anchor="ctr">
                    <a:lnL w="6350" cap="flat" cmpd="sng" algn="ctr">
                      <a:solidFill>
                        <a:srgbClr val="E1E8EF"/>
                      </a:solidFill>
                      <a:prstDash val="solid"/>
                      <a:round/>
                      <a:headEnd type="none" w="med" len="med"/>
                      <a:tailEnd type="none" w="med" len="med"/>
                    </a:lnL>
                    <a:lnR w="6350" cap="flat" cmpd="sng" algn="ctr">
                      <a:solidFill>
                        <a:srgbClr val="E1E8EF"/>
                      </a:solidFill>
                      <a:prstDash val="solid"/>
                      <a:round/>
                      <a:headEnd type="none" w="med" len="med"/>
                      <a:tailEnd type="none" w="med" len="med"/>
                    </a:lnR>
                    <a:lnT w="6350" cap="flat" cmpd="sng" algn="ctr">
                      <a:solidFill>
                        <a:srgbClr val="E1E8EF"/>
                      </a:solidFill>
                      <a:prstDash val="solid"/>
                      <a:round/>
                      <a:headEnd type="none" w="med" len="med"/>
                      <a:tailEnd type="none" w="med" len="med"/>
                    </a:lnT>
                    <a:lnB w="6350" cap="flat" cmpd="sng" algn="ctr">
                      <a:solidFill>
                        <a:srgbClr val="E1E8EF"/>
                      </a:solidFill>
                      <a:prstDash val="solid"/>
                      <a:round/>
                      <a:headEnd type="none" w="med" len="med"/>
                      <a:tailEnd type="none" w="med" len="med"/>
                    </a:lnB>
                    <a:solidFill>
                      <a:srgbClr val="FFFFFF"/>
                    </a:solidFill>
                  </a:tcPr>
                </a:tc>
                <a:tc>
                  <a:txBody>
                    <a:bodyPr/>
                    <a:lstStyle/>
                    <a:p>
                      <a:pPr indent="0" marL="0">
                        <a:buNone/>
                      </a:pPr>
                      <a:r>
                        <a:rPr lang="en-US" sz="1200" dirty="0">
                          <a:solidFill>
                            <a:srgbClr val="1B2B3A"/>
                          </a:solidFill>
                          <a:latin typeface="Calibri" pitchFamily="34" charset="0"/>
                          <a:ea typeface="Calibri" pitchFamily="34" charset="-122"/>
                          <a:cs typeface="Calibri" pitchFamily="34" charset="-120"/>
                        </a:rPr>
                        <a:t>180</a:t>
                      </a:r>
                      <a:endParaRPr lang="en-US" sz="1200" dirty="0">
                        <a:latin typeface="Calibri" charset="0"/>
                        <a:ea typeface="Calibri" charset="0"/>
                        <a:cs typeface="Calibri" charset="0"/>
                      </a:endParaRPr>
                    </a:p>
                  </a:txBody>
                  <a:tcPr marL="91440" marR="91440" marT="36576" marB="36576" anchor="ctr">
                    <a:lnL w="6350" cap="flat" cmpd="sng" algn="ctr">
                      <a:solidFill>
                        <a:srgbClr val="E1E8EF"/>
                      </a:solidFill>
                      <a:prstDash val="solid"/>
                      <a:round/>
                      <a:headEnd type="none" w="med" len="med"/>
                      <a:tailEnd type="none" w="med" len="med"/>
                    </a:lnL>
                    <a:lnR w="6350" cap="flat" cmpd="sng" algn="ctr">
                      <a:solidFill>
                        <a:srgbClr val="E1E8EF"/>
                      </a:solidFill>
                      <a:prstDash val="solid"/>
                      <a:round/>
                      <a:headEnd type="none" w="med" len="med"/>
                      <a:tailEnd type="none" w="med" len="med"/>
                    </a:lnR>
                    <a:lnT w="6350" cap="flat" cmpd="sng" algn="ctr">
                      <a:solidFill>
                        <a:srgbClr val="E1E8EF"/>
                      </a:solidFill>
                      <a:prstDash val="solid"/>
                      <a:round/>
                      <a:headEnd type="none" w="med" len="med"/>
                      <a:tailEnd type="none" w="med" len="med"/>
                    </a:lnT>
                    <a:lnB w="6350" cap="flat" cmpd="sng" algn="ctr">
                      <a:solidFill>
                        <a:srgbClr val="E1E8EF"/>
                      </a:solidFill>
                      <a:prstDash val="solid"/>
                      <a:round/>
                      <a:headEnd type="none" w="med" len="med"/>
                      <a:tailEnd type="none" w="med" len="med"/>
                    </a:lnB>
                    <a:solidFill>
                      <a:srgbClr val="FFFFFF"/>
                    </a:solidFill>
                  </a:tcPr>
                </a:tc>
                <a:tc>
                  <a:txBody>
                    <a:bodyPr/>
                    <a:lstStyle/>
                    <a:p>
                      <a:pPr indent="0" marL="0">
                        <a:buNone/>
                      </a:pPr>
                      <a:r>
                        <a:rPr lang="en-US" sz="1200" dirty="0">
                          <a:solidFill>
                            <a:srgbClr val="1B2B3A"/>
                          </a:solidFill>
                          <a:latin typeface="Calibri" pitchFamily="34" charset="0"/>
                          <a:ea typeface="Calibri" pitchFamily="34" charset="-122"/>
                          <a:cs typeface="Calibri" pitchFamily="34" charset="-120"/>
                        </a:rPr>
                        <a:t>164</a:t>
                      </a:r>
                      <a:endParaRPr lang="en-US" sz="1200" dirty="0">
                        <a:latin typeface="Calibri" charset="0"/>
                        <a:ea typeface="Calibri" charset="0"/>
                        <a:cs typeface="Calibri" charset="0"/>
                      </a:endParaRPr>
                    </a:p>
                  </a:txBody>
                  <a:tcPr marL="91440" marR="91440" marT="36576" marB="36576" anchor="ctr">
                    <a:lnL w="6350" cap="flat" cmpd="sng" algn="ctr">
                      <a:solidFill>
                        <a:srgbClr val="E1E8EF"/>
                      </a:solidFill>
                      <a:prstDash val="solid"/>
                      <a:round/>
                      <a:headEnd type="none" w="med" len="med"/>
                      <a:tailEnd type="none" w="med" len="med"/>
                    </a:lnL>
                    <a:lnR w="6350" cap="flat" cmpd="sng" algn="ctr">
                      <a:solidFill>
                        <a:srgbClr val="E1E8EF"/>
                      </a:solidFill>
                      <a:prstDash val="solid"/>
                      <a:round/>
                      <a:headEnd type="none" w="med" len="med"/>
                      <a:tailEnd type="none" w="med" len="med"/>
                    </a:lnR>
                    <a:lnT w="6350" cap="flat" cmpd="sng" algn="ctr">
                      <a:solidFill>
                        <a:srgbClr val="E1E8EF"/>
                      </a:solidFill>
                      <a:prstDash val="solid"/>
                      <a:round/>
                      <a:headEnd type="none" w="med" len="med"/>
                      <a:tailEnd type="none" w="med" len="med"/>
                    </a:lnT>
                    <a:lnB w="6350" cap="flat" cmpd="sng" algn="ctr">
                      <a:solidFill>
                        <a:srgbClr val="E1E8EF"/>
                      </a:solidFill>
                      <a:prstDash val="solid"/>
                      <a:round/>
                      <a:headEnd type="none" w="med" len="med"/>
                      <a:tailEnd type="none" w="med" len="med"/>
                    </a:lnB>
                    <a:solidFill>
                      <a:srgbClr val="FFFFFF"/>
                    </a:solidFill>
                  </a:tcPr>
                </a:tc>
              </a:tr>
              <a:tr h="347472">
                <a:tc>
                  <a:txBody>
                    <a:bodyPr/>
                    <a:lstStyle/>
                    <a:p>
                      <a:pPr indent="0" marL="0">
                        <a:buNone/>
                      </a:pPr>
                      <a:r>
                        <a:rPr lang="en-US" sz="1200" dirty="0">
                          <a:solidFill>
                            <a:srgbClr val="1B2B3A"/>
                          </a:solidFill>
                          <a:latin typeface="Calibri" pitchFamily="34" charset="0"/>
                          <a:ea typeface="Calibri" pitchFamily="34" charset="-122"/>
                          <a:cs typeface="Calibri" pitchFamily="34" charset="-120"/>
                        </a:rPr>
                        <a:t>Safe</a:t>
                      </a:r>
                      <a:endParaRPr lang="en-US" sz="1200" dirty="0">
                        <a:latin typeface="Calibri" charset="0"/>
                        <a:ea typeface="Calibri" charset="0"/>
                        <a:cs typeface="Calibri" charset="0"/>
                      </a:endParaRPr>
                    </a:p>
                  </a:txBody>
                  <a:tcPr marL="91440" marR="91440" marT="36576" marB="36576" anchor="ctr">
                    <a:lnL w="6350" cap="flat" cmpd="sng" algn="ctr">
                      <a:solidFill>
                        <a:srgbClr val="E1E8EF"/>
                      </a:solidFill>
                      <a:prstDash val="solid"/>
                      <a:round/>
                      <a:headEnd type="none" w="med" len="med"/>
                      <a:tailEnd type="none" w="med" len="med"/>
                    </a:lnL>
                    <a:lnR w="6350" cap="flat" cmpd="sng" algn="ctr">
                      <a:solidFill>
                        <a:srgbClr val="E1E8EF"/>
                      </a:solidFill>
                      <a:prstDash val="solid"/>
                      <a:round/>
                      <a:headEnd type="none" w="med" len="med"/>
                      <a:tailEnd type="none" w="med" len="med"/>
                    </a:lnR>
                    <a:lnT w="6350" cap="flat" cmpd="sng" algn="ctr">
                      <a:solidFill>
                        <a:srgbClr val="E1E8EF"/>
                      </a:solidFill>
                      <a:prstDash val="solid"/>
                      <a:round/>
                      <a:headEnd type="none" w="med" len="med"/>
                      <a:tailEnd type="none" w="med" len="med"/>
                    </a:lnT>
                    <a:lnB w="6350" cap="flat" cmpd="sng" algn="ctr">
                      <a:solidFill>
                        <a:srgbClr val="E1E8EF"/>
                      </a:solidFill>
                      <a:prstDash val="solid"/>
                      <a:round/>
                      <a:headEnd type="none" w="med" len="med"/>
                      <a:tailEnd type="none" w="med" len="med"/>
                    </a:lnB>
                    <a:solidFill>
                      <a:srgbClr val="EEF3F8"/>
                    </a:solidFill>
                  </a:tcPr>
                </a:tc>
                <a:tc>
                  <a:txBody>
                    <a:bodyPr/>
                    <a:lstStyle/>
                    <a:p>
                      <a:pPr indent="0" marL="0">
                        <a:buNone/>
                      </a:pPr>
                      <a:r>
                        <a:rPr lang="en-US" sz="1200" dirty="0">
                          <a:solidFill>
                            <a:srgbClr val="1B2B3A"/>
                          </a:solidFill>
                          <a:latin typeface="Calibri" pitchFamily="34" charset="0"/>
                          <a:ea typeface="Calibri" pitchFamily="34" charset="-122"/>
                          <a:cs typeface="Calibri" pitchFamily="34" charset="-120"/>
                        </a:rPr>
                        <a:t>180</a:t>
                      </a:r>
                      <a:endParaRPr lang="en-US" sz="1200" dirty="0">
                        <a:latin typeface="Calibri" charset="0"/>
                        <a:ea typeface="Calibri" charset="0"/>
                        <a:cs typeface="Calibri" charset="0"/>
                      </a:endParaRPr>
                    </a:p>
                  </a:txBody>
                  <a:tcPr marL="91440" marR="91440" marT="36576" marB="36576" anchor="ctr">
                    <a:lnL w="6350" cap="flat" cmpd="sng" algn="ctr">
                      <a:solidFill>
                        <a:srgbClr val="E1E8EF"/>
                      </a:solidFill>
                      <a:prstDash val="solid"/>
                      <a:round/>
                      <a:headEnd type="none" w="med" len="med"/>
                      <a:tailEnd type="none" w="med" len="med"/>
                    </a:lnL>
                    <a:lnR w="6350" cap="flat" cmpd="sng" algn="ctr">
                      <a:solidFill>
                        <a:srgbClr val="E1E8EF"/>
                      </a:solidFill>
                      <a:prstDash val="solid"/>
                      <a:round/>
                      <a:headEnd type="none" w="med" len="med"/>
                      <a:tailEnd type="none" w="med" len="med"/>
                    </a:lnR>
                    <a:lnT w="6350" cap="flat" cmpd="sng" algn="ctr">
                      <a:solidFill>
                        <a:srgbClr val="E1E8EF"/>
                      </a:solidFill>
                      <a:prstDash val="solid"/>
                      <a:round/>
                      <a:headEnd type="none" w="med" len="med"/>
                      <a:tailEnd type="none" w="med" len="med"/>
                    </a:lnT>
                    <a:lnB w="6350" cap="flat" cmpd="sng" algn="ctr">
                      <a:solidFill>
                        <a:srgbClr val="E1E8EF"/>
                      </a:solidFill>
                      <a:prstDash val="solid"/>
                      <a:round/>
                      <a:headEnd type="none" w="med" len="med"/>
                      <a:tailEnd type="none" w="med" len="med"/>
                    </a:lnB>
                    <a:solidFill>
                      <a:srgbClr val="EEF3F8"/>
                    </a:solidFill>
                  </a:tcPr>
                </a:tc>
                <a:tc>
                  <a:txBody>
                    <a:bodyPr/>
                    <a:lstStyle/>
                    <a:p>
                      <a:pPr indent="0" marL="0">
                        <a:buNone/>
                      </a:pPr>
                      <a:r>
                        <a:rPr lang="en-US" sz="1200" dirty="0">
                          <a:solidFill>
                            <a:srgbClr val="1B2B3A"/>
                          </a:solidFill>
                          <a:latin typeface="Calibri" pitchFamily="34" charset="0"/>
                          <a:ea typeface="Calibri" pitchFamily="34" charset="-122"/>
                          <a:cs typeface="Calibri" pitchFamily="34" charset="-120"/>
                        </a:rPr>
                        <a:t>106</a:t>
                      </a:r>
                      <a:endParaRPr lang="en-US" sz="1200" dirty="0">
                        <a:latin typeface="Calibri" charset="0"/>
                        <a:ea typeface="Calibri" charset="0"/>
                        <a:cs typeface="Calibri" charset="0"/>
                      </a:endParaRPr>
                    </a:p>
                  </a:txBody>
                  <a:tcPr marL="91440" marR="91440" marT="36576" marB="36576" anchor="ctr">
                    <a:lnL w="6350" cap="flat" cmpd="sng" algn="ctr">
                      <a:solidFill>
                        <a:srgbClr val="E1E8EF"/>
                      </a:solidFill>
                      <a:prstDash val="solid"/>
                      <a:round/>
                      <a:headEnd type="none" w="med" len="med"/>
                      <a:tailEnd type="none" w="med" len="med"/>
                    </a:lnL>
                    <a:lnR w="6350" cap="flat" cmpd="sng" algn="ctr">
                      <a:solidFill>
                        <a:srgbClr val="E1E8EF"/>
                      </a:solidFill>
                      <a:prstDash val="solid"/>
                      <a:round/>
                      <a:headEnd type="none" w="med" len="med"/>
                      <a:tailEnd type="none" w="med" len="med"/>
                    </a:lnR>
                    <a:lnT w="6350" cap="flat" cmpd="sng" algn="ctr">
                      <a:solidFill>
                        <a:srgbClr val="E1E8EF"/>
                      </a:solidFill>
                      <a:prstDash val="solid"/>
                      <a:round/>
                      <a:headEnd type="none" w="med" len="med"/>
                      <a:tailEnd type="none" w="med" len="med"/>
                    </a:lnT>
                    <a:lnB w="6350" cap="flat" cmpd="sng" algn="ctr">
                      <a:solidFill>
                        <a:srgbClr val="E1E8EF"/>
                      </a:solidFill>
                      <a:prstDash val="solid"/>
                      <a:round/>
                      <a:headEnd type="none" w="med" len="med"/>
                      <a:tailEnd type="none" w="med" len="med"/>
                    </a:lnB>
                    <a:solidFill>
                      <a:srgbClr val="EEF3F8"/>
                    </a:solidFill>
                  </a:tcPr>
                </a:tc>
              </a:tr>
              <a:tr h="347472">
                <a:tc>
                  <a:txBody>
                    <a:bodyPr/>
                    <a:lstStyle/>
                    <a:p>
                      <a:pPr indent="0" marL="0">
                        <a:buNone/>
                      </a:pPr>
                      <a:r>
                        <a:rPr lang="en-US" sz="1200" dirty="0">
                          <a:solidFill>
                            <a:srgbClr val="1B2B3A"/>
                          </a:solidFill>
                          <a:latin typeface="Calibri" pitchFamily="34" charset="0"/>
                          <a:ea typeface="Calibri" pitchFamily="34" charset="-122"/>
                          <a:cs typeface="Calibri" pitchFamily="34" charset="-120"/>
                        </a:rPr>
                        <a:t>Total</a:t>
                      </a:r>
                      <a:endParaRPr lang="en-US" sz="1200" dirty="0">
                        <a:latin typeface="Calibri" charset="0"/>
                        <a:ea typeface="Calibri" charset="0"/>
                        <a:cs typeface="Calibri" charset="0"/>
                      </a:endParaRPr>
                    </a:p>
                  </a:txBody>
                  <a:tcPr marL="91440" marR="91440" marT="36576" marB="36576" anchor="ctr">
                    <a:lnL w="6350" cap="flat" cmpd="sng" algn="ctr">
                      <a:solidFill>
                        <a:srgbClr val="E1E8EF"/>
                      </a:solidFill>
                      <a:prstDash val="solid"/>
                      <a:round/>
                      <a:headEnd type="none" w="med" len="med"/>
                      <a:tailEnd type="none" w="med" len="med"/>
                    </a:lnL>
                    <a:lnR w="6350" cap="flat" cmpd="sng" algn="ctr">
                      <a:solidFill>
                        <a:srgbClr val="E1E8EF"/>
                      </a:solidFill>
                      <a:prstDash val="solid"/>
                      <a:round/>
                      <a:headEnd type="none" w="med" len="med"/>
                      <a:tailEnd type="none" w="med" len="med"/>
                    </a:lnR>
                    <a:lnT w="6350" cap="flat" cmpd="sng" algn="ctr">
                      <a:solidFill>
                        <a:srgbClr val="E1E8EF"/>
                      </a:solidFill>
                      <a:prstDash val="solid"/>
                      <a:round/>
                      <a:headEnd type="none" w="med" len="med"/>
                      <a:tailEnd type="none" w="med" len="med"/>
                    </a:lnT>
                    <a:lnB w="6350" cap="flat" cmpd="sng" algn="ctr">
                      <a:solidFill>
                        <a:srgbClr val="E1E8EF"/>
                      </a:solidFill>
                      <a:prstDash val="solid"/>
                      <a:round/>
                      <a:headEnd type="none" w="med" len="med"/>
                      <a:tailEnd type="none" w="med" len="med"/>
                    </a:lnB>
                    <a:solidFill>
                      <a:srgbClr val="FFFFFF"/>
                    </a:solidFill>
                  </a:tcPr>
                </a:tc>
                <a:tc>
                  <a:txBody>
                    <a:bodyPr/>
                    <a:lstStyle/>
                    <a:p>
                      <a:pPr indent="0" marL="0">
                        <a:buNone/>
                      </a:pPr>
                      <a:r>
                        <a:rPr lang="en-US" sz="1200" dirty="0">
                          <a:solidFill>
                            <a:srgbClr val="1B2B3A"/>
                          </a:solidFill>
                          <a:latin typeface="Calibri" pitchFamily="34" charset="0"/>
                          <a:ea typeface="Calibri" pitchFamily="34" charset="-122"/>
                          <a:cs typeface="Calibri" pitchFamily="34" charset="-120"/>
                        </a:rPr>
                        <a:t>360</a:t>
                      </a:r>
                      <a:endParaRPr lang="en-US" sz="1200" dirty="0">
                        <a:latin typeface="Calibri" charset="0"/>
                        <a:ea typeface="Calibri" charset="0"/>
                        <a:cs typeface="Calibri" charset="0"/>
                      </a:endParaRPr>
                    </a:p>
                  </a:txBody>
                  <a:tcPr marL="91440" marR="91440" marT="36576" marB="36576" anchor="ctr">
                    <a:lnL w="6350" cap="flat" cmpd="sng" algn="ctr">
                      <a:solidFill>
                        <a:srgbClr val="E1E8EF"/>
                      </a:solidFill>
                      <a:prstDash val="solid"/>
                      <a:round/>
                      <a:headEnd type="none" w="med" len="med"/>
                      <a:tailEnd type="none" w="med" len="med"/>
                    </a:lnL>
                    <a:lnR w="6350" cap="flat" cmpd="sng" algn="ctr">
                      <a:solidFill>
                        <a:srgbClr val="E1E8EF"/>
                      </a:solidFill>
                      <a:prstDash val="solid"/>
                      <a:round/>
                      <a:headEnd type="none" w="med" len="med"/>
                      <a:tailEnd type="none" w="med" len="med"/>
                    </a:lnR>
                    <a:lnT w="6350" cap="flat" cmpd="sng" algn="ctr">
                      <a:solidFill>
                        <a:srgbClr val="E1E8EF"/>
                      </a:solidFill>
                      <a:prstDash val="solid"/>
                      <a:round/>
                      <a:headEnd type="none" w="med" len="med"/>
                      <a:tailEnd type="none" w="med" len="med"/>
                    </a:lnT>
                    <a:lnB w="6350" cap="flat" cmpd="sng" algn="ctr">
                      <a:solidFill>
                        <a:srgbClr val="E1E8EF"/>
                      </a:solidFill>
                      <a:prstDash val="solid"/>
                      <a:round/>
                      <a:headEnd type="none" w="med" len="med"/>
                      <a:tailEnd type="none" w="med" len="med"/>
                    </a:lnB>
                    <a:solidFill>
                      <a:srgbClr val="FFFFFF"/>
                    </a:solidFill>
                  </a:tcPr>
                </a:tc>
                <a:tc>
                  <a:txBody>
                    <a:bodyPr/>
                    <a:lstStyle/>
                    <a:p>
                      <a:pPr indent="0" marL="0">
                        <a:buNone/>
                      </a:pPr>
                      <a:r>
                        <a:rPr lang="en-US" sz="1200" dirty="0">
                          <a:solidFill>
                            <a:srgbClr val="1B2B3A"/>
                          </a:solidFill>
                          <a:latin typeface="Calibri" pitchFamily="34" charset="0"/>
                          <a:ea typeface="Calibri" pitchFamily="34" charset="-122"/>
                          <a:cs typeface="Calibri" pitchFamily="34" charset="-120"/>
                        </a:rPr>
                        <a:t>270</a:t>
                      </a:r>
                      <a:endParaRPr lang="en-US" sz="1200" dirty="0">
                        <a:latin typeface="Calibri" charset="0"/>
                        <a:ea typeface="Calibri" charset="0"/>
                        <a:cs typeface="Calibri" charset="0"/>
                      </a:endParaRPr>
                    </a:p>
                  </a:txBody>
                  <a:tcPr marL="91440" marR="91440" marT="36576" marB="36576" anchor="ctr">
                    <a:lnL w="6350" cap="flat" cmpd="sng" algn="ctr">
                      <a:solidFill>
                        <a:srgbClr val="E1E8EF"/>
                      </a:solidFill>
                      <a:prstDash val="solid"/>
                      <a:round/>
                      <a:headEnd type="none" w="med" len="med"/>
                      <a:tailEnd type="none" w="med" len="med"/>
                    </a:lnL>
                    <a:lnR w="6350" cap="flat" cmpd="sng" algn="ctr">
                      <a:solidFill>
                        <a:srgbClr val="E1E8EF"/>
                      </a:solidFill>
                      <a:prstDash val="solid"/>
                      <a:round/>
                      <a:headEnd type="none" w="med" len="med"/>
                      <a:tailEnd type="none" w="med" len="med"/>
                    </a:lnR>
                    <a:lnT w="6350" cap="flat" cmpd="sng" algn="ctr">
                      <a:solidFill>
                        <a:srgbClr val="E1E8EF"/>
                      </a:solidFill>
                      <a:prstDash val="solid"/>
                      <a:round/>
                      <a:headEnd type="none" w="med" len="med"/>
                      <a:tailEnd type="none" w="med" len="med"/>
                    </a:lnT>
                    <a:lnB w="6350" cap="flat" cmpd="sng" algn="ctr">
                      <a:solidFill>
                        <a:srgbClr val="E1E8EF"/>
                      </a:solidFill>
                      <a:prstDash val="solid"/>
                      <a:round/>
                      <a:headEnd type="none" w="med" len="med"/>
                      <a:tailEnd type="none" w="med" len="med"/>
                    </a:lnB>
                    <a:solidFill>
                      <a:srgbClr val="FFFFFF"/>
                    </a:solidFill>
                  </a:tcPr>
                </a:tc>
              </a:tr>
            </a:tbl>
          </a:graphicData>
        </a:graphic>
      </p:graphicFrame>
      <p:sp>
        <p:nvSpPr>
          <p:cNvPr id="16" name="Shape 12"/>
          <p:cNvSpPr/>
          <p:nvPr/>
        </p:nvSpPr>
        <p:spPr>
          <a:xfrm>
            <a:off x="4663440" y="2697480"/>
            <a:ext cx="3931920" cy="1920240"/>
          </a:xfrm>
          <a:prstGeom prst="roundRect">
            <a:avLst>
              <a:gd name="adj" fmla="val 5714"/>
            </a:avLst>
          </a:prstGeom>
          <a:solidFill>
            <a:srgbClr val="FFFFFF"/>
          </a:solidFill>
          <a:ln w="9525">
            <a:solidFill>
              <a:srgbClr val="E1E8EF"/>
            </a:solidFill>
            <a:prstDash val="solid"/>
          </a:ln>
          <a:effectLst>
            <a:outerShdw sx="100000" sy="100000" kx="0" ky="0" algn="bl" rotWithShape="0" blurRad="101600" dist="25400" dir="5400000">
              <a:srgbClr val="000000">
                <a:alpha val="12000"/>
              </a:srgbClr>
            </a:outerShdw>
          </a:effectLst>
        </p:spPr>
      </p:sp>
      <p:sp>
        <p:nvSpPr>
          <p:cNvPr id="17" name="Text 13"/>
          <p:cNvSpPr txBox="1"/>
          <p:nvPr/>
        </p:nvSpPr>
        <p:spPr>
          <a:xfrm>
            <a:off x="4846320" y="2788920"/>
            <a:ext cx="3566160" cy="320040"/>
          </a:xfrm>
          <a:prstGeom prst="rect">
            <a:avLst/>
          </a:prstGeom>
          <a:noFill/>
          <a:ln/>
        </p:spPr>
        <p:txBody>
          <a:bodyPr wrap="square" lIns="0" tIns="0" rIns="0" bIns="0" rtlCol="0" anchor="ctr"/>
          <a:lstStyle/>
          <a:p>
            <a:pPr indent="0" marL="0">
              <a:buNone/>
            </a:pPr>
            <a:r>
              <a:rPr lang="en-US" sz="1500" b="1" dirty="0">
                <a:solidFill>
                  <a:srgbClr val="1B2B3A"/>
                </a:solidFill>
                <a:latin typeface="Calibri" pitchFamily="34" charset="0"/>
                <a:ea typeface="Calibri" pitchFamily="34" charset="-122"/>
                <a:cs typeface="Calibri" pitchFamily="34" charset="-120"/>
              </a:rPr>
              <a:t>How the emails are built</a:t>
            </a:r>
            <a:endParaRPr lang="en-US" sz="1500" dirty="0"/>
          </a:p>
        </p:txBody>
      </p:sp>
      <p:sp>
        <p:nvSpPr>
          <p:cNvPr id="18" name="Text 14"/>
          <p:cNvSpPr txBox="1"/>
          <p:nvPr/>
        </p:nvSpPr>
        <p:spPr>
          <a:xfrm>
            <a:off x="4846320" y="3154680"/>
            <a:ext cx="3566160" cy="141732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B2B3A"/>
                </a:solidFill>
                <a:latin typeface="Calibri" pitchFamily="34" charset="0"/>
                <a:ea typeface="Calibri" pitchFamily="34" charset="-122"/>
                <a:cs typeface="Calibri" pitchFamily="34" charset="-120"/>
              </a:rPr>
              <a:t>Phishing: 10 subjects, 10 bodies, 8 links incl. look-alike domains and a raw IP address</a:t>
            </a:r>
            <a:endParaRPr lang="en-US" sz="1200" dirty="0"/>
          </a:p>
          <a:p>
            <a:pPr marL="342900" indent="-342900">
              <a:spcAft>
                <a:spcPts val="600"/>
              </a:spcAft>
              <a:buSzPct val="100000"/>
              <a:buChar char="•"/>
            </a:pPr>
            <a:r>
              <a:rPr lang="en-US" sz="1200" dirty="0">
                <a:solidFill>
                  <a:srgbClr val="1B2B3A"/>
                </a:solidFill>
                <a:latin typeface="Calibri" pitchFamily="34" charset="0"/>
                <a:ea typeface="Calibri" pitchFamily="34" charset="-122"/>
                <a:cs typeface="Calibri" pitchFamily="34" charset="-120"/>
              </a:rPr>
              <a:t>Safe: 10 subjects, 15 everyday bodies (meeting notes, invoices, flights)</a:t>
            </a:r>
            <a:endParaRPr lang="en-US" sz="1200" dirty="0"/>
          </a:p>
          <a:p>
            <a:pPr marL="342900" indent="-342900">
              <a:spcAft>
                <a:spcPts val="600"/>
              </a:spcAft>
              <a:buSzPct val="100000"/>
              <a:buChar char="•"/>
            </a:pPr>
            <a:r>
              <a:rPr lang="en-US" sz="1200" dirty="0">
                <a:solidFill>
                  <a:srgbClr val="1B2B3A"/>
                </a:solidFill>
                <a:latin typeface="Calibri" pitchFamily="34" charset="0"/>
                <a:ea typeface="Calibri" pitchFamily="34" charset="-122"/>
                <a:cs typeface="Calibri" pitchFamily="34" charset="-120"/>
              </a:rPr>
              <a:t>Rows shuffled with fixed seed 42</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6FA"/>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640080"/>
          </a:xfrm>
          <a:prstGeom prst="rect">
            <a:avLst/>
          </a:prstGeom>
          <a:noFill/>
          <a:ln/>
        </p:spPr>
        <p:txBody>
          <a:bodyPr wrap="square" lIns="0" tIns="0" rIns="0" bIns="0" rtlCol="0" anchor="ctr"/>
          <a:lstStyle/>
          <a:p>
            <a:pPr indent="0" marL="0">
              <a:buNone/>
            </a:pPr>
            <a:r>
              <a:rPr lang="en-US" sz="3200" b="1" dirty="0">
                <a:solidFill>
                  <a:srgbClr val="1B2B3A"/>
                </a:solidFill>
                <a:latin typeface="Cambria" pitchFamily="34" charset="0"/>
                <a:ea typeface="Cambria" pitchFamily="34" charset="-122"/>
                <a:cs typeface="Cambria" pitchFamily="34" charset="-120"/>
              </a:rPr>
              <a:t>System architecture</a:t>
            </a:r>
            <a:endParaRPr lang="en-US" sz="3200" dirty="0"/>
          </a:p>
        </p:txBody>
      </p:sp>
      <p:sp>
        <p:nvSpPr>
          <p:cNvPr id="3" name="Text 1"/>
          <p:cNvSpPr txBox="1"/>
          <p:nvPr/>
        </p:nvSpPr>
        <p:spPr>
          <a:xfrm>
            <a:off x="548640" y="4846320"/>
            <a:ext cx="6400800" cy="201168"/>
          </a:xfrm>
          <a:prstGeom prst="rect">
            <a:avLst/>
          </a:prstGeom>
          <a:noFill/>
          <a:ln/>
        </p:spPr>
        <p:txBody>
          <a:bodyPr wrap="square" lIns="0" tIns="0" rIns="0" bIns="0" rtlCol="0" anchor="ctr"/>
          <a:lstStyle/>
          <a:p>
            <a:pPr indent="0" marL="0">
              <a:buNone/>
            </a:pPr>
            <a:r>
              <a:rPr lang="en-US" sz="900" dirty="0">
                <a:solidFill>
                  <a:srgbClr val="5B6B7B"/>
                </a:solidFill>
                <a:latin typeface="Calibri" pitchFamily="34" charset="0"/>
                <a:ea typeface="Calibri" pitchFamily="34" charset="-122"/>
                <a:cs typeface="Calibri" pitchFamily="34" charset="-120"/>
              </a:rPr>
              <a:t>Phishing Detection System  |  Aman Kumar Gautam  |  CS-2341642</a:t>
            </a:r>
            <a:endParaRPr lang="en-US" sz="900" dirty="0"/>
          </a:p>
        </p:txBody>
      </p:sp>
      <p:sp>
        <p:nvSpPr>
          <p:cNvPr id="4" name="Text 2"/>
          <p:cNvSpPr txBox="1"/>
          <p:nvPr/>
        </p:nvSpPr>
        <p:spPr>
          <a:xfrm>
            <a:off x="8138160" y="4846320"/>
            <a:ext cx="457200" cy="201168"/>
          </a:xfrm>
          <a:prstGeom prst="rect">
            <a:avLst/>
          </a:prstGeom>
          <a:noFill/>
          <a:ln/>
        </p:spPr>
        <p:txBody>
          <a:bodyPr wrap="square" lIns="0" tIns="0" rIns="0" bIns="0"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5</a:t>
            </a:r>
            <a:endParaRPr lang="en-US" sz="900" dirty="0"/>
          </a:p>
        </p:txBody>
      </p:sp>
      <p:sp>
        <p:nvSpPr>
          <p:cNvPr id="6" name="Shape 3"/>
          <p:cNvSpPr/>
          <p:nvPr/>
        </p:nvSpPr>
        <p:spPr>
          <a:xfrm>
            <a:off x="525780" y="1280160"/>
            <a:ext cx="1783080" cy="1417320"/>
          </a:xfrm>
          <a:prstGeom prst="roundRect">
            <a:avLst>
              <a:gd name="adj" fmla="val 7742"/>
            </a:avLst>
          </a:prstGeom>
          <a:solidFill>
            <a:srgbClr val="0F2A47"/>
          </a:solidFill>
          <a:ln w="12700">
            <a:solidFill>
              <a:srgbClr val="0F2A47"/>
            </a:solidFill>
            <a:prstDash val="solid"/>
          </a:ln>
          <a:effectLst>
            <a:outerShdw sx="100000" sy="100000" kx="0" ky="0" algn="bl" rotWithShape="0" blurRad="101600" dist="25400" dir="5400000">
              <a:srgbClr val="000000">
                <a:alpha val="12000"/>
              </a:srgbClr>
            </a:outerShdw>
          </a:effectLst>
        </p:spPr>
      </p:sp>
      <p:sp>
        <p:nvSpPr>
          <p:cNvPr id="7" name="Shape 4"/>
          <p:cNvSpPr/>
          <p:nvPr/>
        </p:nvSpPr>
        <p:spPr>
          <a:xfrm>
            <a:off x="1143000" y="1417320"/>
            <a:ext cx="548640" cy="548640"/>
          </a:xfrm>
          <a:prstGeom prst="ellipse">
            <a:avLst/>
          </a:prstGeom>
          <a:solidFill>
            <a:srgbClr val="1B3F63"/>
          </a:solidFill>
          <a:ln w="12700">
            <a:solidFill>
              <a:srgbClr val="1B3F63"/>
            </a:solidFill>
            <a:prstDash val="solid"/>
          </a:ln>
        </p:spPr>
      </p:sp>
      <p:pic>
        <p:nvPicPr>
          <p:cNvPr id="8" name="Image 0" descr="preencoded.png">    </p:cNvPr>
          <p:cNvPicPr>
            <a:picLocks noChangeAspect="1"/>
          </p:cNvPicPr>
          <p:nvPr/>
        </p:nvPicPr>
        <p:blipFill>
          <a:blip r:embed="rId1"/>
          <a:stretch>
            <a:fillRect/>
          </a:stretch>
        </p:blipFill>
        <p:spPr>
          <a:xfrm>
            <a:off x="1280160" y="1554480"/>
            <a:ext cx="274320" cy="274320"/>
          </a:xfrm>
          <a:prstGeom prst="rect">
            <a:avLst/>
          </a:prstGeom>
        </p:spPr>
      </p:pic>
      <p:sp>
        <p:nvSpPr>
          <p:cNvPr id="9" name="Text 5"/>
          <p:cNvSpPr txBox="1"/>
          <p:nvPr/>
        </p:nvSpPr>
        <p:spPr>
          <a:xfrm>
            <a:off x="525780" y="2057400"/>
            <a:ext cx="178308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Raw email</a:t>
            </a:r>
            <a:endParaRPr lang="en-US" sz="1400" dirty="0"/>
          </a:p>
        </p:txBody>
      </p:sp>
      <p:sp>
        <p:nvSpPr>
          <p:cNvPr id="10" name="Text 6"/>
          <p:cNvSpPr txBox="1"/>
          <p:nvPr/>
        </p:nvSpPr>
        <p:spPr>
          <a:xfrm>
            <a:off x="617220" y="2377440"/>
            <a:ext cx="1600200" cy="274320"/>
          </a:xfrm>
          <a:prstGeom prst="rect">
            <a:avLst/>
          </a:prstGeom>
          <a:noFill/>
          <a:ln/>
        </p:spPr>
        <p:txBody>
          <a:bodyPr wrap="square" lIns="0" tIns="0" rIns="0" bIns="0" rtlCol="0" anchor="t"/>
          <a:lstStyle/>
          <a:p>
            <a:pPr algn="ctr" indent="0" marL="0">
              <a:buNone/>
            </a:pPr>
            <a:r>
              <a:rPr lang="en-US" sz="1100" dirty="0">
                <a:solidFill>
                  <a:srgbClr val="B8C7D6"/>
                </a:solidFill>
                <a:latin typeface="Calibri" pitchFamily="34" charset="0"/>
                <a:ea typeface="Calibri" pitchFamily="34" charset="-122"/>
                <a:cs typeface="Calibri" pitchFamily="34" charset="-120"/>
              </a:rPr>
              <a:t>Subject and body text</a:t>
            </a:r>
            <a:endParaRPr lang="en-US" sz="1100" dirty="0"/>
          </a:p>
        </p:txBody>
      </p:sp>
      <p:sp>
        <p:nvSpPr>
          <p:cNvPr id="11" name="Shape 7"/>
          <p:cNvSpPr/>
          <p:nvPr/>
        </p:nvSpPr>
        <p:spPr>
          <a:xfrm>
            <a:off x="2354580" y="1874520"/>
            <a:ext cx="246888" cy="274320"/>
          </a:xfrm>
          <a:prstGeom prst="rightArrow">
            <a:avLst/>
          </a:prstGeom>
          <a:solidFill>
            <a:srgbClr val="5B6B7B"/>
          </a:solidFill>
          <a:ln w="12700">
            <a:solidFill>
              <a:srgbClr val="5B6B7B"/>
            </a:solidFill>
            <a:prstDash val="solid"/>
          </a:ln>
        </p:spPr>
      </p:sp>
      <p:sp>
        <p:nvSpPr>
          <p:cNvPr id="12" name="Shape 8"/>
          <p:cNvSpPr/>
          <p:nvPr/>
        </p:nvSpPr>
        <p:spPr>
          <a:xfrm>
            <a:off x="2628900" y="1280160"/>
            <a:ext cx="1783080" cy="1417320"/>
          </a:xfrm>
          <a:prstGeom prst="roundRect">
            <a:avLst>
              <a:gd name="adj" fmla="val 7742"/>
            </a:avLst>
          </a:prstGeom>
          <a:solidFill>
            <a:srgbClr val="0F2A47"/>
          </a:solidFill>
          <a:ln w="12700">
            <a:solidFill>
              <a:srgbClr val="0F2A47"/>
            </a:solidFill>
            <a:prstDash val="solid"/>
          </a:ln>
          <a:effectLst>
            <a:outerShdw sx="100000" sy="100000" kx="0" ky="0" algn="bl" rotWithShape="0" blurRad="101600" dist="25400" dir="5400000">
              <a:srgbClr val="000000">
                <a:alpha val="12000"/>
              </a:srgbClr>
            </a:outerShdw>
          </a:effectLst>
        </p:spPr>
      </p:sp>
      <p:sp>
        <p:nvSpPr>
          <p:cNvPr id="13" name="Shape 9"/>
          <p:cNvSpPr/>
          <p:nvPr/>
        </p:nvSpPr>
        <p:spPr>
          <a:xfrm>
            <a:off x="3246120" y="1417320"/>
            <a:ext cx="548640" cy="548640"/>
          </a:xfrm>
          <a:prstGeom prst="ellipse">
            <a:avLst/>
          </a:prstGeom>
          <a:solidFill>
            <a:srgbClr val="1B3F63"/>
          </a:solidFill>
          <a:ln w="12700">
            <a:solidFill>
              <a:srgbClr val="1B3F63"/>
            </a:solidFill>
            <a:prstDash val="solid"/>
          </a:ln>
        </p:spPr>
      </p:sp>
      <p:pic>
        <p:nvPicPr>
          <p:cNvPr id="14" name="Image 1" descr="preencoded.png">    </p:cNvPr>
          <p:cNvPicPr>
            <a:picLocks noChangeAspect="1"/>
          </p:cNvPicPr>
          <p:nvPr/>
        </p:nvPicPr>
        <p:blipFill>
          <a:blip r:embed="rId2"/>
          <a:stretch>
            <a:fillRect/>
          </a:stretch>
        </p:blipFill>
        <p:spPr>
          <a:xfrm>
            <a:off x="3383280" y="1554480"/>
            <a:ext cx="274320" cy="274320"/>
          </a:xfrm>
          <a:prstGeom prst="rect">
            <a:avLst/>
          </a:prstGeom>
        </p:spPr>
      </p:pic>
      <p:sp>
        <p:nvSpPr>
          <p:cNvPr id="15" name="Text 10"/>
          <p:cNvSpPr txBox="1"/>
          <p:nvPr/>
        </p:nvSpPr>
        <p:spPr>
          <a:xfrm>
            <a:off x="2628900" y="2057400"/>
            <a:ext cx="178308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Feature extraction</a:t>
            </a:r>
            <a:endParaRPr lang="en-US" sz="1400" dirty="0"/>
          </a:p>
        </p:txBody>
      </p:sp>
      <p:sp>
        <p:nvSpPr>
          <p:cNvPr id="16" name="Text 11"/>
          <p:cNvSpPr txBox="1"/>
          <p:nvPr/>
        </p:nvSpPr>
        <p:spPr>
          <a:xfrm>
            <a:off x="2720340" y="2377440"/>
            <a:ext cx="1600200" cy="274320"/>
          </a:xfrm>
          <a:prstGeom prst="rect">
            <a:avLst/>
          </a:prstGeom>
          <a:noFill/>
          <a:ln/>
        </p:spPr>
        <p:txBody>
          <a:bodyPr wrap="square" lIns="0" tIns="0" rIns="0" bIns="0" rtlCol="0" anchor="t"/>
          <a:lstStyle/>
          <a:p>
            <a:pPr algn="ctr" indent="0" marL="0">
              <a:buNone/>
            </a:pPr>
            <a:r>
              <a:rPr lang="en-US" sz="1100" dirty="0">
                <a:solidFill>
                  <a:srgbClr val="B8C7D6"/>
                </a:solidFill>
                <a:latin typeface="Calibri" pitchFamily="34" charset="0"/>
                <a:ea typeface="Calibri" pitchFamily="34" charset="-122"/>
                <a:cs typeface="Calibri" pitchFamily="34" charset="-120"/>
              </a:rPr>
              <a:t>TF-IDF plus red-flag signals</a:t>
            </a:r>
            <a:endParaRPr lang="en-US" sz="1100" dirty="0"/>
          </a:p>
        </p:txBody>
      </p:sp>
      <p:sp>
        <p:nvSpPr>
          <p:cNvPr id="17" name="Shape 12"/>
          <p:cNvSpPr/>
          <p:nvPr/>
        </p:nvSpPr>
        <p:spPr>
          <a:xfrm>
            <a:off x="4457700" y="1874520"/>
            <a:ext cx="246888" cy="274320"/>
          </a:xfrm>
          <a:prstGeom prst="rightArrow">
            <a:avLst/>
          </a:prstGeom>
          <a:solidFill>
            <a:srgbClr val="5B6B7B"/>
          </a:solidFill>
          <a:ln w="12700">
            <a:solidFill>
              <a:srgbClr val="5B6B7B"/>
            </a:solidFill>
            <a:prstDash val="solid"/>
          </a:ln>
        </p:spPr>
      </p:sp>
      <p:sp>
        <p:nvSpPr>
          <p:cNvPr id="18" name="Shape 13"/>
          <p:cNvSpPr/>
          <p:nvPr/>
        </p:nvSpPr>
        <p:spPr>
          <a:xfrm>
            <a:off x="4732020" y="1280160"/>
            <a:ext cx="1783080" cy="1417320"/>
          </a:xfrm>
          <a:prstGeom prst="roundRect">
            <a:avLst>
              <a:gd name="adj" fmla="val 7742"/>
            </a:avLst>
          </a:prstGeom>
          <a:solidFill>
            <a:srgbClr val="0F2A47"/>
          </a:solidFill>
          <a:ln w="12700">
            <a:solidFill>
              <a:srgbClr val="0F2A47"/>
            </a:solidFill>
            <a:prstDash val="solid"/>
          </a:ln>
          <a:effectLst>
            <a:outerShdw sx="100000" sy="100000" kx="0" ky="0" algn="bl" rotWithShape="0" blurRad="101600" dist="25400" dir="5400000">
              <a:srgbClr val="000000">
                <a:alpha val="12000"/>
              </a:srgbClr>
            </a:outerShdw>
          </a:effectLst>
        </p:spPr>
      </p:sp>
      <p:sp>
        <p:nvSpPr>
          <p:cNvPr id="19" name="Shape 14"/>
          <p:cNvSpPr/>
          <p:nvPr/>
        </p:nvSpPr>
        <p:spPr>
          <a:xfrm>
            <a:off x="5349240" y="1417320"/>
            <a:ext cx="548640" cy="548640"/>
          </a:xfrm>
          <a:prstGeom prst="ellipse">
            <a:avLst/>
          </a:prstGeom>
          <a:solidFill>
            <a:srgbClr val="1B3F63"/>
          </a:solidFill>
          <a:ln w="12700">
            <a:solidFill>
              <a:srgbClr val="1B3F63"/>
            </a:solidFill>
            <a:prstDash val="solid"/>
          </a:ln>
        </p:spPr>
      </p:sp>
      <p:pic>
        <p:nvPicPr>
          <p:cNvPr id="20" name="Image 2" descr="preencoded.png">    </p:cNvPr>
          <p:cNvPicPr>
            <a:picLocks noChangeAspect="1"/>
          </p:cNvPicPr>
          <p:nvPr/>
        </p:nvPicPr>
        <p:blipFill>
          <a:blip r:embed="rId3"/>
          <a:stretch>
            <a:fillRect/>
          </a:stretch>
        </p:blipFill>
        <p:spPr>
          <a:xfrm>
            <a:off x="5486400" y="1554480"/>
            <a:ext cx="274320" cy="274320"/>
          </a:xfrm>
          <a:prstGeom prst="rect">
            <a:avLst/>
          </a:prstGeom>
        </p:spPr>
      </p:pic>
      <p:sp>
        <p:nvSpPr>
          <p:cNvPr id="21" name="Text 15"/>
          <p:cNvSpPr txBox="1"/>
          <p:nvPr/>
        </p:nvSpPr>
        <p:spPr>
          <a:xfrm>
            <a:off x="4732020" y="2057400"/>
            <a:ext cx="178308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Random Forest</a:t>
            </a:r>
            <a:endParaRPr lang="en-US" sz="1400" dirty="0"/>
          </a:p>
        </p:txBody>
      </p:sp>
      <p:sp>
        <p:nvSpPr>
          <p:cNvPr id="22" name="Text 16"/>
          <p:cNvSpPr txBox="1"/>
          <p:nvPr/>
        </p:nvSpPr>
        <p:spPr>
          <a:xfrm>
            <a:off x="4823460" y="2377440"/>
            <a:ext cx="1600200" cy="274320"/>
          </a:xfrm>
          <a:prstGeom prst="rect">
            <a:avLst/>
          </a:prstGeom>
          <a:noFill/>
          <a:ln/>
        </p:spPr>
        <p:txBody>
          <a:bodyPr wrap="square" lIns="0" tIns="0" rIns="0" bIns="0" rtlCol="0" anchor="t"/>
          <a:lstStyle/>
          <a:p>
            <a:pPr algn="ctr" indent="0" marL="0">
              <a:buNone/>
            </a:pPr>
            <a:r>
              <a:rPr lang="en-US" sz="1100" dirty="0">
                <a:solidFill>
                  <a:srgbClr val="B8C7D6"/>
                </a:solidFill>
                <a:latin typeface="Calibri" pitchFamily="34" charset="0"/>
                <a:ea typeface="Calibri" pitchFamily="34" charset="-122"/>
                <a:cs typeface="Calibri" pitchFamily="34" charset="-120"/>
              </a:rPr>
              <a:t>300 trees vote on the label</a:t>
            </a:r>
            <a:endParaRPr lang="en-US" sz="1100" dirty="0"/>
          </a:p>
        </p:txBody>
      </p:sp>
      <p:sp>
        <p:nvSpPr>
          <p:cNvPr id="23" name="Shape 17"/>
          <p:cNvSpPr/>
          <p:nvPr/>
        </p:nvSpPr>
        <p:spPr>
          <a:xfrm>
            <a:off x="6560820" y="1874520"/>
            <a:ext cx="246888" cy="274320"/>
          </a:xfrm>
          <a:prstGeom prst="rightArrow">
            <a:avLst/>
          </a:prstGeom>
          <a:solidFill>
            <a:srgbClr val="5B6B7B"/>
          </a:solidFill>
          <a:ln w="12700">
            <a:solidFill>
              <a:srgbClr val="5B6B7B"/>
            </a:solidFill>
            <a:prstDash val="solid"/>
          </a:ln>
        </p:spPr>
      </p:sp>
      <p:sp>
        <p:nvSpPr>
          <p:cNvPr id="24" name="Shape 18"/>
          <p:cNvSpPr/>
          <p:nvPr/>
        </p:nvSpPr>
        <p:spPr>
          <a:xfrm>
            <a:off x="6835140" y="1280160"/>
            <a:ext cx="1783080" cy="1417320"/>
          </a:xfrm>
          <a:prstGeom prst="roundRect">
            <a:avLst>
              <a:gd name="adj" fmla="val 7742"/>
            </a:avLst>
          </a:prstGeom>
          <a:solidFill>
            <a:srgbClr val="00A896"/>
          </a:solidFill>
          <a:ln w="12700">
            <a:solidFill>
              <a:srgbClr val="00A896"/>
            </a:solidFill>
            <a:prstDash val="solid"/>
          </a:ln>
          <a:effectLst>
            <a:outerShdw sx="100000" sy="100000" kx="0" ky="0" algn="bl" rotWithShape="0" blurRad="101600" dist="25400" dir="5400000">
              <a:srgbClr val="000000">
                <a:alpha val="12000"/>
              </a:srgbClr>
            </a:outerShdw>
          </a:effectLst>
        </p:spPr>
      </p:sp>
      <p:sp>
        <p:nvSpPr>
          <p:cNvPr id="25" name="Shape 19"/>
          <p:cNvSpPr/>
          <p:nvPr/>
        </p:nvSpPr>
        <p:spPr>
          <a:xfrm>
            <a:off x="7452360" y="1417320"/>
            <a:ext cx="548640" cy="548640"/>
          </a:xfrm>
          <a:prstGeom prst="ellipse">
            <a:avLst/>
          </a:prstGeom>
          <a:solidFill>
            <a:srgbClr val="00695C"/>
          </a:solidFill>
          <a:ln w="12700">
            <a:solidFill>
              <a:srgbClr val="00695C"/>
            </a:solidFill>
            <a:prstDash val="solid"/>
          </a:ln>
        </p:spPr>
      </p:sp>
      <p:pic>
        <p:nvPicPr>
          <p:cNvPr id="26" name="Image 3" descr="preencoded.png">    </p:cNvPr>
          <p:cNvPicPr>
            <a:picLocks noChangeAspect="1"/>
          </p:cNvPicPr>
          <p:nvPr/>
        </p:nvPicPr>
        <p:blipFill>
          <a:blip r:embed="rId4"/>
          <a:stretch>
            <a:fillRect/>
          </a:stretch>
        </p:blipFill>
        <p:spPr>
          <a:xfrm>
            <a:off x="7589520" y="1554480"/>
            <a:ext cx="274320" cy="274320"/>
          </a:xfrm>
          <a:prstGeom prst="rect">
            <a:avLst/>
          </a:prstGeom>
        </p:spPr>
      </p:pic>
      <p:sp>
        <p:nvSpPr>
          <p:cNvPr id="27" name="Text 20"/>
          <p:cNvSpPr txBox="1"/>
          <p:nvPr/>
        </p:nvSpPr>
        <p:spPr>
          <a:xfrm>
            <a:off x="6835140" y="2057400"/>
            <a:ext cx="178308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Prediction</a:t>
            </a:r>
            <a:endParaRPr lang="en-US" sz="1400" dirty="0"/>
          </a:p>
        </p:txBody>
      </p:sp>
      <p:sp>
        <p:nvSpPr>
          <p:cNvPr id="28" name="Text 21"/>
          <p:cNvSpPr txBox="1"/>
          <p:nvPr/>
        </p:nvSpPr>
        <p:spPr>
          <a:xfrm>
            <a:off x="6926580" y="2377440"/>
            <a:ext cx="1600200" cy="274320"/>
          </a:xfrm>
          <a:prstGeom prst="rect">
            <a:avLst/>
          </a:prstGeom>
          <a:noFill/>
          <a:ln/>
        </p:spPr>
        <p:txBody>
          <a:bodyPr wrap="square" lIns="0" tIns="0" rIns="0" bIns="0"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Label and confidence</a:t>
            </a:r>
            <a:endParaRPr lang="en-US" sz="1100" dirty="0"/>
          </a:p>
        </p:txBody>
      </p:sp>
      <p:sp>
        <p:nvSpPr>
          <p:cNvPr id="29" name="Shape 22"/>
          <p:cNvSpPr/>
          <p:nvPr/>
        </p:nvSpPr>
        <p:spPr>
          <a:xfrm>
            <a:off x="548640" y="3063240"/>
            <a:ext cx="3931920" cy="1508760"/>
          </a:xfrm>
          <a:prstGeom prst="roundRect">
            <a:avLst>
              <a:gd name="adj" fmla="val 7273"/>
            </a:avLst>
          </a:prstGeom>
          <a:solidFill>
            <a:srgbClr val="FFFFFF"/>
          </a:solidFill>
          <a:ln w="9525">
            <a:solidFill>
              <a:srgbClr val="E1E8EF"/>
            </a:solidFill>
            <a:prstDash val="solid"/>
          </a:ln>
          <a:effectLst>
            <a:outerShdw sx="100000" sy="100000" kx="0" ky="0" algn="bl" rotWithShape="0" blurRad="101600" dist="25400" dir="5400000">
              <a:srgbClr val="000000">
                <a:alpha val="12000"/>
              </a:srgbClr>
            </a:outerShdw>
          </a:effectLst>
        </p:spPr>
      </p:sp>
      <p:sp>
        <p:nvSpPr>
          <p:cNvPr id="30" name="Text 23"/>
          <p:cNvSpPr txBox="1"/>
          <p:nvPr/>
        </p:nvSpPr>
        <p:spPr>
          <a:xfrm>
            <a:off x="777240" y="3154680"/>
            <a:ext cx="3474720" cy="320040"/>
          </a:xfrm>
          <a:prstGeom prst="rect">
            <a:avLst/>
          </a:prstGeom>
          <a:noFill/>
          <a:ln/>
        </p:spPr>
        <p:txBody>
          <a:bodyPr wrap="square" lIns="0" tIns="0" rIns="0" bIns="0" rtlCol="0" anchor="ctr"/>
          <a:lstStyle/>
          <a:p>
            <a:pPr indent="0" marL="0">
              <a:buNone/>
            </a:pPr>
            <a:r>
              <a:rPr lang="en-US" sz="1500" b="1" dirty="0">
                <a:solidFill>
                  <a:srgbClr val="00695C"/>
                </a:solidFill>
                <a:latin typeface="Calibri" pitchFamily="34" charset="0"/>
                <a:ea typeface="Calibri" pitchFamily="34" charset="-122"/>
                <a:cs typeface="Calibri" pitchFamily="34" charset="-120"/>
              </a:rPr>
              <a:t>Training</a:t>
            </a:r>
            <a:endParaRPr lang="en-US" sz="1500" dirty="0"/>
          </a:p>
        </p:txBody>
      </p:sp>
      <p:sp>
        <p:nvSpPr>
          <p:cNvPr id="31" name="Text 24"/>
          <p:cNvSpPr txBox="1"/>
          <p:nvPr/>
        </p:nvSpPr>
        <p:spPr>
          <a:xfrm>
            <a:off x="777240" y="3520440"/>
            <a:ext cx="3520440" cy="960120"/>
          </a:xfrm>
          <a:prstGeom prst="rect">
            <a:avLst/>
          </a:prstGeom>
          <a:noFill/>
          <a:ln/>
        </p:spPr>
        <p:txBody>
          <a:bodyPr wrap="square" lIns="0" tIns="0" rIns="0" bIns="0" rtlCol="0" anchor="t"/>
          <a:lstStyle/>
          <a:p>
            <a:pPr indent="0" marL="0">
              <a:buNone/>
            </a:pPr>
            <a:r>
              <a:rPr lang="en-US" sz="1250" dirty="0">
                <a:solidFill>
                  <a:srgbClr val="1B2B3A"/>
                </a:solidFill>
                <a:latin typeface="Calibri" pitchFamily="34" charset="0"/>
                <a:ea typeface="Calibri" pitchFamily="34" charset="-122"/>
                <a:cs typeface="Calibri" pitchFamily="34" charset="-120"/>
              </a:rPr>
              <a:t>Vectoriser is fitted on the 270 training emails only, so no information from the test set leaks into the vocabulary.</a:t>
            </a:r>
            <a:endParaRPr lang="en-US" sz="1250" dirty="0"/>
          </a:p>
        </p:txBody>
      </p:sp>
      <p:sp>
        <p:nvSpPr>
          <p:cNvPr id="32" name="Shape 25"/>
          <p:cNvSpPr/>
          <p:nvPr/>
        </p:nvSpPr>
        <p:spPr>
          <a:xfrm>
            <a:off x="4663440" y="3063240"/>
            <a:ext cx="3931920" cy="1508760"/>
          </a:xfrm>
          <a:prstGeom prst="roundRect">
            <a:avLst>
              <a:gd name="adj" fmla="val 7273"/>
            </a:avLst>
          </a:prstGeom>
          <a:solidFill>
            <a:srgbClr val="FFFFFF"/>
          </a:solidFill>
          <a:ln w="9525">
            <a:solidFill>
              <a:srgbClr val="E1E8EF"/>
            </a:solidFill>
            <a:prstDash val="solid"/>
          </a:ln>
          <a:effectLst>
            <a:outerShdw sx="100000" sy="100000" kx="0" ky="0" algn="bl" rotWithShape="0" blurRad="101600" dist="25400" dir="5400000">
              <a:srgbClr val="000000">
                <a:alpha val="12000"/>
              </a:srgbClr>
            </a:outerShdw>
          </a:effectLst>
        </p:spPr>
      </p:sp>
      <p:sp>
        <p:nvSpPr>
          <p:cNvPr id="33" name="Text 26"/>
          <p:cNvSpPr txBox="1"/>
          <p:nvPr/>
        </p:nvSpPr>
        <p:spPr>
          <a:xfrm>
            <a:off x="4892040" y="3154680"/>
            <a:ext cx="3474720" cy="320040"/>
          </a:xfrm>
          <a:prstGeom prst="rect">
            <a:avLst/>
          </a:prstGeom>
          <a:noFill/>
          <a:ln/>
        </p:spPr>
        <p:txBody>
          <a:bodyPr wrap="square" lIns="0" tIns="0" rIns="0" bIns="0" rtlCol="0" anchor="ctr"/>
          <a:lstStyle/>
          <a:p>
            <a:pPr indent="0" marL="0">
              <a:buNone/>
            </a:pPr>
            <a:r>
              <a:rPr lang="en-US" sz="1500" b="1" dirty="0">
                <a:solidFill>
                  <a:srgbClr val="00695C"/>
                </a:solidFill>
                <a:latin typeface="Calibri" pitchFamily="34" charset="0"/>
                <a:ea typeface="Calibri" pitchFamily="34" charset="-122"/>
                <a:cs typeface="Calibri" pitchFamily="34" charset="-120"/>
              </a:rPr>
              <a:t>Prediction</a:t>
            </a:r>
            <a:endParaRPr lang="en-US" sz="1500" dirty="0"/>
          </a:p>
        </p:txBody>
      </p:sp>
      <p:sp>
        <p:nvSpPr>
          <p:cNvPr id="34" name="Text 27"/>
          <p:cNvSpPr txBox="1"/>
          <p:nvPr/>
        </p:nvSpPr>
        <p:spPr>
          <a:xfrm>
            <a:off x="4892040" y="3520440"/>
            <a:ext cx="3520440" cy="960120"/>
          </a:xfrm>
          <a:prstGeom prst="rect">
            <a:avLst/>
          </a:prstGeom>
          <a:noFill/>
          <a:ln/>
        </p:spPr>
        <p:txBody>
          <a:bodyPr wrap="square" lIns="0" tIns="0" rIns="0" bIns="0" rtlCol="0" anchor="t"/>
          <a:lstStyle/>
          <a:p>
            <a:pPr indent="0" marL="0">
              <a:buNone/>
            </a:pPr>
            <a:r>
              <a:rPr lang="en-US" sz="1250" dirty="0">
                <a:solidFill>
                  <a:srgbClr val="1B2B3A"/>
                </a:solidFill>
                <a:latin typeface="Calibri" pitchFamily="34" charset="0"/>
                <a:ea typeface="Calibri" pitchFamily="34" charset="-122"/>
                <a:cs typeface="Calibri" pitchFamily="34" charset="-120"/>
              </a:rPr>
              <a:t>predict_email() applies the same features to new text and returns the label with the probability of each class.</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6FA"/>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640080"/>
          </a:xfrm>
          <a:prstGeom prst="rect">
            <a:avLst/>
          </a:prstGeom>
          <a:noFill/>
          <a:ln/>
        </p:spPr>
        <p:txBody>
          <a:bodyPr wrap="square" lIns="0" tIns="0" rIns="0" bIns="0" rtlCol="0" anchor="ctr"/>
          <a:lstStyle/>
          <a:p>
            <a:pPr indent="0" marL="0">
              <a:buNone/>
            </a:pPr>
            <a:r>
              <a:rPr lang="en-US" sz="3200" b="1" dirty="0">
                <a:solidFill>
                  <a:srgbClr val="1B2B3A"/>
                </a:solidFill>
                <a:latin typeface="Cambria" pitchFamily="34" charset="0"/>
                <a:ea typeface="Cambria" pitchFamily="34" charset="-122"/>
                <a:cs typeface="Cambria" pitchFamily="34" charset="-120"/>
              </a:rPr>
              <a:t>Feature extraction</a:t>
            </a:r>
            <a:endParaRPr lang="en-US" sz="3200" dirty="0"/>
          </a:p>
        </p:txBody>
      </p:sp>
      <p:sp>
        <p:nvSpPr>
          <p:cNvPr id="3" name="Text 1"/>
          <p:cNvSpPr txBox="1"/>
          <p:nvPr/>
        </p:nvSpPr>
        <p:spPr>
          <a:xfrm>
            <a:off x="548640" y="4846320"/>
            <a:ext cx="6400800" cy="201168"/>
          </a:xfrm>
          <a:prstGeom prst="rect">
            <a:avLst/>
          </a:prstGeom>
          <a:noFill/>
          <a:ln/>
        </p:spPr>
        <p:txBody>
          <a:bodyPr wrap="square" lIns="0" tIns="0" rIns="0" bIns="0" rtlCol="0" anchor="ctr"/>
          <a:lstStyle/>
          <a:p>
            <a:pPr indent="0" marL="0">
              <a:buNone/>
            </a:pPr>
            <a:r>
              <a:rPr lang="en-US" sz="900" dirty="0">
                <a:solidFill>
                  <a:srgbClr val="5B6B7B"/>
                </a:solidFill>
                <a:latin typeface="Calibri" pitchFamily="34" charset="0"/>
                <a:ea typeface="Calibri" pitchFamily="34" charset="-122"/>
                <a:cs typeface="Calibri" pitchFamily="34" charset="-120"/>
              </a:rPr>
              <a:t>Phishing Detection System  |  Aman Kumar Gautam  |  CS-2341642</a:t>
            </a:r>
            <a:endParaRPr lang="en-US" sz="900" dirty="0"/>
          </a:p>
        </p:txBody>
      </p:sp>
      <p:sp>
        <p:nvSpPr>
          <p:cNvPr id="4" name="Text 2"/>
          <p:cNvSpPr txBox="1"/>
          <p:nvPr/>
        </p:nvSpPr>
        <p:spPr>
          <a:xfrm>
            <a:off x="8138160" y="4846320"/>
            <a:ext cx="457200" cy="201168"/>
          </a:xfrm>
          <a:prstGeom prst="rect">
            <a:avLst/>
          </a:prstGeom>
          <a:noFill/>
          <a:ln/>
        </p:spPr>
        <p:txBody>
          <a:bodyPr wrap="square" lIns="0" tIns="0" rIns="0" bIns="0"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6</a:t>
            </a:r>
            <a:endParaRPr lang="en-US" sz="900" dirty="0"/>
          </a:p>
        </p:txBody>
      </p:sp>
      <p:sp>
        <p:nvSpPr>
          <p:cNvPr id="6" name="Shape 3"/>
          <p:cNvSpPr/>
          <p:nvPr/>
        </p:nvSpPr>
        <p:spPr>
          <a:xfrm>
            <a:off x="548640" y="1188720"/>
            <a:ext cx="3931920" cy="2743200"/>
          </a:xfrm>
          <a:prstGeom prst="roundRect">
            <a:avLst>
              <a:gd name="adj" fmla="val 4000"/>
            </a:avLst>
          </a:prstGeom>
          <a:solidFill>
            <a:srgbClr val="FFFFFF"/>
          </a:solidFill>
          <a:ln w="9525">
            <a:solidFill>
              <a:srgbClr val="E1E8EF"/>
            </a:solidFill>
            <a:prstDash val="solid"/>
          </a:ln>
          <a:effectLst>
            <a:outerShdw sx="100000" sy="100000" kx="0" ky="0" algn="bl" rotWithShape="0" blurRad="101600" dist="25400" dir="5400000">
              <a:srgbClr val="000000">
                <a:alpha val="12000"/>
              </a:srgbClr>
            </a:outerShdw>
          </a:effectLst>
        </p:spPr>
      </p:sp>
      <p:sp>
        <p:nvSpPr>
          <p:cNvPr id="7" name="Shape 4"/>
          <p:cNvSpPr/>
          <p:nvPr/>
        </p:nvSpPr>
        <p:spPr>
          <a:xfrm>
            <a:off x="777240" y="1325880"/>
            <a:ext cx="548640" cy="548640"/>
          </a:xfrm>
          <a:prstGeom prst="ellipse">
            <a:avLst/>
          </a:prstGeom>
          <a:solidFill>
            <a:srgbClr val="0F2A47"/>
          </a:solidFill>
          <a:ln w="12700">
            <a:solidFill>
              <a:srgbClr val="0F2A47"/>
            </a:solidFill>
            <a:prstDash val="solid"/>
          </a:ln>
        </p:spPr>
      </p:sp>
      <p:pic>
        <p:nvPicPr>
          <p:cNvPr id="8" name="Image 0" descr="preencoded.png">    </p:cNvPr>
          <p:cNvPicPr>
            <a:picLocks noChangeAspect="1"/>
          </p:cNvPicPr>
          <p:nvPr/>
        </p:nvPicPr>
        <p:blipFill>
          <a:blip r:embed="rId1"/>
          <a:stretch>
            <a:fillRect/>
          </a:stretch>
        </p:blipFill>
        <p:spPr>
          <a:xfrm>
            <a:off x="914400" y="1463040"/>
            <a:ext cx="274320" cy="274320"/>
          </a:xfrm>
          <a:prstGeom prst="rect">
            <a:avLst/>
          </a:prstGeom>
        </p:spPr>
      </p:pic>
      <p:sp>
        <p:nvSpPr>
          <p:cNvPr id="9" name="Text 5"/>
          <p:cNvSpPr txBox="1"/>
          <p:nvPr/>
        </p:nvSpPr>
        <p:spPr>
          <a:xfrm>
            <a:off x="1463040" y="1325880"/>
            <a:ext cx="2926080" cy="548640"/>
          </a:xfrm>
          <a:prstGeom prst="rect">
            <a:avLst/>
          </a:prstGeom>
          <a:noFill/>
          <a:ln/>
        </p:spPr>
        <p:txBody>
          <a:bodyPr wrap="square" lIns="0" tIns="0" rIns="0" bIns="0" rtlCol="0" anchor="ctr"/>
          <a:lstStyle/>
          <a:p>
            <a:pPr indent="0" marL="0">
              <a:buNone/>
            </a:pPr>
            <a:r>
              <a:rPr lang="en-US" sz="1700" b="1" dirty="0">
                <a:solidFill>
                  <a:srgbClr val="1B2B3A"/>
                </a:solidFill>
                <a:latin typeface="Calibri" pitchFamily="34" charset="0"/>
                <a:ea typeface="Calibri" pitchFamily="34" charset="-122"/>
                <a:cs typeface="Calibri" pitchFamily="34" charset="-120"/>
              </a:rPr>
              <a:t>TF-IDF text features</a:t>
            </a:r>
            <a:endParaRPr lang="en-US" sz="1700" dirty="0"/>
          </a:p>
        </p:txBody>
      </p:sp>
      <p:sp>
        <p:nvSpPr>
          <p:cNvPr id="10" name="Text 6"/>
          <p:cNvSpPr txBox="1"/>
          <p:nvPr/>
        </p:nvSpPr>
        <p:spPr>
          <a:xfrm>
            <a:off x="777240" y="2057400"/>
            <a:ext cx="3566160" cy="17830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B2B3A"/>
                </a:solidFill>
                <a:latin typeface="Calibri" pitchFamily="34" charset="0"/>
                <a:ea typeface="Calibri" pitchFamily="34" charset="-122"/>
                <a:cs typeface="Calibri" pitchFamily="34" charset="-120"/>
              </a:rPr>
              <a:t>Weights words by how distinctive they are</a:t>
            </a:r>
            <a:endParaRPr lang="en-US" sz="1300" dirty="0"/>
          </a:p>
          <a:p>
            <a:pPr marL="342900" indent="-342900">
              <a:spcAft>
                <a:spcPts val="600"/>
              </a:spcAft>
              <a:buSzPct val="100000"/>
              <a:buChar char="•"/>
            </a:pPr>
            <a:r>
              <a:rPr lang="en-US" sz="1300" dirty="0">
                <a:solidFill>
                  <a:srgbClr val="1B2B3A"/>
                </a:solidFill>
                <a:latin typeface="Calibri" pitchFamily="34" charset="0"/>
                <a:ea typeface="Calibri" pitchFamily="34" charset="-122"/>
                <a:cs typeface="Calibri" pitchFamily="34" charset="-120"/>
              </a:rPr>
              <a:t>Single words and word pairs</a:t>
            </a:r>
            <a:endParaRPr lang="en-US" sz="1300" dirty="0"/>
          </a:p>
          <a:p>
            <a:pPr marL="342900" indent="-342900">
              <a:spcAft>
                <a:spcPts val="600"/>
              </a:spcAft>
              <a:buSzPct val="100000"/>
              <a:buChar char="•"/>
            </a:pPr>
            <a:r>
              <a:rPr lang="en-US" sz="1300" dirty="0">
                <a:solidFill>
                  <a:srgbClr val="1B2B3A"/>
                </a:solidFill>
                <a:latin typeface="Calibri" pitchFamily="34" charset="0"/>
                <a:ea typeface="Calibri" pitchFamily="34" charset="-122"/>
                <a:cs typeface="Calibri" pitchFamily="34" charset="-120"/>
              </a:rPr>
              <a:t>English stop words removed</a:t>
            </a:r>
            <a:endParaRPr lang="en-US" sz="1300" dirty="0"/>
          </a:p>
          <a:p>
            <a:pPr marL="342900" indent="-342900">
              <a:spcAft>
                <a:spcPts val="600"/>
              </a:spcAft>
              <a:buSzPct val="100000"/>
              <a:buChar char="•"/>
            </a:pPr>
            <a:r>
              <a:rPr lang="en-US" sz="1300" dirty="0">
                <a:solidFill>
                  <a:srgbClr val="1B2B3A"/>
                </a:solidFill>
                <a:latin typeface="Calibri" pitchFamily="34" charset="0"/>
                <a:ea typeface="Calibri" pitchFamily="34" charset="-122"/>
                <a:cs typeface="Calibri" pitchFamily="34" charset="-120"/>
              </a:rPr>
              <a:t>Up to 1,500 features</a:t>
            </a:r>
            <a:endParaRPr lang="en-US" sz="1300" dirty="0"/>
          </a:p>
          <a:p>
            <a:pPr marL="342900" indent="-342900">
              <a:spcAft>
                <a:spcPts val="600"/>
              </a:spcAft>
              <a:buSzPct val="100000"/>
              <a:buChar char="•"/>
            </a:pPr>
            <a:r>
              <a:rPr lang="en-US" sz="1300" dirty="0">
                <a:solidFill>
                  <a:srgbClr val="1B2B3A"/>
                </a:solidFill>
                <a:latin typeface="Calibri" pitchFamily="34" charset="0"/>
                <a:ea typeface="Calibri" pitchFamily="34" charset="-122"/>
                <a:cs typeface="Calibri" pitchFamily="34" charset="-120"/>
              </a:rPr>
              <a:t>Surfaces cues like "verify", "urgent"</a:t>
            </a:r>
            <a:endParaRPr lang="en-US" sz="1300" dirty="0"/>
          </a:p>
        </p:txBody>
      </p:sp>
      <p:sp>
        <p:nvSpPr>
          <p:cNvPr id="11" name="Shape 7"/>
          <p:cNvSpPr/>
          <p:nvPr/>
        </p:nvSpPr>
        <p:spPr>
          <a:xfrm>
            <a:off x="4663440" y="1188720"/>
            <a:ext cx="3931920" cy="2743200"/>
          </a:xfrm>
          <a:prstGeom prst="roundRect">
            <a:avLst>
              <a:gd name="adj" fmla="val 4000"/>
            </a:avLst>
          </a:prstGeom>
          <a:solidFill>
            <a:srgbClr val="FFFFFF"/>
          </a:solidFill>
          <a:ln w="9525">
            <a:solidFill>
              <a:srgbClr val="E1E8EF"/>
            </a:solidFill>
            <a:prstDash val="solid"/>
          </a:ln>
          <a:effectLst>
            <a:outerShdw sx="100000" sy="100000" kx="0" ky="0" algn="bl" rotWithShape="0" blurRad="101600" dist="25400" dir="5400000">
              <a:srgbClr val="000000">
                <a:alpha val="12000"/>
              </a:srgbClr>
            </a:outerShdw>
          </a:effectLst>
        </p:spPr>
      </p:sp>
      <p:sp>
        <p:nvSpPr>
          <p:cNvPr id="12" name="Shape 8"/>
          <p:cNvSpPr/>
          <p:nvPr/>
        </p:nvSpPr>
        <p:spPr>
          <a:xfrm>
            <a:off x="4892040" y="1325880"/>
            <a:ext cx="548640" cy="548640"/>
          </a:xfrm>
          <a:prstGeom prst="ellipse">
            <a:avLst/>
          </a:prstGeom>
          <a:solidFill>
            <a:srgbClr val="0F2A47"/>
          </a:solidFill>
          <a:ln w="12700">
            <a:solidFill>
              <a:srgbClr val="0F2A47"/>
            </a:solidFill>
            <a:prstDash val="solid"/>
          </a:ln>
        </p:spPr>
      </p:sp>
      <p:pic>
        <p:nvPicPr>
          <p:cNvPr id="13" name="Image 1" descr="preencoded.png">    </p:cNvPr>
          <p:cNvPicPr>
            <a:picLocks noChangeAspect="1"/>
          </p:cNvPicPr>
          <p:nvPr/>
        </p:nvPicPr>
        <p:blipFill>
          <a:blip r:embed="rId2"/>
          <a:stretch>
            <a:fillRect/>
          </a:stretch>
        </p:blipFill>
        <p:spPr>
          <a:xfrm>
            <a:off x="5029200" y="1463040"/>
            <a:ext cx="274320" cy="274320"/>
          </a:xfrm>
          <a:prstGeom prst="rect">
            <a:avLst/>
          </a:prstGeom>
        </p:spPr>
      </p:pic>
      <p:sp>
        <p:nvSpPr>
          <p:cNvPr id="14" name="Text 9"/>
          <p:cNvSpPr txBox="1"/>
          <p:nvPr/>
        </p:nvSpPr>
        <p:spPr>
          <a:xfrm>
            <a:off x="5577840" y="1325880"/>
            <a:ext cx="2926080" cy="548640"/>
          </a:xfrm>
          <a:prstGeom prst="rect">
            <a:avLst/>
          </a:prstGeom>
          <a:noFill/>
          <a:ln/>
        </p:spPr>
        <p:txBody>
          <a:bodyPr wrap="square" lIns="0" tIns="0" rIns="0" bIns="0" rtlCol="0" anchor="ctr"/>
          <a:lstStyle/>
          <a:p>
            <a:pPr indent="0" marL="0">
              <a:buNone/>
            </a:pPr>
            <a:r>
              <a:rPr lang="en-US" sz="1700" b="1" dirty="0">
                <a:solidFill>
                  <a:srgbClr val="1B2B3A"/>
                </a:solidFill>
                <a:latin typeface="Calibri" pitchFamily="34" charset="0"/>
                <a:ea typeface="Calibri" pitchFamily="34" charset="-122"/>
                <a:cs typeface="Calibri" pitchFamily="34" charset="-120"/>
              </a:rPr>
              <a:t>6 engineered red flags</a:t>
            </a:r>
            <a:endParaRPr lang="en-US" sz="1700" dirty="0"/>
          </a:p>
        </p:txBody>
      </p:sp>
      <p:sp>
        <p:nvSpPr>
          <p:cNvPr id="15" name="Text 10"/>
          <p:cNvSpPr txBox="1"/>
          <p:nvPr/>
        </p:nvSpPr>
        <p:spPr>
          <a:xfrm>
            <a:off x="4892040" y="2057400"/>
            <a:ext cx="3566160" cy="17830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B2B3A"/>
                </a:solidFill>
                <a:latin typeface="Calibri" pitchFamily="34" charset="0"/>
                <a:ea typeface="Calibri" pitchFamily="34" charset="-122"/>
                <a:cs typeface="Calibri" pitchFamily="34" charset="-120"/>
              </a:rPr>
              <a:t>url_count</a:t>
            </a:r>
            <a:endParaRPr lang="en-US" sz="1300" dirty="0"/>
          </a:p>
          <a:p>
            <a:pPr marL="342900" indent="-342900">
              <a:spcAft>
                <a:spcPts val="600"/>
              </a:spcAft>
              <a:buSzPct val="100000"/>
              <a:buChar char="•"/>
            </a:pPr>
            <a:r>
              <a:rPr lang="en-US" sz="1300" dirty="0">
                <a:solidFill>
                  <a:srgbClr val="1B2B3A"/>
                </a:solidFill>
                <a:latin typeface="Calibri" pitchFamily="34" charset="0"/>
                <a:ea typeface="Calibri" pitchFamily="34" charset="-122"/>
                <a:cs typeface="Calibri" pitchFamily="34" charset="-120"/>
              </a:rPr>
              <a:t>suspicious_keyword_count (22 words)</a:t>
            </a:r>
            <a:endParaRPr lang="en-US" sz="1300" dirty="0"/>
          </a:p>
          <a:p>
            <a:pPr marL="342900" indent="-342900">
              <a:spcAft>
                <a:spcPts val="600"/>
              </a:spcAft>
              <a:buSzPct val="100000"/>
              <a:buChar char="•"/>
            </a:pPr>
            <a:r>
              <a:rPr lang="en-US" sz="1300" dirty="0">
                <a:solidFill>
                  <a:srgbClr val="1B2B3A"/>
                </a:solidFill>
                <a:latin typeface="Calibri" pitchFamily="34" charset="0"/>
                <a:ea typeface="Calibri" pitchFamily="34" charset="-122"/>
                <a:cs typeface="Calibri" pitchFamily="34" charset="-120"/>
              </a:rPr>
              <a:t>exclamation_count</a:t>
            </a:r>
            <a:endParaRPr lang="en-US" sz="1300" dirty="0"/>
          </a:p>
          <a:p>
            <a:pPr marL="342900" indent="-342900">
              <a:spcAft>
                <a:spcPts val="600"/>
              </a:spcAft>
              <a:buSzPct val="100000"/>
              <a:buChar char="•"/>
            </a:pPr>
            <a:r>
              <a:rPr lang="en-US" sz="1300" dirty="0">
                <a:solidFill>
                  <a:srgbClr val="1B2B3A"/>
                </a:solidFill>
                <a:latin typeface="Calibri" pitchFamily="34" charset="0"/>
                <a:ea typeface="Calibri" pitchFamily="34" charset="-122"/>
                <a:cs typeface="Calibri" pitchFamily="34" charset="-120"/>
              </a:rPr>
              <a:t>uppercase_word_count</a:t>
            </a:r>
            <a:endParaRPr lang="en-US" sz="1300" dirty="0"/>
          </a:p>
          <a:p>
            <a:pPr marL="342900" indent="-342900">
              <a:spcAft>
                <a:spcPts val="600"/>
              </a:spcAft>
              <a:buSzPct val="100000"/>
              <a:buChar char="•"/>
            </a:pPr>
            <a:r>
              <a:rPr lang="en-US" sz="1300" dirty="0">
                <a:solidFill>
                  <a:srgbClr val="1B2B3A"/>
                </a:solidFill>
                <a:latin typeface="Calibri" pitchFamily="34" charset="0"/>
                <a:ea typeface="Calibri" pitchFamily="34" charset="-122"/>
                <a:cs typeface="Calibri" pitchFamily="34" charset="-120"/>
              </a:rPr>
              <a:t>digit_ratio</a:t>
            </a:r>
            <a:endParaRPr lang="en-US" sz="1300" dirty="0"/>
          </a:p>
          <a:p>
            <a:pPr marL="342900" indent="-342900">
              <a:spcAft>
                <a:spcPts val="600"/>
              </a:spcAft>
              <a:buSzPct val="100000"/>
              <a:buChar char="•"/>
            </a:pPr>
            <a:r>
              <a:rPr lang="en-US" sz="1300" dirty="0">
                <a:solidFill>
                  <a:srgbClr val="1B2B3A"/>
                </a:solidFill>
                <a:latin typeface="Calibri" pitchFamily="34" charset="0"/>
                <a:ea typeface="Calibri" pitchFamily="34" charset="-122"/>
                <a:cs typeface="Calibri" pitchFamily="34" charset="-120"/>
              </a:rPr>
              <a:t>text_length</a:t>
            </a:r>
            <a:endParaRPr lang="en-US" sz="1300" dirty="0"/>
          </a:p>
        </p:txBody>
      </p:sp>
      <p:sp>
        <p:nvSpPr>
          <p:cNvPr id="16" name="Shape 11"/>
          <p:cNvSpPr/>
          <p:nvPr/>
        </p:nvSpPr>
        <p:spPr>
          <a:xfrm>
            <a:off x="548640" y="4114800"/>
            <a:ext cx="8046720" cy="457200"/>
          </a:xfrm>
          <a:prstGeom prst="roundRect">
            <a:avLst>
              <a:gd name="adj" fmla="val 20000"/>
            </a:avLst>
          </a:prstGeom>
          <a:solidFill>
            <a:srgbClr val="D9F2EE"/>
          </a:solidFill>
          <a:ln w="12700">
            <a:solidFill>
              <a:srgbClr val="D9F2EE"/>
            </a:solidFill>
            <a:prstDash val="solid"/>
          </a:ln>
        </p:spPr>
      </p:sp>
      <p:sp>
        <p:nvSpPr>
          <p:cNvPr id="17" name="Text 12"/>
          <p:cNvSpPr txBox="1"/>
          <p:nvPr/>
        </p:nvSpPr>
        <p:spPr>
          <a:xfrm>
            <a:off x="731520" y="4114800"/>
            <a:ext cx="7680960" cy="457200"/>
          </a:xfrm>
          <a:prstGeom prst="rect">
            <a:avLst/>
          </a:prstGeom>
          <a:noFill/>
          <a:ln/>
        </p:spPr>
        <p:txBody>
          <a:bodyPr wrap="square" lIns="0" tIns="0" rIns="0" bIns="0" rtlCol="0" anchor="ctr"/>
          <a:lstStyle/>
          <a:p>
            <a:pPr indent="0" marL="0">
              <a:buNone/>
            </a:pPr>
            <a:r>
              <a:rPr lang="en-US" sz="1300" b="1" dirty="0">
                <a:solidFill>
                  <a:srgbClr val="00695C"/>
                </a:solidFill>
                <a:latin typeface="Calibri" pitchFamily="34" charset="0"/>
                <a:ea typeface="Calibri" pitchFamily="34" charset="-122"/>
                <a:cs typeface="Calibri" pitchFamily="34" charset="-120"/>
              </a:rPr>
              <a:t>Both sets are merged into one matrix with SciPy hstack before training.</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6FA"/>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640080"/>
          </a:xfrm>
          <a:prstGeom prst="rect">
            <a:avLst/>
          </a:prstGeom>
          <a:noFill/>
          <a:ln/>
        </p:spPr>
        <p:txBody>
          <a:bodyPr wrap="square" lIns="0" tIns="0" rIns="0" bIns="0" rtlCol="0" anchor="ctr"/>
          <a:lstStyle/>
          <a:p>
            <a:pPr indent="0" marL="0">
              <a:buNone/>
            </a:pPr>
            <a:r>
              <a:rPr lang="en-US" sz="3200" b="1" dirty="0">
                <a:solidFill>
                  <a:srgbClr val="1B2B3A"/>
                </a:solidFill>
                <a:latin typeface="Cambria" pitchFamily="34" charset="0"/>
                <a:ea typeface="Cambria" pitchFamily="34" charset="-122"/>
                <a:cs typeface="Cambria" pitchFamily="34" charset="-120"/>
              </a:rPr>
              <a:t>Random Forest classifier</a:t>
            </a:r>
            <a:endParaRPr lang="en-US" sz="3200" dirty="0"/>
          </a:p>
        </p:txBody>
      </p:sp>
      <p:sp>
        <p:nvSpPr>
          <p:cNvPr id="3" name="Text 1"/>
          <p:cNvSpPr txBox="1"/>
          <p:nvPr/>
        </p:nvSpPr>
        <p:spPr>
          <a:xfrm>
            <a:off x="548640" y="4846320"/>
            <a:ext cx="6400800" cy="201168"/>
          </a:xfrm>
          <a:prstGeom prst="rect">
            <a:avLst/>
          </a:prstGeom>
          <a:noFill/>
          <a:ln/>
        </p:spPr>
        <p:txBody>
          <a:bodyPr wrap="square" lIns="0" tIns="0" rIns="0" bIns="0" rtlCol="0" anchor="ctr"/>
          <a:lstStyle/>
          <a:p>
            <a:pPr indent="0" marL="0">
              <a:buNone/>
            </a:pPr>
            <a:r>
              <a:rPr lang="en-US" sz="900" dirty="0">
                <a:solidFill>
                  <a:srgbClr val="5B6B7B"/>
                </a:solidFill>
                <a:latin typeface="Calibri" pitchFamily="34" charset="0"/>
                <a:ea typeface="Calibri" pitchFamily="34" charset="-122"/>
                <a:cs typeface="Calibri" pitchFamily="34" charset="-120"/>
              </a:rPr>
              <a:t>Phishing Detection System  |  Aman Kumar Gautam  |  CS-2341642</a:t>
            </a:r>
            <a:endParaRPr lang="en-US" sz="900" dirty="0"/>
          </a:p>
        </p:txBody>
      </p:sp>
      <p:sp>
        <p:nvSpPr>
          <p:cNvPr id="4" name="Text 2"/>
          <p:cNvSpPr txBox="1"/>
          <p:nvPr/>
        </p:nvSpPr>
        <p:spPr>
          <a:xfrm>
            <a:off x="8138160" y="4846320"/>
            <a:ext cx="457200" cy="201168"/>
          </a:xfrm>
          <a:prstGeom prst="rect">
            <a:avLst/>
          </a:prstGeom>
          <a:noFill/>
          <a:ln/>
        </p:spPr>
        <p:txBody>
          <a:bodyPr wrap="square" lIns="0" tIns="0" rIns="0" bIns="0"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7</a:t>
            </a:r>
            <a:endParaRPr lang="en-US" sz="900" dirty="0"/>
          </a:p>
        </p:txBody>
      </p:sp>
      <p:sp>
        <p:nvSpPr>
          <p:cNvPr id="6" name="Shape 3"/>
          <p:cNvSpPr/>
          <p:nvPr/>
        </p:nvSpPr>
        <p:spPr>
          <a:xfrm>
            <a:off x="548640" y="1188720"/>
            <a:ext cx="4206240" cy="960120"/>
          </a:xfrm>
          <a:prstGeom prst="roundRect">
            <a:avLst>
              <a:gd name="adj" fmla="val 11429"/>
            </a:avLst>
          </a:prstGeom>
          <a:solidFill>
            <a:srgbClr val="FFFFFF"/>
          </a:solidFill>
          <a:ln w="9525">
            <a:solidFill>
              <a:srgbClr val="E1E8EF"/>
            </a:solidFill>
            <a:prstDash val="solid"/>
          </a:ln>
          <a:effectLst>
            <a:outerShdw sx="100000" sy="100000" kx="0" ky="0" algn="bl" rotWithShape="0" blurRad="101600" dist="25400" dir="5400000">
              <a:srgbClr val="000000">
                <a:alpha val="12000"/>
              </a:srgbClr>
            </a:outerShdw>
          </a:effectLst>
        </p:spPr>
      </p:sp>
      <p:sp>
        <p:nvSpPr>
          <p:cNvPr id="7" name="Shape 4"/>
          <p:cNvSpPr/>
          <p:nvPr/>
        </p:nvSpPr>
        <p:spPr>
          <a:xfrm>
            <a:off x="731520" y="1371600"/>
            <a:ext cx="594360" cy="594360"/>
          </a:xfrm>
          <a:prstGeom prst="ellipse">
            <a:avLst/>
          </a:prstGeom>
          <a:solidFill>
            <a:srgbClr val="0F2A47"/>
          </a:solidFill>
          <a:ln w="12700">
            <a:solidFill>
              <a:srgbClr val="0F2A47"/>
            </a:solidFill>
            <a:prstDash val="solid"/>
          </a:ln>
        </p:spPr>
      </p:sp>
      <p:pic>
        <p:nvPicPr>
          <p:cNvPr id="8" name="Image 0" descr="preencoded.png">    </p:cNvPr>
          <p:cNvPicPr>
            <a:picLocks noChangeAspect="1"/>
          </p:cNvPicPr>
          <p:nvPr/>
        </p:nvPicPr>
        <p:blipFill>
          <a:blip r:embed="rId1"/>
          <a:stretch>
            <a:fillRect/>
          </a:stretch>
        </p:blipFill>
        <p:spPr>
          <a:xfrm>
            <a:off x="880110" y="1520190"/>
            <a:ext cx="297180" cy="297180"/>
          </a:xfrm>
          <a:prstGeom prst="rect">
            <a:avLst/>
          </a:prstGeom>
        </p:spPr>
      </p:pic>
      <p:sp>
        <p:nvSpPr>
          <p:cNvPr id="9" name="Text 5"/>
          <p:cNvSpPr txBox="1"/>
          <p:nvPr/>
        </p:nvSpPr>
        <p:spPr>
          <a:xfrm>
            <a:off x="1508760" y="1298448"/>
            <a:ext cx="3108960" cy="320040"/>
          </a:xfrm>
          <a:prstGeom prst="rect">
            <a:avLst/>
          </a:prstGeom>
          <a:noFill/>
          <a:ln/>
        </p:spPr>
        <p:txBody>
          <a:bodyPr wrap="square" lIns="0" tIns="0" rIns="0" bIns="0" rtlCol="0" anchor="ctr"/>
          <a:lstStyle/>
          <a:p>
            <a:pPr indent="0" marL="0">
              <a:buNone/>
            </a:pPr>
            <a:r>
              <a:rPr lang="en-US" sz="1500" b="1" dirty="0">
                <a:solidFill>
                  <a:srgbClr val="1B2B3A"/>
                </a:solidFill>
                <a:latin typeface="Calibri" pitchFamily="34" charset="0"/>
                <a:ea typeface="Calibri" pitchFamily="34" charset="-122"/>
                <a:cs typeface="Calibri" pitchFamily="34" charset="-120"/>
              </a:rPr>
              <a:t>Many trees</a:t>
            </a:r>
            <a:endParaRPr lang="en-US" sz="1500" dirty="0"/>
          </a:p>
        </p:txBody>
      </p:sp>
      <p:sp>
        <p:nvSpPr>
          <p:cNvPr id="10" name="Text 6"/>
          <p:cNvSpPr txBox="1"/>
          <p:nvPr/>
        </p:nvSpPr>
        <p:spPr>
          <a:xfrm>
            <a:off x="1508760" y="1645920"/>
            <a:ext cx="3108960" cy="457200"/>
          </a:xfrm>
          <a:prstGeom prst="rect">
            <a:avLst/>
          </a:prstGeom>
          <a:noFill/>
          <a:ln/>
        </p:spPr>
        <p:txBody>
          <a:bodyPr wrap="square" lIns="0" tIns="0" rIns="0" bIns="0" rtlCol="0" anchor="t"/>
          <a:lstStyle/>
          <a:p>
            <a:pPr indent="0" marL="0">
              <a:buNone/>
            </a:pPr>
            <a:r>
              <a:rPr lang="en-US" sz="1200" dirty="0">
                <a:solidFill>
                  <a:srgbClr val="5B6B7B"/>
                </a:solidFill>
                <a:latin typeface="Calibri" pitchFamily="34" charset="0"/>
                <a:ea typeface="Calibri" pitchFamily="34" charset="-122"/>
                <a:cs typeface="Calibri" pitchFamily="34" charset="-120"/>
              </a:rPr>
              <a:t>Each tree learns from a different random sample.</a:t>
            </a:r>
            <a:endParaRPr lang="en-US" sz="1200" dirty="0"/>
          </a:p>
        </p:txBody>
      </p:sp>
      <p:sp>
        <p:nvSpPr>
          <p:cNvPr id="11" name="Shape 7"/>
          <p:cNvSpPr/>
          <p:nvPr/>
        </p:nvSpPr>
        <p:spPr>
          <a:xfrm>
            <a:off x="548640" y="2304288"/>
            <a:ext cx="4206240" cy="960120"/>
          </a:xfrm>
          <a:prstGeom prst="roundRect">
            <a:avLst>
              <a:gd name="adj" fmla="val 11429"/>
            </a:avLst>
          </a:prstGeom>
          <a:solidFill>
            <a:srgbClr val="FFFFFF"/>
          </a:solidFill>
          <a:ln w="9525">
            <a:solidFill>
              <a:srgbClr val="E1E8EF"/>
            </a:solidFill>
            <a:prstDash val="solid"/>
          </a:ln>
          <a:effectLst>
            <a:outerShdw sx="100000" sy="100000" kx="0" ky="0" algn="bl" rotWithShape="0" blurRad="101600" dist="25400" dir="5400000">
              <a:srgbClr val="000000">
                <a:alpha val="12000"/>
              </a:srgbClr>
            </a:outerShdw>
          </a:effectLst>
        </p:spPr>
      </p:sp>
      <p:sp>
        <p:nvSpPr>
          <p:cNvPr id="12" name="Shape 8"/>
          <p:cNvSpPr/>
          <p:nvPr/>
        </p:nvSpPr>
        <p:spPr>
          <a:xfrm>
            <a:off x="731520" y="2487168"/>
            <a:ext cx="594360" cy="594360"/>
          </a:xfrm>
          <a:prstGeom prst="ellipse">
            <a:avLst/>
          </a:prstGeom>
          <a:solidFill>
            <a:srgbClr val="0F2A47"/>
          </a:solidFill>
          <a:ln w="12700">
            <a:solidFill>
              <a:srgbClr val="0F2A47"/>
            </a:solidFill>
            <a:prstDash val="solid"/>
          </a:ln>
        </p:spPr>
      </p:sp>
      <p:pic>
        <p:nvPicPr>
          <p:cNvPr id="13" name="Image 1" descr="preencoded.png">    </p:cNvPr>
          <p:cNvPicPr>
            <a:picLocks noChangeAspect="1"/>
          </p:cNvPicPr>
          <p:nvPr/>
        </p:nvPicPr>
        <p:blipFill>
          <a:blip r:embed="rId2"/>
          <a:stretch>
            <a:fillRect/>
          </a:stretch>
        </p:blipFill>
        <p:spPr>
          <a:xfrm>
            <a:off x="880110" y="2635758"/>
            <a:ext cx="297180" cy="297180"/>
          </a:xfrm>
          <a:prstGeom prst="rect">
            <a:avLst/>
          </a:prstGeom>
        </p:spPr>
      </p:pic>
      <p:sp>
        <p:nvSpPr>
          <p:cNvPr id="14" name="Text 9"/>
          <p:cNvSpPr txBox="1"/>
          <p:nvPr/>
        </p:nvSpPr>
        <p:spPr>
          <a:xfrm>
            <a:off x="1508760" y="2414016"/>
            <a:ext cx="3108960" cy="320040"/>
          </a:xfrm>
          <a:prstGeom prst="rect">
            <a:avLst/>
          </a:prstGeom>
          <a:noFill/>
          <a:ln/>
        </p:spPr>
        <p:txBody>
          <a:bodyPr wrap="square" lIns="0" tIns="0" rIns="0" bIns="0" rtlCol="0" anchor="ctr"/>
          <a:lstStyle/>
          <a:p>
            <a:pPr indent="0" marL="0">
              <a:buNone/>
            </a:pPr>
            <a:r>
              <a:rPr lang="en-US" sz="1500" b="1" dirty="0">
                <a:solidFill>
                  <a:srgbClr val="1B2B3A"/>
                </a:solidFill>
                <a:latin typeface="Calibri" pitchFamily="34" charset="0"/>
                <a:ea typeface="Calibri" pitchFamily="34" charset="-122"/>
                <a:cs typeface="Calibri" pitchFamily="34" charset="-120"/>
              </a:rPr>
              <a:t>Majority vote</a:t>
            </a:r>
            <a:endParaRPr lang="en-US" sz="1500" dirty="0"/>
          </a:p>
        </p:txBody>
      </p:sp>
      <p:sp>
        <p:nvSpPr>
          <p:cNvPr id="15" name="Text 10"/>
          <p:cNvSpPr txBox="1"/>
          <p:nvPr/>
        </p:nvSpPr>
        <p:spPr>
          <a:xfrm>
            <a:off x="1508760" y="2761488"/>
            <a:ext cx="3108960" cy="457200"/>
          </a:xfrm>
          <a:prstGeom prst="rect">
            <a:avLst/>
          </a:prstGeom>
          <a:noFill/>
          <a:ln/>
        </p:spPr>
        <p:txBody>
          <a:bodyPr wrap="square" lIns="0" tIns="0" rIns="0" bIns="0" rtlCol="0" anchor="t"/>
          <a:lstStyle/>
          <a:p>
            <a:pPr indent="0" marL="0">
              <a:buNone/>
            </a:pPr>
            <a:r>
              <a:rPr lang="en-US" sz="1200" dirty="0">
                <a:solidFill>
                  <a:srgbClr val="5B6B7B"/>
                </a:solidFill>
                <a:latin typeface="Calibri" pitchFamily="34" charset="0"/>
                <a:ea typeface="Calibri" pitchFamily="34" charset="-122"/>
                <a:cs typeface="Calibri" pitchFamily="34" charset="-120"/>
              </a:rPr>
              <a:t>Trees vote Phishing or Safe; the majority wins.</a:t>
            </a:r>
            <a:endParaRPr lang="en-US" sz="1200" dirty="0"/>
          </a:p>
        </p:txBody>
      </p:sp>
      <p:sp>
        <p:nvSpPr>
          <p:cNvPr id="16" name="Shape 11"/>
          <p:cNvSpPr/>
          <p:nvPr/>
        </p:nvSpPr>
        <p:spPr>
          <a:xfrm>
            <a:off x="548640" y="3419856"/>
            <a:ext cx="4206240" cy="960120"/>
          </a:xfrm>
          <a:prstGeom prst="roundRect">
            <a:avLst>
              <a:gd name="adj" fmla="val 11429"/>
            </a:avLst>
          </a:prstGeom>
          <a:solidFill>
            <a:srgbClr val="FFFFFF"/>
          </a:solidFill>
          <a:ln w="9525">
            <a:solidFill>
              <a:srgbClr val="E1E8EF"/>
            </a:solidFill>
            <a:prstDash val="solid"/>
          </a:ln>
          <a:effectLst>
            <a:outerShdw sx="100000" sy="100000" kx="0" ky="0" algn="bl" rotWithShape="0" blurRad="101600" dist="25400" dir="5400000">
              <a:srgbClr val="000000">
                <a:alpha val="12000"/>
              </a:srgbClr>
            </a:outerShdw>
          </a:effectLst>
        </p:spPr>
      </p:sp>
      <p:sp>
        <p:nvSpPr>
          <p:cNvPr id="17" name="Shape 12"/>
          <p:cNvSpPr/>
          <p:nvPr/>
        </p:nvSpPr>
        <p:spPr>
          <a:xfrm>
            <a:off x="731520" y="3602736"/>
            <a:ext cx="594360" cy="594360"/>
          </a:xfrm>
          <a:prstGeom prst="ellipse">
            <a:avLst/>
          </a:prstGeom>
          <a:solidFill>
            <a:srgbClr val="0F2A47"/>
          </a:solidFill>
          <a:ln w="12700">
            <a:solidFill>
              <a:srgbClr val="0F2A47"/>
            </a:solidFill>
            <a:prstDash val="solid"/>
          </a:ln>
        </p:spPr>
      </p:sp>
      <p:pic>
        <p:nvPicPr>
          <p:cNvPr id="18" name="Image 2" descr="preencoded.png">    </p:cNvPr>
          <p:cNvPicPr>
            <a:picLocks noChangeAspect="1"/>
          </p:cNvPicPr>
          <p:nvPr/>
        </p:nvPicPr>
        <p:blipFill>
          <a:blip r:embed="rId3"/>
          <a:stretch>
            <a:fillRect/>
          </a:stretch>
        </p:blipFill>
        <p:spPr>
          <a:xfrm>
            <a:off x="880110" y="3751326"/>
            <a:ext cx="297180" cy="297180"/>
          </a:xfrm>
          <a:prstGeom prst="rect">
            <a:avLst/>
          </a:prstGeom>
        </p:spPr>
      </p:pic>
      <p:sp>
        <p:nvSpPr>
          <p:cNvPr id="19" name="Text 13"/>
          <p:cNvSpPr txBox="1"/>
          <p:nvPr/>
        </p:nvSpPr>
        <p:spPr>
          <a:xfrm>
            <a:off x="1508760" y="3529584"/>
            <a:ext cx="3108960" cy="320040"/>
          </a:xfrm>
          <a:prstGeom prst="rect">
            <a:avLst/>
          </a:prstGeom>
          <a:noFill/>
          <a:ln/>
        </p:spPr>
        <p:txBody>
          <a:bodyPr wrap="square" lIns="0" tIns="0" rIns="0" bIns="0" rtlCol="0" anchor="ctr"/>
          <a:lstStyle/>
          <a:p>
            <a:pPr indent="0" marL="0">
              <a:buNone/>
            </a:pPr>
            <a:r>
              <a:rPr lang="en-US" sz="1500" b="1" dirty="0">
                <a:solidFill>
                  <a:srgbClr val="1B2B3A"/>
                </a:solidFill>
                <a:latin typeface="Calibri" pitchFamily="34" charset="0"/>
                <a:ea typeface="Calibri" pitchFamily="34" charset="-122"/>
                <a:cs typeface="Calibri" pitchFamily="34" charset="-120"/>
              </a:rPr>
              <a:t>Confidence</a:t>
            </a:r>
            <a:endParaRPr lang="en-US" sz="1500" dirty="0"/>
          </a:p>
        </p:txBody>
      </p:sp>
      <p:sp>
        <p:nvSpPr>
          <p:cNvPr id="20" name="Text 14"/>
          <p:cNvSpPr txBox="1"/>
          <p:nvPr/>
        </p:nvSpPr>
        <p:spPr>
          <a:xfrm>
            <a:off x="1508760" y="3877056"/>
            <a:ext cx="3108960" cy="457200"/>
          </a:xfrm>
          <a:prstGeom prst="rect">
            <a:avLst/>
          </a:prstGeom>
          <a:noFill/>
          <a:ln/>
        </p:spPr>
        <p:txBody>
          <a:bodyPr wrap="square" lIns="0" tIns="0" rIns="0" bIns="0" rtlCol="0" anchor="t"/>
          <a:lstStyle/>
          <a:p>
            <a:pPr indent="0" marL="0">
              <a:buNone/>
            </a:pPr>
            <a:r>
              <a:rPr lang="en-US" sz="1200" dirty="0">
                <a:solidFill>
                  <a:srgbClr val="5B6B7B"/>
                </a:solidFill>
                <a:latin typeface="Calibri" pitchFamily="34" charset="0"/>
                <a:ea typeface="Calibri" pitchFamily="34" charset="-122"/>
                <a:cs typeface="Calibri" pitchFamily="34" charset="-120"/>
              </a:rPr>
              <a:t>The share of votes becomes the class probability.</a:t>
            </a:r>
            <a:endParaRPr lang="en-US" sz="1200" dirty="0"/>
          </a:p>
        </p:txBody>
      </p:sp>
      <p:sp>
        <p:nvSpPr>
          <p:cNvPr id="21" name="Text 15"/>
          <p:cNvSpPr txBox="1"/>
          <p:nvPr/>
        </p:nvSpPr>
        <p:spPr>
          <a:xfrm>
            <a:off x="5120640" y="1188720"/>
            <a:ext cx="3474720" cy="320040"/>
          </a:xfrm>
          <a:prstGeom prst="rect">
            <a:avLst/>
          </a:prstGeom>
          <a:noFill/>
          <a:ln/>
        </p:spPr>
        <p:txBody>
          <a:bodyPr wrap="square" lIns="0" tIns="0" rIns="0" bIns="0" rtlCol="0" anchor="ctr"/>
          <a:lstStyle/>
          <a:p>
            <a:pPr indent="0" marL="0">
              <a:buNone/>
            </a:pPr>
            <a:r>
              <a:rPr lang="en-US" sz="1500" b="1" dirty="0">
                <a:solidFill>
                  <a:srgbClr val="1B2B3A"/>
                </a:solidFill>
                <a:latin typeface="Calibri" pitchFamily="34" charset="0"/>
                <a:ea typeface="Calibri" pitchFamily="34" charset="-122"/>
                <a:cs typeface="Calibri" pitchFamily="34" charset="-120"/>
              </a:rPr>
              <a:t>Training configuration</a:t>
            </a:r>
            <a:endParaRPr lang="en-US" sz="15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120640" y="1600200"/>
          <a:ext cx="3474720" cy="914400"/>
        </p:xfrm>
        <a:graphic>
          <a:graphicData uri="http://schemas.openxmlformats.org/drawingml/2006/table">
            <a:tbl>
              <a:tblPr/>
              <a:tblGrid>
                <a:gridCol w="2011680"/>
                <a:gridCol w="1463040"/>
              </a:tblGrid>
              <a:tr h="36576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Setting</a:t>
                      </a:r>
                      <a:endParaRPr lang="en-US" sz="1200" dirty="0">
                        <a:latin typeface="Calibri" charset="0"/>
                        <a:ea typeface="Calibri" charset="0"/>
                        <a:cs typeface="Calibri" charset="0"/>
                      </a:endParaRPr>
                    </a:p>
                  </a:txBody>
                  <a:tcPr marL="91440" marR="91440" marT="36576" marB="36576" anchor="ctr">
                    <a:lnL w="6350" cap="flat" cmpd="sng" algn="ctr">
                      <a:solidFill>
                        <a:srgbClr val="E1E8EF"/>
                      </a:solidFill>
                      <a:prstDash val="solid"/>
                      <a:round/>
                      <a:headEnd type="none" w="med" len="med"/>
                      <a:tailEnd type="none" w="med" len="med"/>
                    </a:lnL>
                    <a:lnR w="6350" cap="flat" cmpd="sng" algn="ctr">
                      <a:solidFill>
                        <a:srgbClr val="E1E8EF"/>
                      </a:solidFill>
                      <a:prstDash val="solid"/>
                      <a:round/>
                      <a:headEnd type="none" w="med" len="med"/>
                      <a:tailEnd type="none" w="med" len="med"/>
                    </a:lnR>
                    <a:lnT w="6350" cap="flat" cmpd="sng" algn="ctr">
                      <a:solidFill>
                        <a:srgbClr val="E1E8EF"/>
                      </a:solidFill>
                      <a:prstDash val="solid"/>
                      <a:round/>
                      <a:headEnd type="none" w="med" len="med"/>
                      <a:tailEnd type="none" w="med" len="med"/>
                    </a:lnT>
                    <a:lnB w="6350" cap="flat" cmpd="sng" algn="ctr">
                      <a:solidFill>
                        <a:srgbClr val="E1E8EF"/>
                      </a:solidFill>
                      <a:prstDash val="solid"/>
                      <a:round/>
                      <a:headEnd type="none" w="med" len="med"/>
                      <a:tailEnd type="none" w="med" len="med"/>
                    </a:lnB>
                    <a:solidFill>
                      <a:srgbClr val="0F2A47"/>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Value</a:t>
                      </a:r>
                      <a:endParaRPr lang="en-US" sz="1200" dirty="0">
                        <a:latin typeface="Calibri" charset="0"/>
                        <a:ea typeface="Calibri" charset="0"/>
                        <a:cs typeface="Calibri" charset="0"/>
                      </a:endParaRPr>
                    </a:p>
                  </a:txBody>
                  <a:tcPr marL="91440" marR="91440" marT="36576" marB="36576" anchor="ctr">
                    <a:lnL w="6350" cap="flat" cmpd="sng" algn="ctr">
                      <a:solidFill>
                        <a:srgbClr val="E1E8EF"/>
                      </a:solidFill>
                      <a:prstDash val="solid"/>
                      <a:round/>
                      <a:headEnd type="none" w="med" len="med"/>
                      <a:tailEnd type="none" w="med" len="med"/>
                    </a:lnL>
                    <a:lnR w="6350" cap="flat" cmpd="sng" algn="ctr">
                      <a:solidFill>
                        <a:srgbClr val="E1E8EF"/>
                      </a:solidFill>
                      <a:prstDash val="solid"/>
                      <a:round/>
                      <a:headEnd type="none" w="med" len="med"/>
                      <a:tailEnd type="none" w="med" len="med"/>
                    </a:lnR>
                    <a:lnT w="6350" cap="flat" cmpd="sng" algn="ctr">
                      <a:solidFill>
                        <a:srgbClr val="E1E8EF"/>
                      </a:solidFill>
                      <a:prstDash val="solid"/>
                      <a:round/>
                      <a:headEnd type="none" w="med" len="med"/>
                      <a:tailEnd type="none" w="med" len="med"/>
                    </a:lnT>
                    <a:lnB w="6350" cap="flat" cmpd="sng" algn="ctr">
                      <a:solidFill>
                        <a:srgbClr val="E1E8EF"/>
                      </a:solidFill>
                      <a:prstDash val="solid"/>
                      <a:round/>
                      <a:headEnd type="none" w="med" len="med"/>
                      <a:tailEnd type="none" w="med" len="med"/>
                    </a:lnB>
                    <a:solidFill>
                      <a:srgbClr val="0F2A47"/>
                    </a:solidFill>
                  </a:tcPr>
                </a:tc>
              </a:tr>
              <a:tr h="365760">
                <a:tc>
                  <a:txBody>
                    <a:bodyPr/>
                    <a:lstStyle/>
                    <a:p>
                      <a:pPr indent="0" marL="0">
                        <a:buNone/>
                      </a:pPr>
                      <a:r>
                        <a:rPr lang="en-US" sz="1200" dirty="0">
                          <a:solidFill>
                            <a:srgbClr val="1B2B3A"/>
                          </a:solidFill>
                          <a:latin typeface="Calibri" pitchFamily="34" charset="0"/>
                          <a:ea typeface="Calibri" pitchFamily="34" charset="-122"/>
                          <a:cs typeface="Calibri" pitchFamily="34" charset="-120"/>
                        </a:rPr>
                        <a:t>Trees (n_estimators)</a:t>
                      </a:r>
                      <a:endParaRPr lang="en-US" sz="1200" dirty="0">
                        <a:latin typeface="Calibri" charset="0"/>
                        <a:ea typeface="Calibri" charset="0"/>
                        <a:cs typeface="Calibri" charset="0"/>
                      </a:endParaRPr>
                    </a:p>
                  </a:txBody>
                  <a:tcPr marL="91440" marR="91440" marT="36576" marB="36576" anchor="ctr">
                    <a:lnL w="6350" cap="flat" cmpd="sng" algn="ctr">
                      <a:solidFill>
                        <a:srgbClr val="E1E8EF"/>
                      </a:solidFill>
                      <a:prstDash val="solid"/>
                      <a:round/>
                      <a:headEnd type="none" w="med" len="med"/>
                      <a:tailEnd type="none" w="med" len="med"/>
                    </a:lnL>
                    <a:lnR w="6350" cap="flat" cmpd="sng" algn="ctr">
                      <a:solidFill>
                        <a:srgbClr val="E1E8EF"/>
                      </a:solidFill>
                      <a:prstDash val="solid"/>
                      <a:round/>
                      <a:headEnd type="none" w="med" len="med"/>
                      <a:tailEnd type="none" w="med" len="med"/>
                    </a:lnR>
                    <a:lnT w="6350" cap="flat" cmpd="sng" algn="ctr">
                      <a:solidFill>
                        <a:srgbClr val="E1E8EF"/>
                      </a:solidFill>
                      <a:prstDash val="solid"/>
                      <a:round/>
                      <a:headEnd type="none" w="med" len="med"/>
                      <a:tailEnd type="none" w="med" len="med"/>
                    </a:lnT>
                    <a:lnB w="6350" cap="flat" cmpd="sng" algn="ctr">
                      <a:solidFill>
                        <a:srgbClr val="E1E8EF"/>
                      </a:solidFill>
                      <a:prstDash val="solid"/>
                      <a:round/>
                      <a:headEnd type="none" w="med" len="med"/>
                      <a:tailEnd type="none" w="med" len="med"/>
                    </a:lnB>
                    <a:solidFill>
                      <a:srgbClr val="FFFFFF"/>
                    </a:solidFill>
                  </a:tcPr>
                </a:tc>
                <a:tc>
                  <a:txBody>
                    <a:bodyPr/>
                    <a:lstStyle/>
                    <a:p>
                      <a:pPr indent="0" marL="0">
                        <a:buNone/>
                      </a:pPr>
                      <a:r>
                        <a:rPr lang="en-US" sz="1200" dirty="0">
                          <a:solidFill>
                            <a:srgbClr val="1B2B3A"/>
                          </a:solidFill>
                          <a:latin typeface="Calibri" pitchFamily="34" charset="0"/>
                          <a:ea typeface="Calibri" pitchFamily="34" charset="-122"/>
                          <a:cs typeface="Calibri" pitchFamily="34" charset="-120"/>
                        </a:rPr>
                        <a:t>300</a:t>
                      </a:r>
                      <a:endParaRPr lang="en-US" sz="1200" dirty="0">
                        <a:latin typeface="Calibri" charset="0"/>
                        <a:ea typeface="Calibri" charset="0"/>
                        <a:cs typeface="Calibri" charset="0"/>
                      </a:endParaRPr>
                    </a:p>
                  </a:txBody>
                  <a:tcPr marL="91440" marR="91440" marT="36576" marB="36576" anchor="ctr">
                    <a:lnL w="6350" cap="flat" cmpd="sng" algn="ctr">
                      <a:solidFill>
                        <a:srgbClr val="E1E8EF"/>
                      </a:solidFill>
                      <a:prstDash val="solid"/>
                      <a:round/>
                      <a:headEnd type="none" w="med" len="med"/>
                      <a:tailEnd type="none" w="med" len="med"/>
                    </a:lnL>
                    <a:lnR w="6350" cap="flat" cmpd="sng" algn="ctr">
                      <a:solidFill>
                        <a:srgbClr val="E1E8EF"/>
                      </a:solidFill>
                      <a:prstDash val="solid"/>
                      <a:round/>
                      <a:headEnd type="none" w="med" len="med"/>
                      <a:tailEnd type="none" w="med" len="med"/>
                    </a:lnR>
                    <a:lnT w="6350" cap="flat" cmpd="sng" algn="ctr">
                      <a:solidFill>
                        <a:srgbClr val="E1E8EF"/>
                      </a:solidFill>
                      <a:prstDash val="solid"/>
                      <a:round/>
                      <a:headEnd type="none" w="med" len="med"/>
                      <a:tailEnd type="none" w="med" len="med"/>
                    </a:lnT>
                    <a:lnB w="6350" cap="flat" cmpd="sng" algn="ctr">
                      <a:solidFill>
                        <a:srgbClr val="E1E8EF"/>
                      </a:solidFill>
                      <a:prstDash val="solid"/>
                      <a:round/>
                      <a:headEnd type="none" w="med" len="med"/>
                      <a:tailEnd type="none" w="med" len="med"/>
                    </a:lnB>
                    <a:solidFill>
                      <a:srgbClr val="FFFFFF"/>
                    </a:solidFill>
                  </a:tcPr>
                </a:tc>
              </a:tr>
              <a:tr h="365760">
                <a:tc>
                  <a:txBody>
                    <a:bodyPr/>
                    <a:lstStyle/>
                    <a:p>
                      <a:pPr indent="0" marL="0">
                        <a:buNone/>
                      </a:pPr>
                      <a:r>
                        <a:rPr lang="en-US" sz="1200" dirty="0">
                          <a:solidFill>
                            <a:srgbClr val="1B2B3A"/>
                          </a:solidFill>
                          <a:latin typeface="Calibri" pitchFamily="34" charset="0"/>
                          <a:ea typeface="Calibri" pitchFamily="34" charset="-122"/>
                          <a:cs typeface="Calibri" pitchFamily="34" charset="-120"/>
                        </a:rPr>
                        <a:t>Maximum depth</a:t>
                      </a:r>
                      <a:endParaRPr lang="en-US" sz="1200" dirty="0">
                        <a:latin typeface="Calibri" charset="0"/>
                        <a:ea typeface="Calibri" charset="0"/>
                        <a:cs typeface="Calibri" charset="0"/>
                      </a:endParaRPr>
                    </a:p>
                  </a:txBody>
                  <a:tcPr marL="91440" marR="91440" marT="36576" marB="36576" anchor="ctr">
                    <a:lnL w="6350" cap="flat" cmpd="sng" algn="ctr">
                      <a:solidFill>
                        <a:srgbClr val="E1E8EF"/>
                      </a:solidFill>
                      <a:prstDash val="solid"/>
                      <a:round/>
                      <a:headEnd type="none" w="med" len="med"/>
                      <a:tailEnd type="none" w="med" len="med"/>
                    </a:lnL>
                    <a:lnR w="6350" cap="flat" cmpd="sng" algn="ctr">
                      <a:solidFill>
                        <a:srgbClr val="E1E8EF"/>
                      </a:solidFill>
                      <a:prstDash val="solid"/>
                      <a:round/>
                      <a:headEnd type="none" w="med" len="med"/>
                      <a:tailEnd type="none" w="med" len="med"/>
                    </a:lnR>
                    <a:lnT w="6350" cap="flat" cmpd="sng" algn="ctr">
                      <a:solidFill>
                        <a:srgbClr val="E1E8EF"/>
                      </a:solidFill>
                      <a:prstDash val="solid"/>
                      <a:round/>
                      <a:headEnd type="none" w="med" len="med"/>
                      <a:tailEnd type="none" w="med" len="med"/>
                    </a:lnT>
                    <a:lnB w="6350" cap="flat" cmpd="sng" algn="ctr">
                      <a:solidFill>
                        <a:srgbClr val="E1E8EF"/>
                      </a:solidFill>
                      <a:prstDash val="solid"/>
                      <a:round/>
                      <a:headEnd type="none" w="med" len="med"/>
                      <a:tailEnd type="none" w="med" len="med"/>
                    </a:lnB>
                    <a:solidFill>
                      <a:srgbClr val="EEF3F8"/>
                    </a:solidFill>
                  </a:tcPr>
                </a:tc>
                <a:tc>
                  <a:txBody>
                    <a:bodyPr/>
                    <a:lstStyle/>
                    <a:p>
                      <a:pPr indent="0" marL="0">
                        <a:buNone/>
                      </a:pPr>
                      <a:r>
                        <a:rPr lang="en-US" sz="1200" dirty="0">
                          <a:solidFill>
                            <a:srgbClr val="1B2B3A"/>
                          </a:solidFill>
                          <a:latin typeface="Calibri" pitchFamily="34" charset="0"/>
                          <a:ea typeface="Calibri" pitchFamily="34" charset="-122"/>
                          <a:cs typeface="Calibri" pitchFamily="34" charset="-120"/>
                        </a:rPr>
                        <a:t>None</a:t>
                      </a:r>
                      <a:endParaRPr lang="en-US" sz="1200" dirty="0">
                        <a:latin typeface="Calibri" charset="0"/>
                        <a:ea typeface="Calibri" charset="0"/>
                        <a:cs typeface="Calibri" charset="0"/>
                      </a:endParaRPr>
                    </a:p>
                  </a:txBody>
                  <a:tcPr marL="91440" marR="91440" marT="36576" marB="36576" anchor="ctr">
                    <a:lnL w="6350" cap="flat" cmpd="sng" algn="ctr">
                      <a:solidFill>
                        <a:srgbClr val="E1E8EF"/>
                      </a:solidFill>
                      <a:prstDash val="solid"/>
                      <a:round/>
                      <a:headEnd type="none" w="med" len="med"/>
                      <a:tailEnd type="none" w="med" len="med"/>
                    </a:lnL>
                    <a:lnR w="6350" cap="flat" cmpd="sng" algn="ctr">
                      <a:solidFill>
                        <a:srgbClr val="E1E8EF"/>
                      </a:solidFill>
                      <a:prstDash val="solid"/>
                      <a:round/>
                      <a:headEnd type="none" w="med" len="med"/>
                      <a:tailEnd type="none" w="med" len="med"/>
                    </a:lnR>
                    <a:lnT w="6350" cap="flat" cmpd="sng" algn="ctr">
                      <a:solidFill>
                        <a:srgbClr val="E1E8EF"/>
                      </a:solidFill>
                      <a:prstDash val="solid"/>
                      <a:round/>
                      <a:headEnd type="none" w="med" len="med"/>
                      <a:tailEnd type="none" w="med" len="med"/>
                    </a:lnT>
                    <a:lnB w="6350" cap="flat" cmpd="sng" algn="ctr">
                      <a:solidFill>
                        <a:srgbClr val="E1E8EF"/>
                      </a:solidFill>
                      <a:prstDash val="solid"/>
                      <a:round/>
                      <a:headEnd type="none" w="med" len="med"/>
                      <a:tailEnd type="none" w="med" len="med"/>
                    </a:lnB>
                    <a:solidFill>
                      <a:srgbClr val="EEF3F8"/>
                    </a:solidFill>
                  </a:tcPr>
                </a:tc>
              </a:tr>
              <a:tr h="365760">
                <a:tc>
                  <a:txBody>
                    <a:bodyPr/>
                    <a:lstStyle/>
                    <a:p>
                      <a:pPr indent="0" marL="0">
                        <a:buNone/>
                      </a:pPr>
                      <a:r>
                        <a:rPr lang="en-US" sz="1200" dirty="0">
                          <a:solidFill>
                            <a:srgbClr val="1B2B3A"/>
                          </a:solidFill>
                          <a:latin typeface="Calibri" pitchFamily="34" charset="0"/>
                          <a:ea typeface="Calibri" pitchFamily="34" charset="-122"/>
                          <a:cs typeface="Calibri" pitchFamily="34" charset="-120"/>
                        </a:rPr>
                        <a:t>Class weights</a:t>
                      </a:r>
                      <a:endParaRPr lang="en-US" sz="1200" dirty="0">
                        <a:latin typeface="Calibri" charset="0"/>
                        <a:ea typeface="Calibri" charset="0"/>
                        <a:cs typeface="Calibri" charset="0"/>
                      </a:endParaRPr>
                    </a:p>
                  </a:txBody>
                  <a:tcPr marL="91440" marR="91440" marT="36576" marB="36576" anchor="ctr">
                    <a:lnL w="6350" cap="flat" cmpd="sng" algn="ctr">
                      <a:solidFill>
                        <a:srgbClr val="E1E8EF"/>
                      </a:solidFill>
                      <a:prstDash val="solid"/>
                      <a:round/>
                      <a:headEnd type="none" w="med" len="med"/>
                      <a:tailEnd type="none" w="med" len="med"/>
                    </a:lnL>
                    <a:lnR w="6350" cap="flat" cmpd="sng" algn="ctr">
                      <a:solidFill>
                        <a:srgbClr val="E1E8EF"/>
                      </a:solidFill>
                      <a:prstDash val="solid"/>
                      <a:round/>
                      <a:headEnd type="none" w="med" len="med"/>
                      <a:tailEnd type="none" w="med" len="med"/>
                    </a:lnR>
                    <a:lnT w="6350" cap="flat" cmpd="sng" algn="ctr">
                      <a:solidFill>
                        <a:srgbClr val="E1E8EF"/>
                      </a:solidFill>
                      <a:prstDash val="solid"/>
                      <a:round/>
                      <a:headEnd type="none" w="med" len="med"/>
                      <a:tailEnd type="none" w="med" len="med"/>
                    </a:lnT>
                    <a:lnB w="6350" cap="flat" cmpd="sng" algn="ctr">
                      <a:solidFill>
                        <a:srgbClr val="E1E8EF"/>
                      </a:solidFill>
                      <a:prstDash val="solid"/>
                      <a:round/>
                      <a:headEnd type="none" w="med" len="med"/>
                      <a:tailEnd type="none" w="med" len="med"/>
                    </a:lnB>
                    <a:solidFill>
                      <a:srgbClr val="FFFFFF"/>
                    </a:solidFill>
                  </a:tcPr>
                </a:tc>
                <a:tc>
                  <a:txBody>
                    <a:bodyPr/>
                    <a:lstStyle/>
                    <a:p>
                      <a:pPr indent="0" marL="0">
                        <a:buNone/>
                      </a:pPr>
                      <a:r>
                        <a:rPr lang="en-US" sz="1200" dirty="0">
                          <a:solidFill>
                            <a:srgbClr val="1B2B3A"/>
                          </a:solidFill>
                          <a:latin typeface="Calibri" pitchFamily="34" charset="0"/>
                          <a:ea typeface="Calibri" pitchFamily="34" charset="-122"/>
                          <a:cs typeface="Calibri" pitchFamily="34" charset="-120"/>
                        </a:rPr>
                        <a:t>balanced</a:t>
                      </a:r>
                      <a:endParaRPr lang="en-US" sz="1200" dirty="0">
                        <a:latin typeface="Calibri" charset="0"/>
                        <a:ea typeface="Calibri" charset="0"/>
                        <a:cs typeface="Calibri" charset="0"/>
                      </a:endParaRPr>
                    </a:p>
                  </a:txBody>
                  <a:tcPr marL="91440" marR="91440" marT="36576" marB="36576" anchor="ctr">
                    <a:lnL w="6350" cap="flat" cmpd="sng" algn="ctr">
                      <a:solidFill>
                        <a:srgbClr val="E1E8EF"/>
                      </a:solidFill>
                      <a:prstDash val="solid"/>
                      <a:round/>
                      <a:headEnd type="none" w="med" len="med"/>
                      <a:tailEnd type="none" w="med" len="med"/>
                    </a:lnL>
                    <a:lnR w="6350" cap="flat" cmpd="sng" algn="ctr">
                      <a:solidFill>
                        <a:srgbClr val="E1E8EF"/>
                      </a:solidFill>
                      <a:prstDash val="solid"/>
                      <a:round/>
                      <a:headEnd type="none" w="med" len="med"/>
                      <a:tailEnd type="none" w="med" len="med"/>
                    </a:lnR>
                    <a:lnT w="6350" cap="flat" cmpd="sng" algn="ctr">
                      <a:solidFill>
                        <a:srgbClr val="E1E8EF"/>
                      </a:solidFill>
                      <a:prstDash val="solid"/>
                      <a:round/>
                      <a:headEnd type="none" w="med" len="med"/>
                      <a:tailEnd type="none" w="med" len="med"/>
                    </a:lnT>
                    <a:lnB w="6350" cap="flat" cmpd="sng" algn="ctr">
                      <a:solidFill>
                        <a:srgbClr val="E1E8EF"/>
                      </a:solidFill>
                      <a:prstDash val="solid"/>
                      <a:round/>
                      <a:headEnd type="none" w="med" len="med"/>
                      <a:tailEnd type="none" w="med" len="med"/>
                    </a:lnB>
                    <a:solidFill>
                      <a:srgbClr val="FFFFFF"/>
                    </a:solidFill>
                  </a:tcPr>
                </a:tc>
              </a:tr>
              <a:tr h="365760">
                <a:tc>
                  <a:txBody>
                    <a:bodyPr/>
                    <a:lstStyle/>
                    <a:p>
                      <a:pPr indent="0" marL="0">
                        <a:buNone/>
                      </a:pPr>
                      <a:r>
                        <a:rPr lang="en-US" sz="1200" dirty="0">
                          <a:solidFill>
                            <a:srgbClr val="1B2B3A"/>
                          </a:solidFill>
                          <a:latin typeface="Calibri" pitchFamily="34" charset="0"/>
                          <a:ea typeface="Calibri" pitchFamily="34" charset="-122"/>
                          <a:cs typeface="Calibri" pitchFamily="34" charset="-120"/>
                        </a:rPr>
                        <a:t>Random seed</a:t>
                      </a:r>
                      <a:endParaRPr lang="en-US" sz="1200" dirty="0">
                        <a:latin typeface="Calibri" charset="0"/>
                        <a:ea typeface="Calibri" charset="0"/>
                        <a:cs typeface="Calibri" charset="0"/>
                      </a:endParaRPr>
                    </a:p>
                  </a:txBody>
                  <a:tcPr marL="91440" marR="91440" marT="36576" marB="36576" anchor="ctr">
                    <a:lnL w="6350" cap="flat" cmpd="sng" algn="ctr">
                      <a:solidFill>
                        <a:srgbClr val="E1E8EF"/>
                      </a:solidFill>
                      <a:prstDash val="solid"/>
                      <a:round/>
                      <a:headEnd type="none" w="med" len="med"/>
                      <a:tailEnd type="none" w="med" len="med"/>
                    </a:lnL>
                    <a:lnR w="6350" cap="flat" cmpd="sng" algn="ctr">
                      <a:solidFill>
                        <a:srgbClr val="E1E8EF"/>
                      </a:solidFill>
                      <a:prstDash val="solid"/>
                      <a:round/>
                      <a:headEnd type="none" w="med" len="med"/>
                      <a:tailEnd type="none" w="med" len="med"/>
                    </a:lnR>
                    <a:lnT w="6350" cap="flat" cmpd="sng" algn="ctr">
                      <a:solidFill>
                        <a:srgbClr val="E1E8EF"/>
                      </a:solidFill>
                      <a:prstDash val="solid"/>
                      <a:round/>
                      <a:headEnd type="none" w="med" len="med"/>
                      <a:tailEnd type="none" w="med" len="med"/>
                    </a:lnT>
                    <a:lnB w="6350" cap="flat" cmpd="sng" algn="ctr">
                      <a:solidFill>
                        <a:srgbClr val="E1E8EF"/>
                      </a:solidFill>
                      <a:prstDash val="solid"/>
                      <a:round/>
                      <a:headEnd type="none" w="med" len="med"/>
                      <a:tailEnd type="none" w="med" len="med"/>
                    </a:lnB>
                    <a:solidFill>
                      <a:srgbClr val="EEF3F8"/>
                    </a:solidFill>
                  </a:tcPr>
                </a:tc>
                <a:tc>
                  <a:txBody>
                    <a:bodyPr/>
                    <a:lstStyle/>
                    <a:p>
                      <a:pPr indent="0" marL="0">
                        <a:buNone/>
                      </a:pPr>
                      <a:r>
                        <a:rPr lang="en-US" sz="1200" dirty="0">
                          <a:solidFill>
                            <a:srgbClr val="1B2B3A"/>
                          </a:solidFill>
                          <a:latin typeface="Calibri" pitchFamily="34" charset="0"/>
                          <a:ea typeface="Calibri" pitchFamily="34" charset="-122"/>
                          <a:cs typeface="Calibri" pitchFamily="34" charset="-120"/>
                        </a:rPr>
                        <a:t>42</a:t>
                      </a:r>
                      <a:endParaRPr lang="en-US" sz="1200" dirty="0">
                        <a:latin typeface="Calibri" charset="0"/>
                        <a:ea typeface="Calibri" charset="0"/>
                        <a:cs typeface="Calibri" charset="0"/>
                      </a:endParaRPr>
                    </a:p>
                  </a:txBody>
                  <a:tcPr marL="91440" marR="91440" marT="36576" marB="36576" anchor="ctr">
                    <a:lnL w="6350" cap="flat" cmpd="sng" algn="ctr">
                      <a:solidFill>
                        <a:srgbClr val="E1E8EF"/>
                      </a:solidFill>
                      <a:prstDash val="solid"/>
                      <a:round/>
                      <a:headEnd type="none" w="med" len="med"/>
                      <a:tailEnd type="none" w="med" len="med"/>
                    </a:lnL>
                    <a:lnR w="6350" cap="flat" cmpd="sng" algn="ctr">
                      <a:solidFill>
                        <a:srgbClr val="E1E8EF"/>
                      </a:solidFill>
                      <a:prstDash val="solid"/>
                      <a:round/>
                      <a:headEnd type="none" w="med" len="med"/>
                      <a:tailEnd type="none" w="med" len="med"/>
                    </a:lnR>
                    <a:lnT w="6350" cap="flat" cmpd="sng" algn="ctr">
                      <a:solidFill>
                        <a:srgbClr val="E1E8EF"/>
                      </a:solidFill>
                      <a:prstDash val="solid"/>
                      <a:round/>
                      <a:headEnd type="none" w="med" len="med"/>
                      <a:tailEnd type="none" w="med" len="med"/>
                    </a:lnT>
                    <a:lnB w="6350" cap="flat" cmpd="sng" algn="ctr">
                      <a:solidFill>
                        <a:srgbClr val="E1E8EF"/>
                      </a:solidFill>
                      <a:prstDash val="solid"/>
                      <a:round/>
                      <a:headEnd type="none" w="med" len="med"/>
                      <a:tailEnd type="none" w="med" len="med"/>
                    </a:lnB>
                    <a:solidFill>
                      <a:srgbClr val="EEF3F8"/>
                    </a:solidFill>
                  </a:tcPr>
                </a:tc>
              </a:tr>
              <a:tr h="365760">
                <a:tc>
                  <a:txBody>
                    <a:bodyPr/>
                    <a:lstStyle/>
                    <a:p>
                      <a:pPr indent="0" marL="0">
                        <a:buNone/>
                      </a:pPr>
                      <a:r>
                        <a:rPr lang="en-US" sz="1200" dirty="0">
                          <a:solidFill>
                            <a:srgbClr val="1B2B3A"/>
                          </a:solidFill>
                          <a:latin typeface="Calibri" pitchFamily="34" charset="0"/>
                          <a:ea typeface="Calibri" pitchFamily="34" charset="-122"/>
                          <a:cs typeface="Calibri" pitchFamily="34" charset="-120"/>
                        </a:rPr>
                        <a:t>Train / test split</a:t>
                      </a:r>
                      <a:endParaRPr lang="en-US" sz="1200" dirty="0">
                        <a:latin typeface="Calibri" charset="0"/>
                        <a:ea typeface="Calibri" charset="0"/>
                        <a:cs typeface="Calibri" charset="0"/>
                      </a:endParaRPr>
                    </a:p>
                  </a:txBody>
                  <a:tcPr marL="91440" marR="91440" marT="36576" marB="36576" anchor="ctr">
                    <a:lnL w="6350" cap="flat" cmpd="sng" algn="ctr">
                      <a:solidFill>
                        <a:srgbClr val="E1E8EF"/>
                      </a:solidFill>
                      <a:prstDash val="solid"/>
                      <a:round/>
                      <a:headEnd type="none" w="med" len="med"/>
                      <a:tailEnd type="none" w="med" len="med"/>
                    </a:lnL>
                    <a:lnR w="6350" cap="flat" cmpd="sng" algn="ctr">
                      <a:solidFill>
                        <a:srgbClr val="E1E8EF"/>
                      </a:solidFill>
                      <a:prstDash val="solid"/>
                      <a:round/>
                      <a:headEnd type="none" w="med" len="med"/>
                      <a:tailEnd type="none" w="med" len="med"/>
                    </a:lnR>
                    <a:lnT w="6350" cap="flat" cmpd="sng" algn="ctr">
                      <a:solidFill>
                        <a:srgbClr val="E1E8EF"/>
                      </a:solidFill>
                      <a:prstDash val="solid"/>
                      <a:round/>
                      <a:headEnd type="none" w="med" len="med"/>
                      <a:tailEnd type="none" w="med" len="med"/>
                    </a:lnT>
                    <a:lnB w="6350" cap="flat" cmpd="sng" algn="ctr">
                      <a:solidFill>
                        <a:srgbClr val="E1E8EF"/>
                      </a:solidFill>
                      <a:prstDash val="solid"/>
                      <a:round/>
                      <a:headEnd type="none" w="med" len="med"/>
                      <a:tailEnd type="none" w="med" len="med"/>
                    </a:lnB>
                    <a:solidFill>
                      <a:srgbClr val="FFFFFF"/>
                    </a:solidFill>
                  </a:tcPr>
                </a:tc>
                <a:tc>
                  <a:txBody>
                    <a:bodyPr/>
                    <a:lstStyle/>
                    <a:p>
                      <a:pPr indent="0" marL="0">
                        <a:buNone/>
                      </a:pPr>
                      <a:r>
                        <a:rPr lang="en-US" sz="1200" dirty="0">
                          <a:solidFill>
                            <a:srgbClr val="1B2B3A"/>
                          </a:solidFill>
                          <a:latin typeface="Calibri" pitchFamily="34" charset="0"/>
                          <a:ea typeface="Calibri" pitchFamily="34" charset="-122"/>
                          <a:cs typeface="Calibri" pitchFamily="34" charset="-120"/>
                        </a:rPr>
                        <a:t>75% / 25%</a:t>
                      </a:r>
                      <a:endParaRPr lang="en-US" sz="1200" dirty="0">
                        <a:latin typeface="Calibri" charset="0"/>
                        <a:ea typeface="Calibri" charset="0"/>
                        <a:cs typeface="Calibri" charset="0"/>
                      </a:endParaRPr>
                    </a:p>
                  </a:txBody>
                  <a:tcPr marL="91440" marR="91440" marT="36576" marB="36576" anchor="ctr">
                    <a:lnL w="6350" cap="flat" cmpd="sng" algn="ctr">
                      <a:solidFill>
                        <a:srgbClr val="E1E8EF"/>
                      </a:solidFill>
                      <a:prstDash val="solid"/>
                      <a:round/>
                      <a:headEnd type="none" w="med" len="med"/>
                      <a:tailEnd type="none" w="med" len="med"/>
                    </a:lnL>
                    <a:lnR w="6350" cap="flat" cmpd="sng" algn="ctr">
                      <a:solidFill>
                        <a:srgbClr val="E1E8EF"/>
                      </a:solidFill>
                      <a:prstDash val="solid"/>
                      <a:round/>
                      <a:headEnd type="none" w="med" len="med"/>
                      <a:tailEnd type="none" w="med" len="med"/>
                    </a:lnR>
                    <a:lnT w="6350" cap="flat" cmpd="sng" algn="ctr">
                      <a:solidFill>
                        <a:srgbClr val="E1E8EF"/>
                      </a:solidFill>
                      <a:prstDash val="solid"/>
                      <a:round/>
                      <a:headEnd type="none" w="med" len="med"/>
                      <a:tailEnd type="none" w="med" len="med"/>
                    </a:lnT>
                    <a:lnB w="6350" cap="flat" cmpd="sng" algn="ctr">
                      <a:solidFill>
                        <a:srgbClr val="E1E8EF"/>
                      </a:solidFill>
                      <a:prstDash val="solid"/>
                      <a:round/>
                      <a:headEnd type="none" w="med" len="med"/>
                      <a:tailEnd type="none" w="med" len="med"/>
                    </a:lnB>
                    <a:solidFill>
                      <a:srgbClr val="FFFFFF"/>
                    </a:solidFill>
                  </a:tcPr>
                </a:tc>
              </a:tr>
              <a:tr h="365760">
                <a:tc>
                  <a:txBody>
                    <a:bodyPr/>
                    <a:lstStyle/>
                    <a:p>
                      <a:pPr indent="0" marL="0">
                        <a:buNone/>
                      </a:pPr>
                      <a:r>
                        <a:rPr lang="en-US" sz="1200" dirty="0">
                          <a:solidFill>
                            <a:srgbClr val="1B2B3A"/>
                          </a:solidFill>
                          <a:latin typeface="Calibri" pitchFamily="34" charset="0"/>
                          <a:ea typeface="Calibri" pitchFamily="34" charset="-122"/>
                          <a:cs typeface="Calibri" pitchFamily="34" charset="-120"/>
                        </a:rPr>
                        <a:t>Split type</a:t>
                      </a:r>
                      <a:endParaRPr lang="en-US" sz="1200" dirty="0">
                        <a:latin typeface="Calibri" charset="0"/>
                        <a:ea typeface="Calibri" charset="0"/>
                        <a:cs typeface="Calibri" charset="0"/>
                      </a:endParaRPr>
                    </a:p>
                  </a:txBody>
                  <a:tcPr marL="91440" marR="91440" marT="36576" marB="36576" anchor="ctr">
                    <a:lnL w="6350" cap="flat" cmpd="sng" algn="ctr">
                      <a:solidFill>
                        <a:srgbClr val="E1E8EF"/>
                      </a:solidFill>
                      <a:prstDash val="solid"/>
                      <a:round/>
                      <a:headEnd type="none" w="med" len="med"/>
                      <a:tailEnd type="none" w="med" len="med"/>
                    </a:lnL>
                    <a:lnR w="6350" cap="flat" cmpd="sng" algn="ctr">
                      <a:solidFill>
                        <a:srgbClr val="E1E8EF"/>
                      </a:solidFill>
                      <a:prstDash val="solid"/>
                      <a:round/>
                      <a:headEnd type="none" w="med" len="med"/>
                      <a:tailEnd type="none" w="med" len="med"/>
                    </a:lnR>
                    <a:lnT w="6350" cap="flat" cmpd="sng" algn="ctr">
                      <a:solidFill>
                        <a:srgbClr val="E1E8EF"/>
                      </a:solidFill>
                      <a:prstDash val="solid"/>
                      <a:round/>
                      <a:headEnd type="none" w="med" len="med"/>
                      <a:tailEnd type="none" w="med" len="med"/>
                    </a:lnT>
                    <a:lnB w="6350" cap="flat" cmpd="sng" algn="ctr">
                      <a:solidFill>
                        <a:srgbClr val="E1E8EF"/>
                      </a:solidFill>
                      <a:prstDash val="solid"/>
                      <a:round/>
                      <a:headEnd type="none" w="med" len="med"/>
                      <a:tailEnd type="none" w="med" len="med"/>
                    </a:lnB>
                    <a:solidFill>
                      <a:srgbClr val="EEF3F8"/>
                    </a:solidFill>
                  </a:tcPr>
                </a:tc>
                <a:tc>
                  <a:txBody>
                    <a:bodyPr/>
                    <a:lstStyle/>
                    <a:p>
                      <a:pPr indent="0" marL="0">
                        <a:buNone/>
                      </a:pPr>
                      <a:r>
                        <a:rPr lang="en-US" sz="1200" dirty="0">
                          <a:solidFill>
                            <a:srgbClr val="1B2B3A"/>
                          </a:solidFill>
                          <a:latin typeface="Calibri" pitchFamily="34" charset="0"/>
                          <a:ea typeface="Calibri" pitchFamily="34" charset="-122"/>
                          <a:cs typeface="Calibri" pitchFamily="34" charset="-120"/>
                        </a:rPr>
                        <a:t>Stratified by label</a:t>
                      </a:r>
                      <a:endParaRPr lang="en-US" sz="1200" dirty="0">
                        <a:latin typeface="Calibri" charset="0"/>
                        <a:ea typeface="Calibri" charset="0"/>
                        <a:cs typeface="Calibri" charset="0"/>
                      </a:endParaRPr>
                    </a:p>
                  </a:txBody>
                  <a:tcPr marL="91440" marR="91440" marT="36576" marB="36576" anchor="ctr">
                    <a:lnL w="6350" cap="flat" cmpd="sng" algn="ctr">
                      <a:solidFill>
                        <a:srgbClr val="E1E8EF"/>
                      </a:solidFill>
                      <a:prstDash val="solid"/>
                      <a:round/>
                      <a:headEnd type="none" w="med" len="med"/>
                      <a:tailEnd type="none" w="med" len="med"/>
                    </a:lnL>
                    <a:lnR w="6350" cap="flat" cmpd="sng" algn="ctr">
                      <a:solidFill>
                        <a:srgbClr val="E1E8EF"/>
                      </a:solidFill>
                      <a:prstDash val="solid"/>
                      <a:round/>
                      <a:headEnd type="none" w="med" len="med"/>
                      <a:tailEnd type="none" w="med" len="med"/>
                    </a:lnR>
                    <a:lnT w="6350" cap="flat" cmpd="sng" algn="ctr">
                      <a:solidFill>
                        <a:srgbClr val="E1E8EF"/>
                      </a:solidFill>
                      <a:prstDash val="solid"/>
                      <a:round/>
                      <a:headEnd type="none" w="med" len="med"/>
                      <a:tailEnd type="none" w="med" len="med"/>
                    </a:lnT>
                    <a:lnB w="6350" cap="flat" cmpd="sng" algn="ctr">
                      <a:solidFill>
                        <a:srgbClr val="E1E8EF"/>
                      </a:solidFill>
                      <a:prstDash val="solid"/>
                      <a:round/>
                      <a:headEnd type="none" w="med" len="med"/>
                      <a:tailEnd type="none" w="med" len="med"/>
                    </a:lnB>
                    <a:solidFill>
                      <a:srgbClr val="EEF3F8"/>
                    </a:solidFill>
                  </a:tcPr>
                </a:tc>
              </a:tr>
            </a:tbl>
          </a:graphicData>
        </a:graphic>
      </p:graphicFrame>
      <p:sp>
        <p:nvSpPr>
          <p:cNvPr id="23" name="Text 16"/>
          <p:cNvSpPr txBox="1"/>
          <p:nvPr/>
        </p:nvSpPr>
        <p:spPr>
          <a:xfrm>
            <a:off x="5120640" y="4251960"/>
            <a:ext cx="3474720" cy="502920"/>
          </a:xfrm>
          <a:prstGeom prst="rect">
            <a:avLst/>
          </a:prstGeom>
          <a:noFill/>
          <a:ln/>
        </p:spPr>
        <p:txBody>
          <a:bodyPr wrap="square" lIns="0" tIns="0" rIns="0" bIns="0" rtlCol="0" anchor="t"/>
          <a:lstStyle/>
          <a:p>
            <a:pPr indent="0" marL="0">
              <a:buNone/>
            </a:pPr>
            <a:r>
              <a:rPr lang="en-US" sz="1100" i="1" dirty="0">
                <a:solidFill>
                  <a:srgbClr val="5B6B7B"/>
                </a:solidFill>
                <a:latin typeface="Calibri" pitchFamily="34" charset="0"/>
                <a:ea typeface="Calibri" pitchFamily="34" charset="-122"/>
                <a:cs typeface="Calibri" pitchFamily="34" charset="-120"/>
              </a:rPr>
              <a:t>Why Random Forest: handles sparse plus numeric features, needs little tuning, and explains itself through feature importance.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6FA"/>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640080"/>
          </a:xfrm>
          <a:prstGeom prst="rect">
            <a:avLst/>
          </a:prstGeom>
          <a:noFill/>
          <a:ln/>
        </p:spPr>
        <p:txBody>
          <a:bodyPr wrap="square" lIns="0" tIns="0" rIns="0" bIns="0" rtlCol="0" anchor="ctr"/>
          <a:lstStyle/>
          <a:p>
            <a:pPr indent="0" marL="0">
              <a:buNone/>
            </a:pPr>
            <a:r>
              <a:rPr lang="en-US" sz="3200" b="1" dirty="0">
                <a:solidFill>
                  <a:srgbClr val="1B2B3A"/>
                </a:solidFill>
                <a:latin typeface="Cambria" pitchFamily="34" charset="0"/>
                <a:ea typeface="Cambria" pitchFamily="34" charset="-122"/>
                <a:cs typeface="Cambria" pitchFamily="34" charset="-120"/>
              </a:rPr>
              <a:t>Tools and technologies</a:t>
            </a:r>
            <a:endParaRPr lang="en-US" sz="3200" dirty="0"/>
          </a:p>
        </p:txBody>
      </p:sp>
      <p:sp>
        <p:nvSpPr>
          <p:cNvPr id="3" name="Text 1"/>
          <p:cNvSpPr txBox="1"/>
          <p:nvPr/>
        </p:nvSpPr>
        <p:spPr>
          <a:xfrm>
            <a:off x="548640" y="4846320"/>
            <a:ext cx="6400800" cy="201168"/>
          </a:xfrm>
          <a:prstGeom prst="rect">
            <a:avLst/>
          </a:prstGeom>
          <a:noFill/>
          <a:ln/>
        </p:spPr>
        <p:txBody>
          <a:bodyPr wrap="square" lIns="0" tIns="0" rIns="0" bIns="0" rtlCol="0" anchor="ctr"/>
          <a:lstStyle/>
          <a:p>
            <a:pPr indent="0" marL="0">
              <a:buNone/>
            </a:pPr>
            <a:r>
              <a:rPr lang="en-US" sz="900" dirty="0">
                <a:solidFill>
                  <a:srgbClr val="5B6B7B"/>
                </a:solidFill>
                <a:latin typeface="Calibri" pitchFamily="34" charset="0"/>
                <a:ea typeface="Calibri" pitchFamily="34" charset="-122"/>
                <a:cs typeface="Calibri" pitchFamily="34" charset="-120"/>
              </a:rPr>
              <a:t>Phishing Detection System  |  Aman Kumar Gautam  |  CS-2341642</a:t>
            </a:r>
            <a:endParaRPr lang="en-US" sz="900" dirty="0"/>
          </a:p>
        </p:txBody>
      </p:sp>
      <p:sp>
        <p:nvSpPr>
          <p:cNvPr id="4" name="Text 2"/>
          <p:cNvSpPr txBox="1"/>
          <p:nvPr/>
        </p:nvSpPr>
        <p:spPr>
          <a:xfrm>
            <a:off x="8138160" y="4846320"/>
            <a:ext cx="457200" cy="201168"/>
          </a:xfrm>
          <a:prstGeom prst="rect">
            <a:avLst/>
          </a:prstGeom>
          <a:noFill/>
          <a:ln/>
        </p:spPr>
        <p:txBody>
          <a:bodyPr wrap="square" lIns="0" tIns="0" rIns="0" bIns="0"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8</a:t>
            </a:r>
            <a:endParaRPr lang="en-US" sz="900" dirty="0"/>
          </a:p>
        </p:txBody>
      </p:sp>
      <p:sp>
        <p:nvSpPr>
          <p:cNvPr id="6" name="Shape 3"/>
          <p:cNvSpPr/>
          <p:nvPr/>
        </p:nvSpPr>
        <p:spPr>
          <a:xfrm>
            <a:off x="502920" y="1188720"/>
            <a:ext cx="2560320" cy="1325880"/>
          </a:xfrm>
          <a:prstGeom prst="roundRect">
            <a:avLst>
              <a:gd name="adj" fmla="val 8276"/>
            </a:avLst>
          </a:prstGeom>
          <a:solidFill>
            <a:srgbClr val="FFFFFF"/>
          </a:solidFill>
          <a:ln w="9525">
            <a:solidFill>
              <a:srgbClr val="E1E8EF"/>
            </a:solidFill>
            <a:prstDash val="solid"/>
          </a:ln>
          <a:effectLst>
            <a:outerShdw sx="100000" sy="100000" kx="0" ky="0" algn="bl" rotWithShape="0" blurRad="101600" dist="25400" dir="5400000">
              <a:srgbClr val="000000">
                <a:alpha val="12000"/>
              </a:srgbClr>
            </a:outerShdw>
          </a:effectLst>
        </p:spPr>
      </p:sp>
      <p:sp>
        <p:nvSpPr>
          <p:cNvPr id="7" name="Shape 4"/>
          <p:cNvSpPr/>
          <p:nvPr/>
        </p:nvSpPr>
        <p:spPr>
          <a:xfrm>
            <a:off x="685800" y="1371600"/>
            <a:ext cx="502920" cy="502920"/>
          </a:xfrm>
          <a:prstGeom prst="ellipse">
            <a:avLst/>
          </a:prstGeom>
          <a:solidFill>
            <a:srgbClr val="0F2A47"/>
          </a:solidFill>
          <a:ln w="12700">
            <a:solidFill>
              <a:srgbClr val="0F2A47"/>
            </a:solidFill>
            <a:prstDash val="solid"/>
          </a:ln>
        </p:spPr>
      </p:sp>
      <p:pic>
        <p:nvPicPr>
          <p:cNvPr id="8" name="Image 0" descr="preencoded.png">    </p:cNvPr>
          <p:cNvPicPr>
            <a:picLocks noChangeAspect="1"/>
          </p:cNvPicPr>
          <p:nvPr/>
        </p:nvPicPr>
        <p:blipFill>
          <a:blip r:embed="rId1"/>
          <a:stretch>
            <a:fillRect/>
          </a:stretch>
        </p:blipFill>
        <p:spPr>
          <a:xfrm>
            <a:off x="811530" y="1497330"/>
            <a:ext cx="251460" cy="251460"/>
          </a:xfrm>
          <a:prstGeom prst="rect">
            <a:avLst/>
          </a:prstGeom>
        </p:spPr>
      </p:pic>
      <p:sp>
        <p:nvSpPr>
          <p:cNvPr id="9" name="Text 5"/>
          <p:cNvSpPr txBox="1"/>
          <p:nvPr/>
        </p:nvSpPr>
        <p:spPr>
          <a:xfrm>
            <a:off x="1325880" y="1371600"/>
            <a:ext cx="1645920" cy="502920"/>
          </a:xfrm>
          <a:prstGeom prst="rect">
            <a:avLst/>
          </a:prstGeom>
          <a:noFill/>
          <a:ln/>
        </p:spPr>
        <p:txBody>
          <a:bodyPr wrap="square" lIns="0" tIns="0" rIns="0" bIns="0" rtlCol="0" anchor="ctr"/>
          <a:lstStyle/>
          <a:p>
            <a:pPr indent="0" marL="0">
              <a:buNone/>
            </a:pPr>
            <a:r>
              <a:rPr lang="en-US" sz="1400" b="1" dirty="0">
                <a:solidFill>
                  <a:srgbClr val="1B2B3A"/>
                </a:solidFill>
                <a:latin typeface="Calibri" pitchFamily="34" charset="0"/>
                <a:ea typeface="Calibri" pitchFamily="34" charset="-122"/>
                <a:cs typeface="Calibri" pitchFamily="34" charset="-120"/>
              </a:rPr>
              <a:t>Python 3</a:t>
            </a:r>
            <a:endParaRPr lang="en-US" sz="1400" dirty="0"/>
          </a:p>
        </p:txBody>
      </p:sp>
      <p:sp>
        <p:nvSpPr>
          <p:cNvPr id="10" name="Text 6"/>
          <p:cNvSpPr txBox="1"/>
          <p:nvPr/>
        </p:nvSpPr>
        <p:spPr>
          <a:xfrm>
            <a:off x="685800" y="1993392"/>
            <a:ext cx="2240280" cy="411480"/>
          </a:xfrm>
          <a:prstGeom prst="rect">
            <a:avLst/>
          </a:prstGeom>
          <a:noFill/>
          <a:ln/>
        </p:spPr>
        <p:txBody>
          <a:bodyPr wrap="square" lIns="0" tIns="0" rIns="0" bIns="0" rtlCol="0" anchor="t"/>
          <a:lstStyle/>
          <a:p>
            <a:pPr indent="0" marL="0">
              <a:buNone/>
            </a:pPr>
            <a:r>
              <a:rPr lang="en-US" sz="1200" dirty="0">
                <a:solidFill>
                  <a:srgbClr val="5B6B7B"/>
                </a:solidFill>
                <a:latin typeface="Calibri" pitchFamily="34" charset="0"/>
                <a:ea typeface="Calibri" pitchFamily="34" charset="-122"/>
                <a:cs typeface="Calibri" pitchFamily="34" charset="-120"/>
              </a:rPr>
              <a:t>Core language for the whole project</a:t>
            </a:r>
            <a:endParaRPr lang="en-US" sz="1200" dirty="0"/>
          </a:p>
        </p:txBody>
      </p:sp>
      <p:sp>
        <p:nvSpPr>
          <p:cNvPr id="11" name="Shape 7"/>
          <p:cNvSpPr/>
          <p:nvPr/>
        </p:nvSpPr>
        <p:spPr>
          <a:xfrm>
            <a:off x="3291840" y="1188720"/>
            <a:ext cx="2560320" cy="1325880"/>
          </a:xfrm>
          <a:prstGeom prst="roundRect">
            <a:avLst>
              <a:gd name="adj" fmla="val 8276"/>
            </a:avLst>
          </a:prstGeom>
          <a:solidFill>
            <a:srgbClr val="FFFFFF"/>
          </a:solidFill>
          <a:ln w="9525">
            <a:solidFill>
              <a:srgbClr val="E1E8EF"/>
            </a:solidFill>
            <a:prstDash val="solid"/>
          </a:ln>
          <a:effectLst>
            <a:outerShdw sx="100000" sy="100000" kx="0" ky="0" algn="bl" rotWithShape="0" blurRad="101600" dist="25400" dir="5400000">
              <a:srgbClr val="000000">
                <a:alpha val="12000"/>
              </a:srgbClr>
            </a:outerShdw>
          </a:effectLst>
        </p:spPr>
      </p:sp>
      <p:sp>
        <p:nvSpPr>
          <p:cNvPr id="12" name="Shape 8"/>
          <p:cNvSpPr/>
          <p:nvPr/>
        </p:nvSpPr>
        <p:spPr>
          <a:xfrm>
            <a:off x="3474720" y="1371600"/>
            <a:ext cx="502920" cy="502920"/>
          </a:xfrm>
          <a:prstGeom prst="ellipse">
            <a:avLst/>
          </a:prstGeom>
          <a:solidFill>
            <a:srgbClr val="0F2A47"/>
          </a:solidFill>
          <a:ln w="12700">
            <a:solidFill>
              <a:srgbClr val="0F2A47"/>
            </a:solidFill>
            <a:prstDash val="solid"/>
          </a:ln>
        </p:spPr>
      </p:sp>
      <p:pic>
        <p:nvPicPr>
          <p:cNvPr id="13" name="Image 1" descr="preencoded.png">    </p:cNvPr>
          <p:cNvPicPr>
            <a:picLocks noChangeAspect="1"/>
          </p:cNvPicPr>
          <p:nvPr/>
        </p:nvPicPr>
        <p:blipFill>
          <a:blip r:embed="rId2"/>
          <a:stretch>
            <a:fillRect/>
          </a:stretch>
        </p:blipFill>
        <p:spPr>
          <a:xfrm>
            <a:off x="3600450" y="1497330"/>
            <a:ext cx="251460" cy="251460"/>
          </a:xfrm>
          <a:prstGeom prst="rect">
            <a:avLst/>
          </a:prstGeom>
        </p:spPr>
      </p:pic>
      <p:sp>
        <p:nvSpPr>
          <p:cNvPr id="14" name="Text 9"/>
          <p:cNvSpPr txBox="1"/>
          <p:nvPr/>
        </p:nvSpPr>
        <p:spPr>
          <a:xfrm>
            <a:off x="4114800" y="1371600"/>
            <a:ext cx="1645920" cy="502920"/>
          </a:xfrm>
          <a:prstGeom prst="rect">
            <a:avLst/>
          </a:prstGeom>
          <a:noFill/>
          <a:ln/>
        </p:spPr>
        <p:txBody>
          <a:bodyPr wrap="square" lIns="0" tIns="0" rIns="0" bIns="0" rtlCol="0" anchor="ctr"/>
          <a:lstStyle/>
          <a:p>
            <a:pPr indent="0" marL="0">
              <a:buNone/>
            </a:pPr>
            <a:r>
              <a:rPr lang="en-US" sz="1400" b="1" dirty="0">
                <a:solidFill>
                  <a:srgbClr val="1B2B3A"/>
                </a:solidFill>
                <a:latin typeface="Calibri" pitchFamily="34" charset="0"/>
                <a:ea typeface="Calibri" pitchFamily="34" charset="-122"/>
                <a:cs typeface="Calibri" pitchFamily="34" charset="-120"/>
              </a:rPr>
              <a:t>Pandas</a:t>
            </a:r>
            <a:endParaRPr lang="en-US" sz="1400" dirty="0"/>
          </a:p>
        </p:txBody>
      </p:sp>
      <p:sp>
        <p:nvSpPr>
          <p:cNvPr id="15" name="Text 10"/>
          <p:cNvSpPr txBox="1"/>
          <p:nvPr/>
        </p:nvSpPr>
        <p:spPr>
          <a:xfrm>
            <a:off x="3474720" y="1993392"/>
            <a:ext cx="2240280" cy="411480"/>
          </a:xfrm>
          <a:prstGeom prst="rect">
            <a:avLst/>
          </a:prstGeom>
          <a:noFill/>
          <a:ln/>
        </p:spPr>
        <p:txBody>
          <a:bodyPr wrap="square" lIns="0" tIns="0" rIns="0" bIns="0" rtlCol="0" anchor="t"/>
          <a:lstStyle/>
          <a:p>
            <a:pPr indent="0" marL="0">
              <a:buNone/>
            </a:pPr>
            <a:r>
              <a:rPr lang="en-US" sz="1200" dirty="0">
                <a:solidFill>
                  <a:srgbClr val="5B6B7B"/>
                </a:solidFill>
                <a:latin typeface="Calibri" pitchFamily="34" charset="0"/>
                <a:ea typeface="Calibri" pitchFamily="34" charset="-122"/>
                <a:cs typeface="Calibri" pitchFamily="34" charset="-120"/>
              </a:rPr>
              <a:t>Loads and organises the dataset</a:t>
            </a:r>
            <a:endParaRPr lang="en-US" sz="1200" dirty="0"/>
          </a:p>
        </p:txBody>
      </p:sp>
      <p:sp>
        <p:nvSpPr>
          <p:cNvPr id="16" name="Shape 11"/>
          <p:cNvSpPr/>
          <p:nvPr/>
        </p:nvSpPr>
        <p:spPr>
          <a:xfrm>
            <a:off x="6080760" y="1188720"/>
            <a:ext cx="2560320" cy="1325880"/>
          </a:xfrm>
          <a:prstGeom prst="roundRect">
            <a:avLst>
              <a:gd name="adj" fmla="val 8276"/>
            </a:avLst>
          </a:prstGeom>
          <a:solidFill>
            <a:srgbClr val="FFFFFF"/>
          </a:solidFill>
          <a:ln w="9525">
            <a:solidFill>
              <a:srgbClr val="E1E8EF"/>
            </a:solidFill>
            <a:prstDash val="solid"/>
          </a:ln>
          <a:effectLst>
            <a:outerShdw sx="100000" sy="100000" kx="0" ky="0" algn="bl" rotWithShape="0" blurRad="101600" dist="25400" dir="5400000">
              <a:srgbClr val="000000">
                <a:alpha val="12000"/>
              </a:srgbClr>
            </a:outerShdw>
          </a:effectLst>
        </p:spPr>
      </p:sp>
      <p:sp>
        <p:nvSpPr>
          <p:cNvPr id="17" name="Shape 12"/>
          <p:cNvSpPr/>
          <p:nvPr/>
        </p:nvSpPr>
        <p:spPr>
          <a:xfrm>
            <a:off x="6263640" y="1371600"/>
            <a:ext cx="502920" cy="502920"/>
          </a:xfrm>
          <a:prstGeom prst="ellipse">
            <a:avLst/>
          </a:prstGeom>
          <a:solidFill>
            <a:srgbClr val="0F2A47"/>
          </a:solidFill>
          <a:ln w="12700">
            <a:solidFill>
              <a:srgbClr val="0F2A47"/>
            </a:solidFill>
            <a:prstDash val="solid"/>
          </a:ln>
        </p:spPr>
      </p:sp>
      <p:pic>
        <p:nvPicPr>
          <p:cNvPr id="18" name="Image 2" descr="preencoded.png">    </p:cNvPr>
          <p:cNvPicPr>
            <a:picLocks noChangeAspect="1"/>
          </p:cNvPicPr>
          <p:nvPr/>
        </p:nvPicPr>
        <p:blipFill>
          <a:blip r:embed="rId3"/>
          <a:stretch>
            <a:fillRect/>
          </a:stretch>
        </p:blipFill>
        <p:spPr>
          <a:xfrm>
            <a:off x="6389370" y="1497330"/>
            <a:ext cx="251460" cy="251460"/>
          </a:xfrm>
          <a:prstGeom prst="rect">
            <a:avLst/>
          </a:prstGeom>
        </p:spPr>
      </p:pic>
      <p:sp>
        <p:nvSpPr>
          <p:cNvPr id="19" name="Text 13"/>
          <p:cNvSpPr txBox="1"/>
          <p:nvPr/>
        </p:nvSpPr>
        <p:spPr>
          <a:xfrm>
            <a:off x="6903720" y="1371600"/>
            <a:ext cx="1645920" cy="502920"/>
          </a:xfrm>
          <a:prstGeom prst="rect">
            <a:avLst/>
          </a:prstGeom>
          <a:noFill/>
          <a:ln/>
        </p:spPr>
        <p:txBody>
          <a:bodyPr wrap="square" lIns="0" tIns="0" rIns="0" bIns="0" rtlCol="0" anchor="ctr"/>
          <a:lstStyle/>
          <a:p>
            <a:pPr indent="0" marL="0">
              <a:buNone/>
            </a:pPr>
            <a:r>
              <a:rPr lang="en-US" sz="1400" b="1" dirty="0">
                <a:solidFill>
                  <a:srgbClr val="1B2B3A"/>
                </a:solidFill>
                <a:latin typeface="Calibri" pitchFamily="34" charset="0"/>
                <a:ea typeface="Calibri" pitchFamily="34" charset="-122"/>
                <a:cs typeface="Calibri" pitchFamily="34" charset="-120"/>
              </a:rPr>
              <a:t>Scikit-learn</a:t>
            </a:r>
            <a:endParaRPr lang="en-US" sz="1400" dirty="0"/>
          </a:p>
        </p:txBody>
      </p:sp>
      <p:sp>
        <p:nvSpPr>
          <p:cNvPr id="20" name="Text 14"/>
          <p:cNvSpPr txBox="1"/>
          <p:nvPr/>
        </p:nvSpPr>
        <p:spPr>
          <a:xfrm>
            <a:off x="6263640" y="1993392"/>
            <a:ext cx="2240280" cy="411480"/>
          </a:xfrm>
          <a:prstGeom prst="rect">
            <a:avLst/>
          </a:prstGeom>
          <a:noFill/>
          <a:ln/>
        </p:spPr>
        <p:txBody>
          <a:bodyPr wrap="square" lIns="0" tIns="0" rIns="0" bIns="0" rtlCol="0" anchor="t"/>
          <a:lstStyle/>
          <a:p>
            <a:pPr indent="0" marL="0">
              <a:buNone/>
            </a:pPr>
            <a:r>
              <a:rPr lang="en-US" sz="1200" dirty="0">
                <a:solidFill>
                  <a:srgbClr val="5B6B7B"/>
                </a:solidFill>
                <a:latin typeface="Calibri" pitchFamily="34" charset="0"/>
                <a:ea typeface="Calibri" pitchFamily="34" charset="-122"/>
                <a:cs typeface="Calibri" pitchFamily="34" charset="-120"/>
              </a:rPr>
              <a:t>TF-IDF, Random Forest, metrics</a:t>
            </a:r>
            <a:endParaRPr lang="en-US" sz="1200" dirty="0"/>
          </a:p>
        </p:txBody>
      </p:sp>
      <p:sp>
        <p:nvSpPr>
          <p:cNvPr id="21" name="Shape 15"/>
          <p:cNvSpPr/>
          <p:nvPr/>
        </p:nvSpPr>
        <p:spPr>
          <a:xfrm>
            <a:off x="502920" y="2697480"/>
            <a:ext cx="2560320" cy="1325880"/>
          </a:xfrm>
          <a:prstGeom prst="roundRect">
            <a:avLst>
              <a:gd name="adj" fmla="val 8276"/>
            </a:avLst>
          </a:prstGeom>
          <a:solidFill>
            <a:srgbClr val="FFFFFF"/>
          </a:solidFill>
          <a:ln w="9525">
            <a:solidFill>
              <a:srgbClr val="E1E8EF"/>
            </a:solidFill>
            <a:prstDash val="solid"/>
          </a:ln>
          <a:effectLst>
            <a:outerShdw sx="100000" sy="100000" kx="0" ky="0" algn="bl" rotWithShape="0" blurRad="101600" dist="25400" dir="5400000">
              <a:srgbClr val="000000">
                <a:alpha val="12000"/>
              </a:srgbClr>
            </a:outerShdw>
          </a:effectLst>
        </p:spPr>
      </p:sp>
      <p:sp>
        <p:nvSpPr>
          <p:cNvPr id="22" name="Shape 16"/>
          <p:cNvSpPr/>
          <p:nvPr/>
        </p:nvSpPr>
        <p:spPr>
          <a:xfrm>
            <a:off x="685800" y="2880360"/>
            <a:ext cx="502920" cy="502920"/>
          </a:xfrm>
          <a:prstGeom prst="ellipse">
            <a:avLst/>
          </a:prstGeom>
          <a:solidFill>
            <a:srgbClr val="0F2A47"/>
          </a:solidFill>
          <a:ln w="12700">
            <a:solidFill>
              <a:srgbClr val="0F2A47"/>
            </a:solidFill>
            <a:prstDash val="solid"/>
          </a:ln>
        </p:spPr>
      </p:sp>
      <p:pic>
        <p:nvPicPr>
          <p:cNvPr id="23" name="Image 3" descr="preencoded.png">    </p:cNvPr>
          <p:cNvPicPr>
            <a:picLocks noChangeAspect="1"/>
          </p:cNvPicPr>
          <p:nvPr/>
        </p:nvPicPr>
        <p:blipFill>
          <a:blip r:embed="rId4"/>
          <a:stretch>
            <a:fillRect/>
          </a:stretch>
        </p:blipFill>
        <p:spPr>
          <a:xfrm>
            <a:off x="811530" y="3006090"/>
            <a:ext cx="251460" cy="251460"/>
          </a:xfrm>
          <a:prstGeom prst="rect">
            <a:avLst/>
          </a:prstGeom>
        </p:spPr>
      </p:pic>
      <p:sp>
        <p:nvSpPr>
          <p:cNvPr id="24" name="Text 17"/>
          <p:cNvSpPr txBox="1"/>
          <p:nvPr/>
        </p:nvSpPr>
        <p:spPr>
          <a:xfrm>
            <a:off x="1325880" y="2880360"/>
            <a:ext cx="1645920" cy="502920"/>
          </a:xfrm>
          <a:prstGeom prst="rect">
            <a:avLst/>
          </a:prstGeom>
          <a:noFill/>
          <a:ln/>
        </p:spPr>
        <p:txBody>
          <a:bodyPr wrap="square" lIns="0" tIns="0" rIns="0" bIns="0" rtlCol="0" anchor="ctr"/>
          <a:lstStyle/>
          <a:p>
            <a:pPr indent="0" marL="0">
              <a:buNone/>
            </a:pPr>
            <a:r>
              <a:rPr lang="en-US" sz="1400" b="1" dirty="0">
                <a:solidFill>
                  <a:srgbClr val="1B2B3A"/>
                </a:solidFill>
                <a:latin typeface="Calibri" pitchFamily="34" charset="0"/>
                <a:ea typeface="Calibri" pitchFamily="34" charset="-122"/>
                <a:cs typeface="Calibri" pitchFamily="34" charset="-120"/>
              </a:rPr>
              <a:t>SciPy + NumPy</a:t>
            </a:r>
            <a:endParaRPr lang="en-US" sz="1400" dirty="0"/>
          </a:p>
        </p:txBody>
      </p:sp>
      <p:sp>
        <p:nvSpPr>
          <p:cNvPr id="25" name="Text 18"/>
          <p:cNvSpPr txBox="1"/>
          <p:nvPr/>
        </p:nvSpPr>
        <p:spPr>
          <a:xfrm>
            <a:off x="685800" y="3502152"/>
            <a:ext cx="2240280" cy="411480"/>
          </a:xfrm>
          <a:prstGeom prst="rect">
            <a:avLst/>
          </a:prstGeom>
          <a:noFill/>
          <a:ln/>
        </p:spPr>
        <p:txBody>
          <a:bodyPr wrap="square" lIns="0" tIns="0" rIns="0" bIns="0" rtlCol="0" anchor="t"/>
          <a:lstStyle/>
          <a:p>
            <a:pPr indent="0" marL="0">
              <a:buNone/>
            </a:pPr>
            <a:r>
              <a:rPr lang="en-US" sz="1200" dirty="0">
                <a:solidFill>
                  <a:srgbClr val="5B6B7B"/>
                </a:solidFill>
                <a:latin typeface="Calibri" pitchFamily="34" charset="0"/>
                <a:ea typeface="Calibri" pitchFamily="34" charset="-122"/>
                <a:cs typeface="Calibri" pitchFamily="34" charset="-120"/>
              </a:rPr>
              <a:t>Combine sparse and dense features</a:t>
            </a:r>
            <a:endParaRPr lang="en-US" sz="1200" dirty="0"/>
          </a:p>
        </p:txBody>
      </p:sp>
      <p:sp>
        <p:nvSpPr>
          <p:cNvPr id="26" name="Shape 19"/>
          <p:cNvSpPr/>
          <p:nvPr/>
        </p:nvSpPr>
        <p:spPr>
          <a:xfrm>
            <a:off x="3291840" y="2697480"/>
            <a:ext cx="2560320" cy="1325880"/>
          </a:xfrm>
          <a:prstGeom prst="roundRect">
            <a:avLst>
              <a:gd name="adj" fmla="val 8276"/>
            </a:avLst>
          </a:prstGeom>
          <a:solidFill>
            <a:srgbClr val="FFFFFF"/>
          </a:solidFill>
          <a:ln w="9525">
            <a:solidFill>
              <a:srgbClr val="E1E8EF"/>
            </a:solidFill>
            <a:prstDash val="solid"/>
          </a:ln>
          <a:effectLst>
            <a:outerShdw sx="100000" sy="100000" kx="0" ky="0" algn="bl" rotWithShape="0" blurRad="101600" dist="25400" dir="5400000">
              <a:srgbClr val="000000">
                <a:alpha val="12000"/>
              </a:srgbClr>
            </a:outerShdw>
          </a:effectLst>
        </p:spPr>
      </p:sp>
      <p:sp>
        <p:nvSpPr>
          <p:cNvPr id="27" name="Shape 20"/>
          <p:cNvSpPr/>
          <p:nvPr/>
        </p:nvSpPr>
        <p:spPr>
          <a:xfrm>
            <a:off x="3474720" y="2880360"/>
            <a:ext cx="502920" cy="502920"/>
          </a:xfrm>
          <a:prstGeom prst="ellipse">
            <a:avLst/>
          </a:prstGeom>
          <a:solidFill>
            <a:srgbClr val="0F2A47"/>
          </a:solidFill>
          <a:ln w="12700">
            <a:solidFill>
              <a:srgbClr val="0F2A47"/>
            </a:solidFill>
            <a:prstDash val="solid"/>
          </a:ln>
        </p:spPr>
      </p:sp>
      <p:pic>
        <p:nvPicPr>
          <p:cNvPr id="28" name="Image 4" descr="preencoded.png">    </p:cNvPr>
          <p:cNvPicPr>
            <a:picLocks noChangeAspect="1"/>
          </p:cNvPicPr>
          <p:nvPr/>
        </p:nvPicPr>
        <p:blipFill>
          <a:blip r:embed="rId5"/>
          <a:stretch>
            <a:fillRect/>
          </a:stretch>
        </p:blipFill>
        <p:spPr>
          <a:xfrm>
            <a:off x="3600450" y="3006090"/>
            <a:ext cx="251460" cy="251460"/>
          </a:xfrm>
          <a:prstGeom prst="rect">
            <a:avLst/>
          </a:prstGeom>
        </p:spPr>
      </p:pic>
      <p:sp>
        <p:nvSpPr>
          <p:cNvPr id="29" name="Text 21"/>
          <p:cNvSpPr txBox="1"/>
          <p:nvPr/>
        </p:nvSpPr>
        <p:spPr>
          <a:xfrm>
            <a:off x="4114800" y="2880360"/>
            <a:ext cx="1645920" cy="502920"/>
          </a:xfrm>
          <a:prstGeom prst="rect">
            <a:avLst/>
          </a:prstGeom>
          <a:noFill/>
          <a:ln/>
        </p:spPr>
        <p:txBody>
          <a:bodyPr wrap="square" lIns="0" tIns="0" rIns="0" bIns="0" rtlCol="0" anchor="ctr"/>
          <a:lstStyle/>
          <a:p>
            <a:pPr indent="0" marL="0">
              <a:buNone/>
            </a:pPr>
            <a:r>
              <a:rPr lang="en-US" sz="1400" b="1" dirty="0">
                <a:solidFill>
                  <a:srgbClr val="1B2B3A"/>
                </a:solidFill>
                <a:latin typeface="Calibri" pitchFamily="34" charset="0"/>
                <a:ea typeface="Calibri" pitchFamily="34" charset="-122"/>
                <a:cs typeface="Calibri" pitchFamily="34" charset="-120"/>
              </a:rPr>
              <a:t>Matplotlib</a:t>
            </a:r>
            <a:endParaRPr lang="en-US" sz="1400" dirty="0"/>
          </a:p>
        </p:txBody>
      </p:sp>
      <p:sp>
        <p:nvSpPr>
          <p:cNvPr id="30" name="Text 22"/>
          <p:cNvSpPr txBox="1"/>
          <p:nvPr/>
        </p:nvSpPr>
        <p:spPr>
          <a:xfrm>
            <a:off x="3474720" y="3502152"/>
            <a:ext cx="2240280" cy="411480"/>
          </a:xfrm>
          <a:prstGeom prst="rect">
            <a:avLst/>
          </a:prstGeom>
          <a:noFill/>
          <a:ln/>
        </p:spPr>
        <p:txBody>
          <a:bodyPr wrap="square" lIns="0" tIns="0" rIns="0" bIns="0" rtlCol="0" anchor="t"/>
          <a:lstStyle/>
          <a:p>
            <a:pPr indent="0" marL="0">
              <a:buNone/>
            </a:pPr>
            <a:r>
              <a:rPr lang="en-US" sz="1200" dirty="0">
                <a:solidFill>
                  <a:srgbClr val="5B6B7B"/>
                </a:solidFill>
                <a:latin typeface="Calibri" pitchFamily="34" charset="0"/>
                <a:ea typeface="Calibri" pitchFamily="34" charset="-122"/>
                <a:cs typeface="Calibri" pitchFamily="34" charset="-120"/>
              </a:rPr>
              <a:t>Draws the confusion matrix</a:t>
            </a:r>
            <a:endParaRPr lang="en-US" sz="1200" dirty="0"/>
          </a:p>
        </p:txBody>
      </p:sp>
      <p:sp>
        <p:nvSpPr>
          <p:cNvPr id="31" name="Shape 23"/>
          <p:cNvSpPr/>
          <p:nvPr/>
        </p:nvSpPr>
        <p:spPr>
          <a:xfrm>
            <a:off x="6080760" y="2697480"/>
            <a:ext cx="2560320" cy="1325880"/>
          </a:xfrm>
          <a:prstGeom prst="roundRect">
            <a:avLst>
              <a:gd name="adj" fmla="val 8276"/>
            </a:avLst>
          </a:prstGeom>
          <a:solidFill>
            <a:srgbClr val="FFFFFF"/>
          </a:solidFill>
          <a:ln w="9525">
            <a:solidFill>
              <a:srgbClr val="E1E8EF"/>
            </a:solidFill>
            <a:prstDash val="solid"/>
          </a:ln>
          <a:effectLst>
            <a:outerShdw sx="100000" sy="100000" kx="0" ky="0" algn="bl" rotWithShape="0" blurRad="101600" dist="25400" dir="5400000">
              <a:srgbClr val="000000">
                <a:alpha val="12000"/>
              </a:srgbClr>
            </a:outerShdw>
          </a:effectLst>
        </p:spPr>
      </p:sp>
      <p:sp>
        <p:nvSpPr>
          <p:cNvPr id="32" name="Shape 24"/>
          <p:cNvSpPr/>
          <p:nvPr/>
        </p:nvSpPr>
        <p:spPr>
          <a:xfrm>
            <a:off x="6263640" y="2880360"/>
            <a:ext cx="502920" cy="502920"/>
          </a:xfrm>
          <a:prstGeom prst="ellipse">
            <a:avLst/>
          </a:prstGeom>
          <a:solidFill>
            <a:srgbClr val="0F2A47"/>
          </a:solidFill>
          <a:ln w="12700">
            <a:solidFill>
              <a:srgbClr val="0F2A47"/>
            </a:solidFill>
            <a:prstDash val="solid"/>
          </a:ln>
        </p:spPr>
      </p:sp>
      <p:pic>
        <p:nvPicPr>
          <p:cNvPr id="33" name="Image 5" descr="preencoded.png">    </p:cNvPr>
          <p:cNvPicPr>
            <a:picLocks noChangeAspect="1"/>
          </p:cNvPicPr>
          <p:nvPr/>
        </p:nvPicPr>
        <p:blipFill>
          <a:blip r:embed="rId6"/>
          <a:stretch>
            <a:fillRect/>
          </a:stretch>
        </p:blipFill>
        <p:spPr>
          <a:xfrm>
            <a:off x="6389370" y="3006090"/>
            <a:ext cx="251460" cy="251460"/>
          </a:xfrm>
          <a:prstGeom prst="rect">
            <a:avLst/>
          </a:prstGeom>
        </p:spPr>
      </p:pic>
      <p:sp>
        <p:nvSpPr>
          <p:cNvPr id="34" name="Text 25"/>
          <p:cNvSpPr txBox="1"/>
          <p:nvPr/>
        </p:nvSpPr>
        <p:spPr>
          <a:xfrm>
            <a:off x="6903720" y="2880360"/>
            <a:ext cx="1645920" cy="502920"/>
          </a:xfrm>
          <a:prstGeom prst="rect">
            <a:avLst/>
          </a:prstGeom>
          <a:noFill/>
          <a:ln/>
        </p:spPr>
        <p:txBody>
          <a:bodyPr wrap="square" lIns="0" tIns="0" rIns="0" bIns="0" rtlCol="0" anchor="ctr"/>
          <a:lstStyle/>
          <a:p>
            <a:pPr indent="0" marL="0">
              <a:buNone/>
            </a:pPr>
            <a:r>
              <a:rPr lang="en-US" sz="1400" b="1" dirty="0">
                <a:solidFill>
                  <a:srgbClr val="1B2B3A"/>
                </a:solidFill>
                <a:latin typeface="Calibri" pitchFamily="34" charset="0"/>
                <a:ea typeface="Calibri" pitchFamily="34" charset="-122"/>
                <a:cs typeface="Calibri" pitchFamily="34" charset="-120"/>
              </a:rPr>
              <a:t>re, imaplib, email</a:t>
            </a:r>
            <a:endParaRPr lang="en-US" sz="1400" dirty="0"/>
          </a:p>
        </p:txBody>
      </p:sp>
      <p:sp>
        <p:nvSpPr>
          <p:cNvPr id="35" name="Text 26"/>
          <p:cNvSpPr txBox="1"/>
          <p:nvPr/>
        </p:nvSpPr>
        <p:spPr>
          <a:xfrm>
            <a:off x="6263640" y="3502152"/>
            <a:ext cx="2240280" cy="411480"/>
          </a:xfrm>
          <a:prstGeom prst="rect">
            <a:avLst/>
          </a:prstGeom>
          <a:noFill/>
          <a:ln/>
        </p:spPr>
        <p:txBody>
          <a:bodyPr wrap="square" lIns="0" tIns="0" rIns="0" bIns="0" rtlCol="0" anchor="t"/>
          <a:lstStyle/>
          <a:p>
            <a:pPr indent="0" marL="0">
              <a:buNone/>
            </a:pPr>
            <a:r>
              <a:rPr lang="en-US" sz="1200" dirty="0">
                <a:solidFill>
                  <a:srgbClr val="5B6B7B"/>
                </a:solidFill>
                <a:latin typeface="Calibri" pitchFamily="34" charset="0"/>
                <a:ea typeface="Calibri" pitchFamily="34" charset="-122"/>
                <a:cs typeface="Calibri" pitchFamily="34" charset="-120"/>
              </a:rPr>
              <a:t>URL detection and inbox access</a:t>
            </a:r>
            <a:endParaRPr lang="en-US" sz="1200" dirty="0"/>
          </a:p>
        </p:txBody>
      </p:sp>
      <p:sp>
        <p:nvSpPr>
          <p:cNvPr id="36" name="Shape 27"/>
          <p:cNvSpPr/>
          <p:nvPr/>
        </p:nvSpPr>
        <p:spPr>
          <a:xfrm>
            <a:off x="502920" y="4206240"/>
            <a:ext cx="8138160" cy="411480"/>
          </a:xfrm>
          <a:prstGeom prst="roundRect">
            <a:avLst>
              <a:gd name="adj" fmla="val 22222"/>
            </a:avLst>
          </a:prstGeom>
          <a:solidFill>
            <a:srgbClr val="D9F2EE"/>
          </a:solidFill>
          <a:ln w="12700">
            <a:solidFill>
              <a:srgbClr val="D9F2EE"/>
            </a:solidFill>
            <a:prstDash val="solid"/>
          </a:ln>
        </p:spPr>
      </p:sp>
      <p:sp>
        <p:nvSpPr>
          <p:cNvPr id="37" name="Text 28"/>
          <p:cNvSpPr txBox="1"/>
          <p:nvPr/>
        </p:nvSpPr>
        <p:spPr>
          <a:xfrm>
            <a:off x="685800" y="4206240"/>
            <a:ext cx="7772400" cy="411480"/>
          </a:xfrm>
          <a:prstGeom prst="rect">
            <a:avLst/>
          </a:prstGeom>
          <a:noFill/>
          <a:ln/>
        </p:spPr>
        <p:txBody>
          <a:bodyPr wrap="square" lIns="0" tIns="0" rIns="0" bIns="0" rtlCol="0" anchor="ctr"/>
          <a:lstStyle/>
          <a:p>
            <a:pPr indent="0" marL="0">
              <a:buNone/>
            </a:pPr>
            <a:r>
              <a:rPr lang="en-US" sz="1250" b="1" dirty="0">
                <a:solidFill>
                  <a:srgbClr val="00695C"/>
                </a:solidFill>
                <a:latin typeface="Calibri" pitchFamily="34" charset="0"/>
                <a:ea typeface="Calibri" pitchFamily="34" charset="-122"/>
                <a:cs typeface="Calibri" pitchFamily="34" charset="-120"/>
              </a:rPr>
              <a:t>Environment: Visual Studio Code  |  Python venv  |  GitHub for version control</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6FA"/>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640080"/>
          </a:xfrm>
          <a:prstGeom prst="rect">
            <a:avLst/>
          </a:prstGeom>
          <a:noFill/>
          <a:ln/>
        </p:spPr>
        <p:txBody>
          <a:bodyPr wrap="square" lIns="0" tIns="0" rIns="0" bIns="0" rtlCol="0" anchor="ctr"/>
          <a:lstStyle/>
          <a:p>
            <a:pPr indent="0" marL="0">
              <a:buNone/>
            </a:pPr>
            <a:r>
              <a:rPr lang="en-US" sz="3200" b="1" dirty="0">
                <a:solidFill>
                  <a:srgbClr val="1B2B3A"/>
                </a:solidFill>
                <a:latin typeface="Cambria" pitchFamily="34" charset="0"/>
                <a:ea typeface="Cambria" pitchFamily="34" charset="-122"/>
                <a:cs typeface="Cambria" pitchFamily="34" charset="-120"/>
              </a:rPr>
              <a:t>Implementation: project files</a:t>
            </a:r>
            <a:endParaRPr lang="en-US" sz="3200" dirty="0"/>
          </a:p>
        </p:txBody>
      </p:sp>
      <p:sp>
        <p:nvSpPr>
          <p:cNvPr id="3" name="Text 1"/>
          <p:cNvSpPr txBox="1"/>
          <p:nvPr/>
        </p:nvSpPr>
        <p:spPr>
          <a:xfrm>
            <a:off x="548640" y="4846320"/>
            <a:ext cx="6400800" cy="201168"/>
          </a:xfrm>
          <a:prstGeom prst="rect">
            <a:avLst/>
          </a:prstGeom>
          <a:noFill/>
          <a:ln/>
        </p:spPr>
        <p:txBody>
          <a:bodyPr wrap="square" lIns="0" tIns="0" rIns="0" bIns="0" rtlCol="0" anchor="ctr"/>
          <a:lstStyle/>
          <a:p>
            <a:pPr indent="0" marL="0">
              <a:buNone/>
            </a:pPr>
            <a:r>
              <a:rPr lang="en-US" sz="900" dirty="0">
                <a:solidFill>
                  <a:srgbClr val="5B6B7B"/>
                </a:solidFill>
                <a:latin typeface="Calibri" pitchFamily="34" charset="0"/>
                <a:ea typeface="Calibri" pitchFamily="34" charset="-122"/>
                <a:cs typeface="Calibri" pitchFamily="34" charset="-120"/>
              </a:rPr>
              <a:t>Phishing Detection System  |  Aman Kumar Gautam  |  CS-2341642</a:t>
            </a:r>
            <a:endParaRPr lang="en-US" sz="900" dirty="0"/>
          </a:p>
        </p:txBody>
      </p:sp>
      <p:sp>
        <p:nvSpPr>
          <p:cNvPr id="4" name="Text 2"/>
          <p:cNvSpPr txBox="1"/>
          <p:nvPr/>
        </p:nvSpPr>
        <p:spPr>
          <a:xfrm>
            <a:off x="8138160" y="4846320"/>
            <a:ext cx="457200" cy="201168"/>
          </a:xfrm>
          <a:prstGeom prst="rect">
            <a:avLst/>
          </a:prstGeom>
          <a:noFill/>
          <a:ln/>
        </p:spPr>
        <p:txBody>
          <a:bodyPr wrap="square" lIns="0" tIns="0" rIns="0" bIns="0"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9</a:t>
            </a:r>
            <a:endParaRPr lang="en-US" sz="900" dirty="0"/>
          </a:p>
        </p:txBody>
      </p:sp>
      <p:sp>
        <p:nvSpPr>
          <p:cNvPr id="6" name="Shape 3"/>
          <p:cNvSpPr/>
          <p:nvPr/>
        </p:nvSpPr>
        <p:spPr>
          <a:xfrm>
            <a:off x="548640" y="1143000"/>
            <a:ext cx="8046720" cy="530352"/>
          </a:xfrm>
          <a:prstGeom prst="roundRect">
            <a:avLst>
              <a:gd name="adj" fmla="val 20690"/>
            </a:avLst>
          </a:prstGeom>
          <a:solidFill>
            <a:srgbClr val="FFFFFF"/>
          </a:solidFill>
          <a:ln w="9525">
            <a:solidFill>
              <a:srgbClr val="E1E8EF"/>
            </a:solidFill>
            <a:prstDash val="solid"/>
          </a:ln>
          <a:effectLst>
            <a:outerShdw sx="100000" sy="100000" kx="0" ky="0" algn="bl" rotWithShape="0" blurRad="101600" dist="25400" dir="5400000">
              <a:srgbClr val="000000">
                <a:alpha val="12000"/>
              </a:srgbClr>
            </a:outerShdw>
          </a:effectLst>
        </p:spPr>
      </p:sp>
      <p:sp>
        <p:nvSpPr>
          <p:cNvPr id="7" name="Text 4"/>
          <p:cNvSpPr txBox="1"/>
          <p:nvPr/>
        </p:nvSpPr>
        <p:spPr>
          <a:xfrm>
            <a:off x="731520" y="1143000"/>
            <a:ext cx="2651760" cy="530352"/>
          </a:xfrm>
          <a:prstGeom prst="rect">
            <a:avLst/>
          </a:prstGeom>
          <a:noFill/>
          <a:ln/>
        </p:spPr>
        <p:txBody>
          <a:bodyPr wrap="square" lIns="0" tIns="0" rIns="0" bIns="0" rtlCol="0" anchor="ctr"/>
          <a:lstStyle/>
          <a:p>
            <a:pPr indent="0" marL="0">
              <a:buNone/>
            </a:pPr>
            <a:r>
              <a:rPr lang="en-US" sz="1250" b="1" dirty="0">
                <a:solidFill>
                  <a:srgbClr val="0F2A47"/>
                </a:solidFill>
                <a:latin typeface="Courier New" pitchFamily="34" charset="0"/>
                <a:ea typeface="Courier New" pitchFamily="34" charset="-122"/>
                <a:cs typeface="Courier New" pitchFamily="34" charset="-120"/>
              </a:rPr>
              <a:t>generate_dataset.py</a:t>
            </a:r>
            <a:endParaRPr lang="en-US" sz="1250" dirty="0"/>
          </a:p>
        </p:txBody>
      </p:sp>
      <p:sp>
        <p:nvSpPr>
          <p:cNvPr id="8" name="Text 5"/>
          <p:cNvSpPr txBox="1"/>
          <p:nvPr/>
        </p:nvSpPr>
        <p:spPr>
          <a:xfrm>
            <a:off x="3474720" y="1143000"/>
            <a:ext cx="4983480" cy="530352"/>
          </a:xfrm>
          <a:prstGeom prst="rect">
            <a:avLst/>
          </a:prstGeom>
          <a:noFill/>
          <a:ln/>
        </p:spPr>
        <p:txBody>
          <a:bodyPr wrap="square" lIns="0" tIns="0" rIns="0" bIns="0" rtlCol="0" anchor="ctr"/>
          <a:lstStyle/>
          <a:p>
            <a:pPr indent="0" marL="0">
              <a:buNone/>
            </a:pPr>
            <a:r>
              <a:rPr lang="en-US" sz="1250" dirty="0">
                <a:solidFill>
                  <a:srgbClr val="1B2B3A"/>
                </a:solidFill>
                <a:latin typeface="Calibri" pitchFamily="34" charset="0"/>
                <a:ea typeface="Calibri" pitchFamily="34" charset="-122"/>
                <a:cs typeface="Calibri" pitchFamily="34" charset="-120"/>
              </a:rPr>
              <a:t>Creates the labelled dataset (data/emails_dataset.csv)</a:t>
            </a:r>
            <a:endParaRPr lang="en-US" sz="1250" dirty="0"/>
          </a:p>
        </p:txBody>
      </p:sp>
      <p:sp>
        <p:nvSpPr>
          <p:cNvPr id="9" name="Shape 6"/>
          <p:cNvSpPr/>
          <p:nvPr/>
        </p:nvSpPr>
        <p:spPr>
          <a:xfrm>
            <a:off x="548640" y="1783080"/>
            <a:ext cx="8046720" cy="530352"/>
          </a:xfrm>
          <a:prstGeom prst="roundRect">
            <a:avLst>
              <a:gd name="adj" fmla="val 20690"/>
            </a:avLst>
          </a:prstGeom>
          <a:solidFill>
            <a:srgbClr val="FFFFFF"/>
          </a:solidFill>
          <a:ln w="9525">
            <a:solidFill>
              <a:srgbClr val="E1E8EF"/>
            </a:solidFill>
            <a:prstDash val="solid"/>
          </a:ln>
          <a:effectLst>
            <a:outerShdw sx="100000" sy="100000" kx="0" ky="0" algn="bl" rotWithShape="0" blurRad="101600" dist="25400" dir="5400000">
              <a:srgbClr val="000000">
                <a:alpha val="12000"/>
              </a:srgbClr>
            </a:outerShdw>
          </a:effectLst>
        </p:spPr>
      </p:sp>
      <p:sp>
        <p:nvSpPr>
          <p:cNvPr id="10" name="Text 7"/>
          <p:cNvSpPr txBox="1"/>
          <p:nvPr/>
        </p:nvSpPr>
        <p:spPr>
          <a:xfrm>
            <a:off x="731520" y="1783080"/>
            <a:ext cx="2651760" cy="530352"/>
          </a:xfrm>
          <a:prstGeom prst="rect">
            <a:avLst/>
          </a:prstGeom>
          <a:noFill/>
          <a:ln/>
        </p:spPr>
        <p:txBody>
          <a:bodyPr wrap="square" lIns="0" tIns="0" rIns="0" bIns="0" rtlCol="0" anchor="ctr"/>
          <a:lstStyle/>
          <a:p>
            <a:pPr indent="0" marL="0">
              <a:buNone/>
            </a:pPr>
            <a:r>
              <a:rPr lang="en-US" sz="1250" b="1" dirty="0">
                <a:solidFill>
                  <a:srgbClr val="0F2A47"/>
                </a:solidFill>
                <a:latin typeface="Courier New" pitchFamily="34" charset="0"/>
                <a:ea typeface="Courier New" pitchFamily="34" charset="-122"/>
                <a:cs typeface="Courier New" pitchFamily="34" charset="-120"/>
              </a:rPr>
              <a:t>phishing_detector.py</a:t>
            </a:r>
            <a:endParaRPr lang="en-US" sz="1250" dirty="0"/>
          </a:p>
        </p:txBody>
      </p:sp>
      <p:sp>
        <p:nvSpPr>
          <p:cNvPr id="11" name="Text 8"/>
          <p:cNvSpPr txBox="1"/>
          <p:nvPr/>
        </p:nvSpPr>
        <p:spPr>
          <a:xfrm>
            <a:off x="3474720" y="1783080"/>
            <a:ext cx="4983480" cy="530352"/>
          </a:xfrm>
          <a:prstGeom prst="rect">
            <a:avLst/>
          </a:prstGeom>
          <a:noFill/>
          <a:ln/>
        </p:spPr>
        <p:txBody>
          <a:bodyPr wrap="square" lIns="0" tIns="0" rIns="0" bIns="0" rtlCol="0" anchor="ctr"/>
          <a:lstStyle/>
          <a:p>
            <a:pPr indent="0" marL="0">
              <a:buNone/>
            </a:pPr>
            <a:r>
              <a:rPr lang="en-US" sz="1250" dirty="0">
                <a:solidFill>
                  <a:srgbClr val="1B2B3A"/>
                </a:solidFill>
                <a:latin typeface="Calibri" pitchFamily="34" charset="0"/>
                <a:ea typeface="Calibri" pitchFamily="34" charset="-122"/>
                <a:cs typeface="Calibri" pitchFamily="34" charset="-120"/>
              </a:rPr>
              <a:t>Features, training, evaluation, confusion matrix, predict_email()</a:t>
            </a:r>
            <a:endParaRPr lang="en-US" sz="1250" dirty="0"/>
          </a:p>
        </p:txBody>
      </p:sp>
      <p:sp>
        <p:nvSpPr>
          <p:cNvPr id="12" name="Shape 9"/>
          <p:cNvSpPr/>
          <p:nvPr/>
        </p:nvSpPr>
        <p:spPr>
          <a:xfrm>
            <a:off x="548640" y="2423160"/>
            <a:ext cx="8046720" cy="530352"/>
          </a:xfrm>
          <a:prstGeom prst="roundRect">
            <a:avLst>
              <a:gd name="adj" fmla="val 20690"/>
            </a:avLst>
          </a:prstGeom>
          <a:solidFill>
            <a:srgbClr val="FFFFFF"/>
          </a:solidFill>
          <a:ln w="9525">
            <a:solidFill>
              <a:srgbClr val="E1E8EF"/>
            </a:solidFill>
            <a:prstDash val="solid"/>
          </a:ln>
          <a:effectLst>
            <a:outerShdw sx="100000" sy="100000" kx="0" ky="0" algn="bl" rotWithShape="0" blurRad="101600" dist="25400" dir="5400000">
              <a:srgbClr val="000000">
                <a:alpha val="12000"/>
              </a:srgbClr>
            </a:outerShdw>
          </a:effectLst>
        </p:spPr>
      </p:sp>
      <p:sp>
        <p:nvSpPr>
          <p:cNvPr id="13" name="Text 10"/>
          <p:cNvSpPr txBox="1"/>
          <p:nvPr/>
        </p:nvSpPr>
        <p:spPr>
          <a:xfrm>
            <a:off x="731520" y="2423160"/>
            <a:ext cx="2651760" cy="530352"/>
          </a:xfrm>
          <a:prstGeom prst="rect">
            <a:avLst/>
          </a:prstGeom>
          <a:noFill/>
          <a:ln/>
        </p:spPr>
        <p:txBody>
          <a:bodyPr wrap="square" lIns="0" tIns="0" rIns="0" bIns="0" rtlCol="0" anchor="ctr"/>
          <a:lstStyle/>
          <a:p>
            <a:pPr indent="0" marL="0">
              <a:buNone/>
            </a:pPr>
            <a:r>
              <a:rPr lang="en-US" sz="1250" b="1" dirty="0">
                <a:solidFill>
                  <a:srgbClr val="0F2A47"/>
                </a:solidFill>
                <a:latin typeface="Courier New" pitchFamily="34" charset="0"/>
                <a:ea typeface="Courier New" pitchFamily="34" charset="-122"/>
                <a:cs typeface="Courier New" pitchFamily="34" charset="-120"/>
              </a:rPr>
              <a:t>check_my_email.py</a:t>
            </a:r>
            <a:endParaRPr lang="en-US" sz="1250" dirty="0"/>
          </a:p>
        </p:txBody>
      </p:sp>
      <p:sp>
        <p:nvSpPr>
          <p:cNvPr id="14" name="Text 11"/>
          <p:cNvSpPr txBox="1"/>
          <p:nvPr/>
        </p:nvSpPr>
        <p:spPr>
          <a:xfrm>
            <a:off x="3474720" y="2423160"/>
            <a:ext cx="4983480" cy="530352"/>
          </a:xfrm>
          <a:prstGeom prst="rect">
            <a:avLst/>
          </a:prstGeom>
          <a:noFill/>
          <a:ln/>
        </p:spPr>
        <p:txBody>
          <a:bodyPr wrap="square" lIns="0" tIns="0" rIns="0" bIns="0" rtlCol="0" anchor="ctr"/>
          <a:lstStyle/>
          <a:p>
            <a:pPr indent="0" marL="0">
              <a:buNone/>
            </a:pPr>
            <a:r>
              <a:rPr lang="en-US" sz="1250" dirty="0">
                <a:solidFill>
                  <a:srgbClr val="1B2B3A"/>
                </a:solidFill>
                <a:latin typeface="Calibri" pitchFamily="34" charset="0"/>
                <a:ea typeface="Calibri" pitchFamily="34" charset="-122"/>
                <a:cs typeface="Calibri" pitchFamily="34" charset="-120"/>
              </a:rPr>
              <a:t>Paste any email text and get Phishing or Safe with confidence</a:t>
            </a:r>
            <a:endParaRPr lang="en-US" sz="1250" dirty="0"/>
          </a:p>
        </p:txBody>
      </p:sp>
      <p:sp>
        <p:nvSpPr>
          <p:cNvPr id="15" name="Shape 12"/>
          <p:cNvSpPr/>
          <p:nvPr/>
        </p:nvSpPr>
        <p:spPr>
          <a:xfrm>
            <a:off x="548640" y="3063240"/>
            <a:ext cx="8046720" cy="530352"/>
          </a:xfrm>
          <a:prstGeom prst="roundRect">
            <a:avLst>
              <a:gd name="adj" fmla="val 20690"/>
            </a:avLst>
          </a:prstGeom>
          <a:solidFill>
            <a:srgbClr val="FFFFFF"/>
          </a:solidFill>
          <a:ln w="9525">
            <a:solidFill>
              <a:srgbClr val="E1E8EF"/>
            </a:solidFill>
            <a:prstDash val="solid"/>
          </a:ln>
          <a:effectLst>
            <a:outerShdw sx="100000" sy="100000" kx="0" ky="0" algn="bl" rotWithShape="0" blurRad="101600" dist="25400" dir="5400000">
              <a:srgbClr val="000000">
                <a:alpha val="12000"/>
              </a:srgbClr>
            </a:outerShdw>
          </a:effectLst>
        </p:spPr>
      </p:sp>
      <p:sp>
        <p:nvSpPr>
          <p:cNvPr id="16" name="Text 13"/>
          <p:cNvSpPr txBox="1"/>
          <p:nvPr/>
        </p:nvSpPr>
        <p:spPr>
          <a:xfrm>
            <a:off x="731520" y="3063240"/>
            <a:ext cx="2651760" cy="530352"/>
          </a:xfrm>
          <a:prstGeom prst="rect">
            <a:avLst/>
          </a:prstGeom>
          <a:noFill/>
          <a:ln/>
        </p:spPr>
        <p:txBody>
          <a:bodyPr wrap="square" lIns="0" tIns="0" rIns="0" bIns="0" rtlCol="0" anchor="ctr"/>
          <a:lstStyle/>
          <a:p>
            <a:pPr indent="0" marL="0">
              <a:buNone/>
            </a:pPr>
            <a:r>
              <a:rPr lang="en-US" sz="1250" b="1" dirty="0">
                <a:solidFill>
                  <a:srgbClr val="0F2A47"/>
                </a:solidFill>
                <a:latin typeface="Courier New" pitchFamily="34" charset="0"/>
                <a:ea typeface="Courier New" pitchFamily="34" charset="-122"/>
                <a:cs typeface="Courier New" pitchFamily="34" charset="-120"/>
              </a:rPr>
              <a:t>merge_datasets.py</a:t>
            </a:r>
            <a:endParaRPr lang="en-US" sz="1250" dirty="0"/>
          </a:p>
        </p:txBody>
      </p:sp>
      <p:sp>
        <p:nvSpPr>
          <p:cNvPr id="17" name="Text 14"/>
          <p:cNvSpPr txBox="1"/>
          <p:nvPr/>
        </p:nvSpPr>
        <p:spPr>
          <a:xfrm>
            <a:off x="3474720" y="3063240"/>
            <a:ext cx="4983480" cy="530352"/>
          </a:xfrm>
          <a:prstGeom prst="rect">
            <a:avLst/>
          </a:prstGeom>
          <a:noFill/>
          <a:ln/>
        </p:spPr>
        <p:txBody>
          <a:bodyPr wrap="square" lIns="0" tIns="0" rIns="0" bIns="0" rtlCol="0" anchor="ctr"/>
          <a:lstStyle/>
          <a:p>
            <a:pPr indent="0" marL="0">
              <a:buNone/>
            </a:pPr>
            <a:r>
              <a:rPr lang="en-US" sz="1250" dirty="0">
                <a:solidFill>
                  <a:srgbClr val="1B2B3A"/>
                </a:solidFill>
                <a:latin typeface="Calibri" pitchFamily="34" charset="0"/>
                <a:ea typeface="Calibri" pitchFamily="34" charset="-122"/>
                <a:cs typeface="Calibri" pitchFamily="34" charset="-120"/>
              </a:rPr>
              <a:t>Converts a Kaggle dataset and merges it with the synthetic one</a:t>
            </a:r>
            <a:endParaRPr lang="en-US" sz="1250" dirty="0"/>
          </a:p>
        </p:txBody>
      </p:sp>
      <p:sp>
        <p:nvSpPr>
          <p:cNvPr id="18" name="Shape 15"/>
          <p:cNvSpPr/>
          <p:nvPr/>
        </p:nvSpPr>
        <p:spPr>
          <a:xfrm>
            <a:off x="548640" y="3703320"/>
            <a:ext cx="8046720" cy="530352"/>
          </a:xfrm>
          <a:prstGeom prst="roundRect">
            <a:avLst>
              <a:gd name="adj" fmla="val 20690"/>
            </a:avLst>
          </a:prstGeom>
          <a:solidFill>
            <a:srgbClr val="FFFFFF"/>
          </a:solidFill>
          <a:ln w="9525">
            <a:solidFill>
              <a:srgbClr val="E1E8EF"/>
            </a:solidFill>
            <a:prstDash val="solid"/>
          </a:ln>
          <a:effectLst>
            <a:outerShdw sx="100000" sy="100000" kx="0" ky="0" algn="bl" rotWithShape="0" blurRad="101600" dist="25400" dir="5400000">
              <a:srgbClr val="000000">
                <a:alpha val="12000"/>
              </a:srgbClr>
            </a:outerShdw>
          </a:effectLst>
        </p:spPr>
      </p:sp>
      <p:sp>
        <p:nvSpPr>
          <p:cNvPr id="19" name="Text 16"/>
          <p:cNvSpPr txBox="1"/>
          <p:nvPr/>
        </p:nvSpPr>
        <p:spPr>
          <a:xfrm>
            <a:off x="731520" y="3703320"/>
            <a:ext cx="2651760" cy="530352"/>
          </a:xfrm>
          <a:prstGeom prst="rect">
            <a:avLst/>
          </a:prstGeom>
          <a:noFill/>
          <a:ln/>
        </p:spPr>
        <p:txBody>
          <a:bodyPr wrap="square" lIns="0" tIns="0" rIns="0" bIns="0" rtlCol="0" anchor="ctr"/>
          <a:lstStyle/>
          <a:p>
            <a:pPr indent="0" marL="0">
              <a:buNone/>
            </a:pPr>
            <a:r>
              <a:rPr lang="en-US" sz="1250" b="1" dirty="0">
                <a:solidFill>
                  <a:srgbClr val="0F2A47"/>
                </a:solidFill>
                <a:latin typeface="Courier New" pitchFamily="34" charset="0"/>
                <a:ea typeface="Courier New" pitchFamily="34" charset="-122"/>
                <a:cs typeface="Courier New" pitchFamily="34" charset="-120"/>
              </a:rPr>
              <a:t>check_inbox.py</a:t>
            </a:r>
            <a:endParaRPr lang="en-US" sz="1250" dirty="0"/>
          </a:p>
        </p:txBody>
      </p:sp>
      <p:sp>
        <p:nvSpPr>
          <p:cNvPr id="20" name="Text 17"/>
          <p:cNvSpPr txBox="1"/>
          <p:nvPr/>
        </p:nvSpPr>
        <p:spPr>
          <a:xfrm>
            <a:off x="3474720" y="3703320"/>
            <a:ext cx="4983480" cy="530352"/>
          </a:xfrm>
          <a:prstGeom prst="rect">
            <a:avLst/>
          </a:prstGeom>
          <a:noFill/>
          <a:ln/>
        </p:spPr>
        <p:txBody>
          <a:bodyPr wrap="square" lIns="0" tIns="0" rIns="0" bIns="0" rtlCol="0" anchor="ctr"/>
          <a:lstStyle/>
          <a:p>
            <a:pPr indent="0" marL="0">
              <a:buNone/>
            </a:pPr>
            <a:r>
              <a:rPr lang="en-US" sz="1250" dirty="0">
                <a:solidFill>
                  <a:srgbClr val="1B2B3A"/>
                </a:solidFill>
                <a:latin typeface="Calibri" pitchFamily="34" charset="0"/>
                <a:ea typeface="Calibri" pitchFamily="34" charset="-122"/>
                <a:cs typeface="Calibri" pitchFamily="34" charset="-120"/>
              </a:rPr>
              <a:t>Fetches recent emails over IMAP and classifies each one</a:t>
            </a:r>
            <a:endParaRPr lang="en-US" sz="1250" dirty="0"/>
          </a:p>
        </p:txBody>
      </p:sp>
      <p:sp>
        <p:nvSpPr>
          <p:cNvPr id="21" name="Shape 18"/>
          <p:cNvSpPr/>
          <p:nvPr/>
        </p:nvSpPr>
        <p:spPr>
          <a:xfrm>
            <a:off x="548640" y="4389120"/>
            <a:ext cx="8046720" cy="365760"/>
          </a:xfrm>
          <a:prstGeom prst="roundRect">
            <a:avLst>
              <a:gd name="adj" fmla="val 25000"/>
            </a:avLst>
          </a:prstGeom>
          <a:solidFill>
            <a:srgbClr val="FDE6DF"/>
          </a:solidFill>
          <a:ln w="12700">
            <a:solidFill>
              <a:srgbClr val="FDE6DF"/>
            </a:solidFill>
            <a:prstDash val="solid"/>
          </a:ln>
        </p:spPr>
      </p:sp>
      <p:sp>
        <p:nvSpPr>
          <p:cNvPr id="22" name="Text 19"/>
          <p:cNvSpPr txBox="1"/>
          <p:nvPr/>
        </p:nvSpPr>
        <p:spPr>
          <a:xfrm>
            <a:off x="731520" y="4389120"/>
            <a:ext cx="7680960" cy="365760"/>
          </a:xfrm>
          <a:prstGeom prst="rect">
            <a:avLst/>
          </a:prstGeom>
          <a:noFill/>
          <a:ln/>
        </p:spPr>
        <p:txBody>
          <a:bodyPr wrap="square" lIns="0" tIns="0" rIns="0" bIns="0" rtlCol="0" anchor="ctr"/>
          <a:lstStyle/>
          <a:p>
            <a:pPr indent="0" marL="0">
              <a:buNone/>
            </a:pPr>
            <a:r>
              <a:rPr lang="en-US" sz="1200" b="1" dirty="0">
                <a:solidFill>
                  <a:srgbClr val="8A2A12"/>
                </a:solidFill>
                <a:latin typeface="Calibri" pitchFamily="34" charset="0"/>
                <a:ea typeface="Calibri" pitchFamily="34" charset="-122"/>
                <a:cs typeface="Calibri" pitchFamily="34" charset="-120"/>
              </a:rPr>
              <a:t>Inbox scanning uses an app password and environment variables, never the real account password.</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F6FA"/>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640080"/>
          </a:xfrm>
          <a:prstGeom prst="rect">
            <a:avLst/>
          </a:prstGeom>
          <a:noFill/>
          <a:ln/>
        </p:spPr>
        <p:txBody>
          <a:bodyPr wrap="square" lIns="0" tIns="0" rIns="0" bIns="0" rtlCol="0" anchor="ctr"/>
          <a:lstStyle/>
          <a:p>
            <a:pPr indent="0" marL="0">
              <a:buNone/>
            </a:pPr>
            <a:r>
              <a:rPr lang="en-US" sz="3200" b="1" dirty="0">
                <a:solidFill>
                  <a:srgbClr val="1B2B3A"/>
                </a:solidFill>
                <a:latin typeface="Cambria" pitchFamily="34" charset="0"/>
                <a:ea typeface="Cambria" pitchFamily="34" charset="-122"/>
                <a:cs typeface="Cambria" pitchFamily="34" charset="-120"/>
              </a:rPr>
              <a:t>Results</a:t>
            </a:r>
            <a:endParaRPr lang="en-US" sz="3200" dirty="0"/>
          </a:p>
        </p:txBody>
      </p:sp>
      <p:sp>
        <p:nvSpPr>
          <p:cNvPr id="3" name="Text 1"/>
          <p:cNvSpPr txBox="1"/>
          <p:nvPr/>
        </p:nvSpPr>
        <p:spPr>
          <a:xfrm>
            <a:off x="548640" y="4846320"/>
            <a:ext cx="6400800" cy="201168"/>
          </a:xfrm>
          <a:prstGeom prst="rect">
            <a:avLst/>
          </a:prstGeom>
          <a:noFill/>
          <a:ln/>
        </p:spPr>
        <p:txBody>
          <a:bodyPr wrap="square" lIns="0" tIns="0" rIns="0" bIns="0" rtlCol="0" anchor="ctr"/>
          <a:lstStyle/>
          <a:p>
            <a:pPr indent="0" marL="0">
              <a:buNone/>
            </a:pPr>
            <a:r>
              <a:rPr lang="en-US" sz="900" dirty="0">
                <a:solidFill>
                  <a:srgbClr val="5B6B7B"/>
                </a:solidFill>
                <a:latin typeface="Calibri" pitchFamily="34" charset="0"/>
                <a:ea typeface="Calibri" pitchFamily="34" charset="-122"/>
                <a:cs typeface="Calibri" pitchFamily="34" charset="-120"/>
              </a:rPr>
              <a:t>Phishing Detection System  |  Aman Kumar Gautam  |  CS-2341642</a:t>
            </a:r>
            <a:endParaRPr lang="en-US" sz="900" dirty="0"/>
          </a:p>
        </p:txBody>
      </p:sp>
      <p:sp>
        <p:nvSpPr>
          <p:cNvPr id="4" name="Text 2"/>
          <p:cNvSpPr txBox="1"/>
          <p:nvPr/>
        </p:nvSpPr>
        <p:spPr>
          <a:xfrm>
            <a:off x="8138160" y="4846320"/>
            <a:ext cx="457200" cy="201168"/>
          </a:xfrm>
          <a:prstGeom prst="rect">
            <a:avLst/>
          </a:prstGeom>
          <a:noFill/>
          <a:ln/>
        </p:spPr>
        <p:txBody>
          <a:bodyPr wrap="square" lIns="0" tIns="0" rIns="0" bIns="0"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10</a:t>
            </a:r>
            <a:endParaRPr lang="en-US" sz="900" dirty="0"/>
          </a:p>
        </p:txBody>
      </p:sp>
      <p:sp>
        <p:nvSpPr>
          <p:cNvPr id="6" name="Text 3"/>
          <p:cNvSpPr txBox="1"/>
          <p:nvPr/>
        </p:nvSpPr>
        <p:spPr>
          <a:xfrm>
            <a:off x="548640" y="1097280"/>
            <a:ext cx="3840480" cy="274320"/>
          </a:xfrm>
          <a:prstGeom prst="rect">
            <a:avLst/>
          </a:prstGeom>
          <a:noFill/>
          <a:ln/>
        </p:spPr>
        <p:txBody>
          <a:bodyPr wrap="square" lIns="0" tIns="0" rIns="0" bIns="0" rtlCol="0" anchor="ctr"/>
          <a:lstStyle/>
          <a:p>
            <a:pPr indent="0" marL="0">
              <a:buNone/>
            </a:pPr>
            <a:r>
              <a:rPr lang="en-US" sz="1300" b="1" dirty="0">
                <a:solidFill>
                  <a:srgbClr val="5B6B7B"/>
                </a:solidFill>
                <a:latin typeface="Calibri" pitchFamily="34" charset="0"/>
                <a:ea typeface="Calibri" pitchFamily="34" charset="-122"/>
                <a:cs typeface="Calibri" pitchFamily="34" charset="-120"/>
              </a:rPr>
              <a:t>Confusion matrix (90 test emails)</a:t>
            </a:r>
            <a:endParaRPr lang="en-US" sz="1300" dirty="0"/>
          </a:p>
        </p:txBody>
      </p:sp>
      <p:sp>
        <p:nvSpPr>
          <p:cNvPr id="7" name="Text 4"/>
          <p:cNvSpPr txBox="1"/>
          <p:nvPr/>
        </p:nvSpPr>
        <p:spPr>
          <a:xfrm>
            <a:off x="1554480" y="1417320"/>
            <a:ext cx="2743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Predicted</a:t>
            </a:r>
            <a:endParaRPr lang="en-US" sz="1100" dirty="0"/>
          </a:p>
        </p:txBody>
      </p:sp>
      <p:sp>
        <p:nvSpPr>
          <p:cNvPr id="8" name="Text 5"/>
          <p:cNvSpPr txBox="1"/>
          <p:nvPr/>
        </p:nvSpPr>
        <p:spPr>
          <a:xfrm>
            <a:off x="1554480" y="1645920"/>
            <a:ext cx="1371600" cy="228600"/>
          </a:xfrm>
          <a:prstGeom prst="rect">
            <a:avLst/>
          </a:prstGeom>
          <a:noFill/>
          <a:ln/>
        </p:spPr>
        <p:txBody>
          <a:bodyPr wrap="square" lIns="0" tIns="0" rIns="0" bIns="0" rtlCol="0" anchor="ctr"/>
          <a:lstStyle/>
          <a:p>
            <a:pPr algn="ctr" indent="0" marL="0">
              <a:buNone/>
            </a:pPr>
            <a:r>
              <a:rPr lang="en-US" sz="1100" b="1" dirty="0">
                <a:solidFill>
                  <a:srgbClr val="1B2B3A"/>
                </a:solidFill>
                <a:latin typeface="Calibri" pitchFamily="34" charset="0"/>
                <a:ea typeface="Calibri" pitchFamily="34" charset="-122"/>
                <a:cs typeface="Calibri" pitchFamily="34" charset="-120"/>
              </a:rPr>
              <a:t>Phishing</a:t>
            </a:r>
            <a:endParaRPr lang="en-US" sz="1100" dirty="0"/>
          </a:p>
        </p:txBody>
      </p:sp>
      <p:sp>
        <p:nvSpPr>
          <p:cNvPr id="9" name="Text 6"/>
          <p:cNvSpPr txBox="1"/>
          <p:nvPr/>
        </p:nvSpPr>
        <p:spPr>
          <a:xfrm>
            <a:off x="3017520" y="1645920"/>
            <a:ext cx="1371600" cy="228600"/>
          </a:xfrm>
          <a:prstGeom prst="rect">
            <a:avLst/>
          </a:prstGeom>
          <a:noFill/>
          <a:ln/>
        </p:spPr>
        <p:txBody>
          <a:bodyPr wrap="square" lIns="0" tIns="0" rIns="0" bIns="0" rtlCol="0" anchor="ctr"/>
          <a:lstStyle/>
          <a:p>
            <a:pPr algn="ctr" indent="0" marL="0">
              <a:buNone/>
            </a:pPr>
            <a:r>
              <a:rPr lang="en-US" sz="1100" b="1" dirty="0">
                <a:solidFill>
                  <a:srgbClr val="1B2B3A"/>
                </a:solidFill>
                <a:latin typeface="Calibri" pitchFamily="34" charset="0"/>
                <a:ea typeface="Calibri" pitchFamily="34" charset="-122"/>
                <a:cs typeface="Calibri" pitchFamily="34" charset="-120"/>
              </a:rPr>
              <a:t>Safe</a:t>
            </a:r>
            <a:endParaRPr lang="en-US" sz="1100" dirty="0"/>
          </a:p>
        </p:txBody>
      </p:sp>
      <p:sp>
        <p:nvSpPr>
          <p:cNvPr id="10" name="Text 7"/>
          <p:cNvSpPr txBox="1"/>
          <p:nvPr/>
        </p:nvSpPr>
        <p:spPr>
          <a:xfrm>
            <a:off x="548640" y="1645920"/>
            <a:ext cx="914400" cy="228600"/>
          </a:xfrm>
          <a:prstGeom prst="rect">
            <a:avLst/>
          </a:prstGeom>
          <a:noFill/>
          <a:ln/>
        </p:spPr>
        <p:txBody>
          <a:bodyPr wrap="square" lIns="0" tIns="0" rIns="0" bIns="0" rtlCol="0" anchor="ctr"/>
          <a:lstStyle/>
          <a:p>
            <a:pPr indent="0" marL="0">
              <a:buNone/>
            </a:pPr>
            <a:r>
              <a:rPr lang="en-US" sz="1100" dirty="0">
                <a:solidFill>
                  <a:srgbClr val="5B6B7B"/>
                </a:solidFill>
                <a:latin typeface="Calibri" pitchFamily="34" charset="0"/>
                <a:ea typeface="Calibri" pitchFamily="34" charset="-122"/>
                <a:cs typeface="Calibri" pitchFamily="34" charset="-120"/>
              </a:rPr>
              <a:t>Actual</a:t>
            </a:r>
            <a:endParaRPr lang="en-US" sz="1100" dirty="0"/>
          </a:p>
        </p:txBody>
      </p:sp>
      <p:sp>
        <p:nvSpPr>
          <p:cNvPr id="11" name="Text 8"/>
          <p:cNvSpPr txBox="1"/>
          <p:nvPr/>
        </p:nvSpPr>
        <p:spPr>
          <a:xfrm>
            <a:off x="548640" y="1920240"/>
            <a:ext cx="914400" cy="685800"/>
          </a:xfrm>
          <a:prstGeom prst="rect">
            <a:avLst/>
          </a:prstGeom>
          <a:noFill/>
          <a:ln/>
        </p:spPr>
        <p:txBody>
          <a:bodyPr wrap="square" lIns="0" tIns="0" rIns="0" bIns="0" rtlCol="0" anchor="ctr"/>
          <a:lstStyle/>
          <a:p>
            <a:pPr indent="0" marL="0">
              <a:buNone/>
            </a:pPr>
            <a:r>
              <a:rPr lang="en-US" sz="1100" b="1" dirty="0">
                <a:solidFill>
                  <a:srgbClr val="1B2B3A"/>
                </a:solidFill>
                <a:latin typeface="Calibri" pitchFamily="34" charset="0"/>
                <a:ea typeface="Calibri" pitchFamily="34" charset="-122"/>
                <a:cs typeface="Calibri" pitchFamily="34" charset="-120"/>
              </a:rPr>
              <a:t>Phishing</a:t>
            </a:r>
            <a:endParaRPr lang="en-US" sz="1100" dirty="0"/>
          </a:p>
        </p:txBody>
      </p:sp>
      <p:sp>
        <p:nvSpPr>
          <p:cNvPr id="12" name="Text 9"/>
          <p:cNvSpPr txBox="1"/>
          <p:nvPr/>
        </p:nvSpPr>
        <p:spPr>
          <a:xfrm>
            <a:off x="548640" y="2651760"/>
            <a:ext cx="914400" cy="685800"/>
          </a:xfrm>
          <a:prstGeom prst="rect">
            <a:avLst/>
          </a:prstGeom>
          <a:noFill/>
          <a:ln/>
        </p:spPr>
        <p:txBody>
          <a:bodyPr wrap="square" lIns="0" tIns="0" rIns="0" bIns="0" rtlCol="0" anchor="ctr"/>
          <a:lstStyle/>
          <a:p>
            <a:pPr indent="0" marL="0">
              <a:buNone/>
            </a:pPr>
            <a:r>
              <a:rPr lang="en-US" sz="1100" b="1" dirty="0">
                <a:solidFill>
                  <a:srgbClr val="1B2B3A"/>
                </a:solidFill>
                <a:latin typeface="Calibri" pitchFamily="34" charset="0"/>
                <a:ea typeface="Calibri" pitchFamily="34" charset="-122"/>
                <a:cs typeface="Calibri" pitchFamily="34" charset="-120"/>
              </a:rPr>
              <a:t>Safe</a:t>
            </a:r>
            <a:endParaRPr lang="en-US" sz="1100" dirty="0"/>
          </a:p>
        </p:txBody>
      </p:sp>
      <p:sp>
        <p:nvSpPr>
          <p:cNvPr id="13" name="Shape 10"/>
          <p:cNvSpPr/>
          <p:nvPr/>
        </p:nvSpPr>
        <p:spPr>
          <a:xfrm>
            <a:off x="1554480" y="1920240"/>
            <a:ext cx="1371600" cy="685800"/>
          </a:xfrm>
          <a:prstGeom prst="rect">
            <a:avLst/>
          </a:prstGeom>
          <a:solidFill>
            <a:srgbClr val="0F2A47"/>
          </a:solidFill>
          <a:ln w="25400">
            <a:solidFill>
              <a:srgbClr val="FFFFFF"/>
            </a:solidFill>
            <a:prstDash val="solid"/>
          </a:ln>
        </p:spPr>
      </p:sp>
      <p:sp>
        <p:nvSpPr>
          <p:cNvPr id="14" name="Text 11"/>
          <p:cNvSpPr txBox="1"/>
          <p:nvPr/>
        </p:nvSpPr>
        <p:spPr>
          <a:xfrm>
            <a:off x="1554480" y="1920240"/>
            <a:ext cx="1371600" cy="68580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45</a:t>
            </a:r>
            <a:endParaRPr lang="en-US" sz="2800" dirty="0"/>
          </a:p>
        </p:txBody>
      </p:sp>
      <p:sp>
        <p:nvSpPr>
          <p:cNvPr id="15" name="Shape 12"/>
          <p:cNvSpPr/>
          <p:nvPr/>
        </p:nvSpPr>
        <p:spPr>
          <a:xfrm>
            <a:off x="3017520" y="1920240"/>
            <a:ext cx="1371600" cy="685800"/>
          </a:xfrm>
          <a:prstGeom prst="rect">
            <a:avLst/>
          </a:prstGeom>
          <a:solidFill>
            <a:srgbClr val="E8EEF5"/>
          </a:solidFill>
          <a:ln w="25400">
            <a:solidFill>
              <a:srgbClr val="FFFFFF"/>
            </a:solidFill>
            <a:prstDash val="solid"/>
          </a:ln>
        </p:spPr>
      </p:sp>
      <p:sp>
        <p:nvSpPr>
          <p:cNvPr id="16" name="Text 13"/>
          <p:cNvSpPr txBox="1"/>
          <p:nvPr/>
        </p:nvSpPr>
        <p:spPr>
          <a:xfrm>
            <a:off x="3017520" y="1920240"/>
            <a:ext cx="1371600" cy="685800"/>
          </a:xfrm>
          <a:prstGeom prst="rect">
            <a:avLst/>
          </a:prstGeom>
          <a:noFill/>
          <a:ln/>
        </p:spPr>
        <p:txBody>
          <a:bodyPr wrap="square" lIns="0" tIns="0" rIns="0" bIns="0" rtlCol="0" anchor="ctr"/>
          <a:lstStyle/>
          <a:p>
            <a:pPr algn="ctr" indent="0" marL="0">
              <a:buNone/>
            </a:pPr>
            <a:r>
              <a:rPr lang="en-US" sz="2800" b="1" dirty="0">
                <a:solidFill>
                  <a:srgbClr val="5B6B7B"/>
                </a:solidFill>
                <a:latin typeface="Cambria" pitchFamily="34" charset="0"/>
                <a:ea typeface="Cambria" pitchFamily="34" charset="-122"/>
                <a:cs typeface="Cambria" pitchFamily="34" charset="-120"/>
              </a:rPr>
              <a:t>0</a:t>
            </a:r>
            <a:endParaRPr lang="en-US" sz="2800" dirty="0"/>
          </a:p>
        </p:txBody>
      </p:sp>
      <p:sp>
        <p:nvSpPr>
          <p:cNvPr id="17" name="Shape 14"/>
          <p:cNvSpPr/>
          <p:nvPr/>
        </p:nvSpPr>
        <p:spPr>
          <a:xfrm>
            <a:off x="1554480" y="2651760"/>
            <a:ext cx="1371600" cy="685800"/>
          </a:xfrm>
          <a:prstGeom prst="rect">
            <a:avLst/>
          </a:prstGeom>
          <a:solidFill>
            <a:srgbClr val="E8EEF5"/>
          </a:solidFill>
          <a:ln w="25400">
            <a:solidFill>
              <a:srgbClr val="FFFFFF"/>
            </a:solidFill>
            <a:prstDash val="solid"/>
          </a:ln>
        </p:spPr>
      </p:sp>
      <p:sp>
        <p:nvSpPr>
          <p:cNvPr id="18" name="Text 15"/>
          <p:cNvSpPr txBox="1"/>
          <p:nvPr/>
        </p:nvSpPr>
        <p:spPr>
          <a:xfrm>
            <a:off x="1554480" y="2651760"/>
            <a:ext cx="1371600" cy="685800"/>
          </a:xfrm>
          <a:prstGeom prst="rect">
            <a:avLst/>
          </a:prstGeom>
          <a:noFill/>
          <a:ln/>
        </p:spPr>
        <p:txBody>
          <a:bodyPr wrap="square" lIns="0" tIns="0" rIns="0" bIns="0" rtlCol="0" anchor="ctr"/>
          <a:lstStyle/>
          <a:p>
            <a:pPr algn="ctr" indent="0" marL="0">
              <a:buNone/>
            </a:pPr>
            <a:r>
              <a:rPr lang="en-US" sz="2800" b="1" dirty="0">
                <a:solidFill>
                  <a:srgbClr val="5B6B7B"/>
                </a:solidFill>
                <a:latin typeface="Cambria" pitchFamily="34" charset="0"/>
                <a:ea typeface="Cambria" pitchFamily="34" charset="-122"/>
                <a:cs typeface="Cambria" pitchFamily="34" charset="-120"/>
              </a:rPr>
              <a:t>0</a:t>
            </a:r>
            <a:endParaRPr lang="en-US" sz="2800" dirty="0"/>
          </a:p>
        </p:txBody>
      </p:sp>
      <p:sp>
        <p:nvSpPr>
          <p:cNvPr id="19" name="Shape 16"/>
          <p:cNvSpPr/>
          <p:nvPr/>
        </p:nvSpPr>
        <p:spPr>
          <a:xfrm>
            <a:off x="3017520" y="2651760"/>
            <a:ext cx="1371600" cy="685800"/>
          </a:xfrm>
          <a:prstGeom prst="rect">
            <a:avLst/>
          </a:prstGeom>
          <a:solidFill>
            <a:srgbClr val="0F2A47"/>
          </a:solidFill>
          <a:ln w="25400">
            <a:solidFill>
              <a:srgbClr val="FFFFFF"/>
            </a:solidFill>
            <a:prstDash val="solid"/>
          </a:ln>
        </p:spPr>
      </p:sp>
      <p:sp>
        <p:nvSpPr>
          <p:cNvPr id="20" name="Text 17"/>
          <p:cNvSpPr txBox="1"/>
          <p:nvPr/>
        </p:nvSpPr>
        <p:spPr>
          <a:xfrm>
            <a:off x="3017520" y="2651760"/>
            <a:ext cx="1371600" cy="68580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45</a:t>
            </a:r>
            <a:endParaRPr lang="en-US" sz="2800" dirty="0"/>
          </a:p>
        </p:txBody>
      </p:sp>
      <p:sp>
        <p:nvSpPr>
          <p:cNvPr id="21" name="Text 18"/>
          <p:cNvSpPr txBox="1"/>
          <p:nvPr/>
        </p:nvSpPr>
        <p:spPr>
          <a:xfrm>
            <a:off x="4937760" y="1051560"/>
            <a:ext cx="2011680" cy="777240"/>
          </a:xfrm>
          <a:prstGeom prst="rect">
            <a:avLst/>
          </a:prstGeom>
          <a:noFill/>
          <a:ln/>
        </p:spPr>
        <p:txBody>
          <a:bodyPr wrap="square" lIns="0" tIns="0" rIns="0" bIns="0" rtlCol="0" anchor="ctr"/>
          <a:lstStyle/>
          <a:p>
            <a:pPr indent="0" marL="0">
              <a:buNone/>
            </a:pPr>
            <a:r>
              <a:rPr lang="en-US" sz="4800" b="1" dirty="0">
                <a:solidFill>
                  <a:srgbClr val="00A896"/>
                </a:solidFill>
                <a:latin typeface="Cambria" pitchFamily="34" charset="0"/>
                <a:ea typeface="Cambria" pitchFamily="34" charset="-122"/>
                <a:cs typeface="Cambria" pitchFamily="34" charset="-120"/>
              </a:rPr>
              <a:t>100%</a:t>
            </a:r>
            <a:endParaRPr lang="en-US" sz="4800" dirty="0"/>
          </a:p>
        </p:txBody>
      </p:sp>
      <p:sp>
        <p:nvSpPr>
          <p:cNvPr id="22" name="Text 19"/>
          <p:cNvSpPr txBox="1"/>
          <p:nvPr/>
        </p:nvSpPr>
        <p:spPr>
          <a:xfrm>
            <a:off x="4937760" y="1828800"/>
            <a:ext cx="3566160" cy="274320"/>
          </a:xfrm>
          <a:prstGeom prst="rect">
            <a:avLst/>
          </a:prstGeom>
          <a:noFill/>
          <a:ln/>
        </p:spPr>
        <p:txBody>
          <a:bodyPr wrap="square" lIns="0" tIns="0" rIns="0" bIns="0" rtlCol="0" anchor="ctr"/>
          <a:lstStyle/>
          <a:p>
            <a:pPr indent="0" marL="0">
              <a:buNone/>
            </a:pPr>
            <a:r>
              <a:rPr lang="en-US" sz="1300" dirty="0">
                <a:solidFill>
                  <a:srgbClr val="5B6B7B"/>
                </a:solidFill>
                <a:latin typeface="Calibri" pitchFamily="34" charset="0"/>
                <a:ea typeface="Calibri" pitchFamily="34" charset="-122"/>
                <a:cs typeface="Calibri" pitchFamily="34" charset="-120"/>
              </a:rPr>
              <a:t>accuracy on held-out test set</a:t>
            </a:r>
            <a:endParaRPr lang="en-US" sz="13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937760" y="2240280"/>
          <a:ext cx="3657600" cy="914400"/>
        </p:xfrm>
        <a:graphic>
          <a:graphicData uri="http://schemas.openxmlformats.org/drawingml/2006/table">
            <a:tbl>
              <a:tblPr/>
              <a:tblGrid>
                <a:gridCol w="1005840"/>
                <a:gridCol w="777240"/>
                <a:gridCol w="640080"/>
                <a:gridCol w="548640"/>
                <a:gridCol w="685800"/>
              </a:tblGrid>
              <a:tr h="310896">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Class</a:t>
                      </a:r>
                      <a:endParaRPr lang="en-US" sz="1100" dirty="0">
                        <a:latin typeface="Calibri" charset="0"/>
                        <a:ea typeface="Calibri" charset="0"/>
                        <a:cs typeface="Calibri" charset="0"/>
                      </a:endParaRPr>
                    </a:p>
                  </a:txBody>
                  <a:tcPr marL="91440" marR="91440" marT="36576" marB="36576" anchor="ctr">
                    <a:lnL w="6350" cap="flat" cmpd="sng" algn="ctr">
                      <a:solidFill>
                        <a:srgbClr val="E1E8EF"/>
                      </a:solidFill>
                      <a:prstDash val="solid"/>
                      <a:round/>
                      <a:headEnd type="none" w="med" len="med"/>
                      <a:tailEnd type="none" w="med" len="med"/>
                    </a:lnL>
                    <a:lnR w="6350" cap="flat" cmpd="sng" algn="ctr">
                      <a:solidFill>
                        <a:srgbClr val="E1E8EF"/>
                      </a:solidFill>
                      <a:prstDash val="solid"/>
                      <a:round/>
                      <a:headEnd type="none" w="med" len="med"/>
                      <a:tailEnd type="none" w="med" len="med"/>
                    </a:lnR>
                    <a:lnT w="6350" cap="flat" cmpd="sng" algn="ctr">
                      <a:solidFill>
                        <a:srgbClr val="E1E8EF"/>
                      </a:solidFill>
                      <a:prstDash val="solid"/>
                      <a:round/>
                      <a:headEnd type="none" w="med" len="med"/>
                      <a:tailEnd type="none" w="med" len="med"/>
                    </a:lnT>
                    <a:lnB w="6350" cap="flat" cmpd="sng" algn="ctr">
                      <a:solidFill>
                        <a:srgbClr val="E1E8EF"/>
                      </a:solidFill>
                      <a:prstDash val="solid"/>
                      <a:round/>
                      <a:headEnd type="none" w="med" len="med"/>
                      <a:tailEnd type="none" w="med" len="med"/>
                    </a:lnB>
                    <a:solidFill>
                      <a:srgbClr val="0F2A47"/>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Precision</a:t>
                      </a:r>
                      <a:endParaRPr lang="en-US" sz="1100" dirty="0">
                        <a:latin typeface="Calibri" charset="0"/>
                        <a:ea typeface="Calibri" charset="0"/>
                        <a:cs typeface="Calibri" charset="0"/>
                      </a:endParaRPr>
                    </a:p>
                  </a:txBody>
                  <a:tcPr marL="91440" marR="91440" marT="36576" marB="36576" anchor="ctr">
                    <a:lnL w="6350" cap="flat" cmpd="sng" algn="ctr">
                      <a:solidFill>
                        <a:srgbClr val="E1E8EF"/>
                      </a:solidFill>
                      <a:prstDash val="solid"/>
                      <a:round/>
                      <a:headEnd type="none" w="med" len="med"/>
                      <a:tailEnd type="none" w="med" len="med"/>
                    </a:lnL>
                    <a:lnR w="6350" cap="flat" cmpd="sng" algn="ctr">
                      <a:solidFill>
                        <a:srgbClr val="E1E8EF"/>
                      </a:solidFill>
                      <a:prstDash val="solid"/>
                      <a:round/>
                      <a:headEnd type="none" w="med" len="med"/>
                      <a:tailEnd type="none" w="med" len="med"/>
                    </a:lnR>
                    <a:lnT w="6350" cap="flat" cmpd="sng" algn="ctr">
                      <a:solidFill>
                        <a:srgbClr val="E1E8EF"/>
                      </a:solidFill>
                      <a:prstDash val="solid"/>
                      <a:round/>
                      <a:headEnd type="none" w="med" len="med"/>
                      <a:tailEnd type="none" w="med" len="med"/>
                    </a:lnT>
                    <a:lnB w="6350" cap="flat" cmpd="sng" algn="ctr">
                      <a:solidFill>
                        <a:srgbClr val="E1E8EF"/>
                      </a:solidFill>
                      <a:prstDash val="solid"/>
                      <a:round/>
                      <a:headEnd type="none" w="med" len="med"/>
                      <a:tailEnd type="none" w="med" len="med"/>
                    </a:lnB>
                    <a:solidFill>
                      <a:srgbClr val="0F2A47"/>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Recall</a:t>
                      </a:r>
                      <a:endParaRPr lang="en-US" sz="1100" dirty="0">
                        <a:latin typeface="Calibri" charset="0"/>
                        <a:ea typeface="Calibri" charset="0"/>
                        <a:cs typeface="Calibri" charset="0"/>
                      </a:endParaRPr>
                    </a:p>
                  </a:txBody>
                  <a:tcPr marL="91440" marR="91440" marT="36576" marB="36576" anchor="ctr">
                    <a:lnL w="6350" cap="flat" cmpd="sng" algn="ctr">
                      <a:solidFill>
                        <a:srgbClr val="E1E8EF"/>
                      </a:solidFill>
                      <a:prstDash val="solid"/>
                      <a:round/>
                      <a:headEnd type="none" w="med" len="med"/>
                      <a:tailEnd type="none" w="med" len="med"/>
                    </a:lnL>
                    <a:lnR w="6350" cap="flat" cmpd="sng" algn="ctr">
                      <a:solidFill>
                        <a:srgbClr val="E1E8EF"/>
                      </a:solidFill>
                      <a:prstDash val="solid"/>
                      <a:round/>
                      <a:headEnd type="none" w="med" len="med"/>
                      <a:tailEnd type="none" w="med" len="med"/>
                    </a:lnR>
                    <a:lnT w="6350" cap="flat" cmpd="sng" algn="ctr">
                      <a:solidFill>
                        <a:srgbClr val="E1E8EF"/>
                      </a:solidFill>
                      <a:prstDash val="solid"/>
                      <a:round/>
                      <a:headEnd type="none" w="med" len="med"/>
                      <a:tailEnd type="none" w="med" len="med"/>
                    </a:lnT>
                    <a:lnB w="6350" cap="flat" cmpd="sng" algn="ctr">
                      <a:solidFill>
                        <a:srgbClr val="E1E8EF"/>
                      </a:solidFill>
                      <a:prstDash val="solid"/>
                      <a:round/>
                      <a:headEnd type="none" w="med" len="med"/>
                      <a:tailEnd type="none" w="med" len="med"/>
                    </a:lnB>
                    <a:solidFill>
                      <a:srgbClr val="0F2A47"/>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F1</a:t>
                      </a:r>
                      <a:endParaRPr lang="en-US" sz="1100" dirty="0">
                        <a:latin typeface="Calibri" charset="0"/>
                        <a:ea typeface="Calibri" charset="0"/>
                        <a:cs typeface="Calibri" charset="0"/>
                      </a:endParaRPr>
                    </a:p>
                  </a:txBody>
                  <a:tcPr marL="91440" marR="91440" marT="36576" marB="36576" anchor="ctr">
                    <a:lnL w="6350" cap="flat" cmpd="sng" algn="ctr">
                      <a:solidFill>
                        <a:srgbClr val="E1E8EF"/>
                      </a:solidFill>
                      <a:prstDash val="solid"/>
                      <a:round/>
                      <a:headEnd type="none" w="med" len="med"/>
                      <a:tailEnd type="none" w="med" len="med"/>
                    </a:lnL>
                    <a:lnR w="6350" cap="flat" cmpd="sng" algn="ctr">
                      <a:solidFill>
                        <a:srgbClr val="E1E8EF"/>
                      </a:solidFill>
                      <a:prstDash val="solid"/>
                      <a:round/>
                      <a:headEnd type="none" w="med" len="med"/>
                      <a:tailEnd type="none" w="med" len="med"/>
                    </a:lnR>
                    <a:lnT w="6350" cap="flat" cmpd="sng" algn="ctr">
                      <a:solidFill>
                        <a:srgbClr val="E1E8EF"/>
                      </a:solidFill>
                      <a:prstDash val="solid"/>
                      <a:round/>
                      <a:headEnd type="none" w="med" len="med"/>
                      <a:tailEnd type="none" w="med" len="med"/>
                    </a:lnT>
                    <a:lnB w="6350" cap="flat" cmpd="sng" algn="ctr">
                      <a:solidFill>
                        <a:srgbClr val="E1E8EF"/>
                      </a:solidFill>
                      <a:prstDash val="solid"/>
                      <a:round/>
                      <a:headEnd type="none" w="med" len="med"/>
                      <a:tailEnd type="none" w="med" len="med"/>
                    </a:lnB>
                    <a:solidFill>
                      <a:srgbClr val="0F2A47"/>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Support</a:t>
                      </a:r>
                      <a:endParaRPr lang="en-US" sz="1100" dirty="0">
                        <a:latin typeface="Calibri" charset="0"/>
                        <a:ea typeface="Calibri" charset="0"/>
                        <a:cs typeface="Calibri" charset="0"/>
                      </a:endParaRPr>
                    </a:p>
                  </a:txBody>
                  <a:tcPr marL="91440" marR="91440" marT="36576" marB="36576" anchor="ctr">
                    <a:lnL w="6350" cap="flat" cmpd="sng" algn="ctr">
                      <a:solidFill>
                        <a:srgbClr val="E1E8EF"/>
                      </a:solidFill>
                      <a:prstDash val="solid"/>
                      <a:round/>
                      <a:headEnd type="none" w="med" len="med"/>
                      <a:tailEnd type="none" w="med" len="med"/>
                    </a:lnL>
                    <a:lnR w="6350" cap="flat" cmpd="sng" algn="ctr">
                      <a:solidFill>
                        <a:srgbClr val="E1E8EF"/>
                      </a:solidFill>
                      <a:prstDash val="solid"/>
                      <a:round/>
                      <a:headEnd type="none" w="med" len="med"/>
                      <a:tailEnd type="none" w="med" len="med"/>
                    </a:lnR>
                    <a:lnT w="6350" cap="flat" cmpd="sng" algn="ctr">
                      <a:solidFill>
                        <a:srgbClr val="E1E8EF"/>
                      </a:solidFill>
                      <a:prstDash val="solid"/>
                      <a:round/>
                      <a:headEnd type="none" w="med" len="med"/>
                      <a:tailEnd type="none" w="med" len="med"/>
                    </a:lnT>
                    <a:lnB w="6350" cap="flat" cmpd="sng" algn="ctr">
                      <a:solidFill>
                        <a:srgbClr val="E1E8EF"/>
                      </a:solidFill>
                      <a:prstDash val="solid"/>
                      <a:round/>
                      <a:headEnd type="none" w="med" len="med"/>
                      <a:tailEnd type="none" w="med" len="med"/>
                    </a:lnB>
                    <a:solidFill>
                      <a:srgbClr val="0F2A47"/>
                    </a:solidFill>
                  </a:tcPr>
                </a:tc>
              </a:tr>
              <a:tr h="310896">
                <a:tc>
                  <a:txBody>
                    <a:bodyPr/>
                    <a:lstStyle/>
                    <a:p>
                      <a:pPr indent="0" marL="0">
                        <a:buNone/>
                      </a:pPr>
                      <a:r>
                        <a:rPr lang="en-US" sz="1100" dirty="0">
                          <a:solidFill>
                            <a:srgbClr val="1B2B3A"/>
                          </a:solidFill>
                          <a:latin typeface="Calibri" pitchFamily="34" charset="0"/>
                          <a:ea typeface="Calibri" pitchFamily="34" charset="-122"/>
                          <a:cs typeface="Calibri" pitchFamily="34" charset="-120"/>
                        </a:rPr>
                        <a:t>Phishing</a:t>
                      </a:r>
                      <a:endParaRPr lang="en-US" sz="1100" dirty="0">
                        <a:latin typeface="Calibri" charset="0"/>
                        <a:ea typeface="Calibri" charset="0"/>
                        <a:cs typeface="Calibri" charset="0"/>
                      </a:endParaRPr>
                    </a:p>
                  </a:txBody>
                  <a:tcPr marL="91440" marR="91440" marT="36576" marB="36576" anchor="ctr">
                    <a:lnL w="6350" cap="flat" cmpd="sng" algn="ctr">
                      <a:solidFill>
                        <a:srgbClr val="E1E8EF"/>
                      </a:solidFill>
                      <a:prstDash val="solid"/>
                      <a:round/>
                      <a:headEnd type="none" w="med" len="med"/>
                      <a:tailEnd type="none" w="med" len="med"/>
                    </a:lnL>
                    <a:lnR w="6350" cap="flat" cmpd="sng" algn="ctr">
                      <a:solidFill>
                        <a:srgbClr val="E1E8EF"/>
                      </a:solidFill>
                      <a:prstDash val="solid"/>
                      <a:round/>
                      <a:headEnd type="none" w="med" len="med"/>
                      <a:tailEnd type="none" w="med" len="med"/>
                    </a:lnR>
                    <a:lnT w="6350" cap="flat" cmpd="sng" algn="ctr">
                      <a:solidFill>
                        <a:srgbClr val="E1E8EF"/>
                      </a:solidFill>
                      <a:prstDash val="solid"/>
                      <a:round/>
                      <a:headEnd type="none" w="med" len="med"/>
                      <a:tailEnd type="none" w="med" len="med"/>
                    </a:lnT>
                    <a:lnB w="6350" cap="flat" cmpd="sng" algn="ctr">
                      <a:solidFill>
                        <a:srgbClr val="E1E8EF"/>
                      </a:solidFill>
                      <a:prstDash val="solid"/>
                      <a:round/>
                      <a:headEnd type="none" w="med" len="med"/>
                      <a:tailEnd type="none" w="med" len="med"/>
                    </a:lnB>
                    <a:solidFill>
                      <a:srgbClr val="FFFFFF"/>
                    </a:solidFill>
                  </a:tcPr>
                </a:tc>
                <a:tc>
                  <a:txBody>
                    <a:bodyPr/>
                    <a:lstStyle/>
                    <a:p>
                      <a:pPr indent="0" marL="0">
                        <a:buNone/>
                      </a:pPr>
                      <a:r>
                        <a:rPr lang="en-US" sz="1100" dirty="0">
                          <a:solidFill>
                            <a:srgbClr val="1B2B3A"/>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91440" marR="91440" marT="36576" marB="36576" anchor="ctr">
                    <a:lnL w="6350" cap="flat" cmpd="sng" algn="ctr">
                      <a:solidFill>
                        <a:srgbClr val="E1E8EF"/>
                      </a:solidFill>
                      <a:prstDash val="solid"/>
                      <a:round/>
                      <a:headEnd type="none" w="med" len="med"/>
                      <a:tailEnd type="none" w="med" len="med"/>
                    </a:lnL>
                    <a:lnR w="6350" cap="flat" cmpd="sng" algn="ctr">
                      <a:solidFill>
                        <a:srgbClr val="E1E8EF"/>
                      </a:solidFill>
                      <a:prstDash val="solid"/>
                      <a:round/>
                      <a:headEnd type="none" w="med" len="med"/>
                      <a:tailEnd type="none" w="med" len="med"/>
                    </a:lnR>
                    <a:lnT w="6350" cap="flat" cmpd="sng" algn="ctr">
                      <a:solidFill>
                        <a:srgbClr val="E1E8EF"/>
                      </a:solidFill>
                      <a:prstDash val="solid"/>
                      <a:round/>
                      <a:headEnd type="none" w="med" len="med"/>
                      <a:tailEnd type="none" w="med" len="med"/>
                    </a:lnT>
                    <a:lnB w="6350" cap="flat" cmpd="sng" algn="ctr">
                      <a:solidFill>
                        <a:srgbClr val="E1E8EF"/>
                      </a:solidFill>
                      <a:prstDash val="solid"/>
                      <a:round/>
                      <a:headEnd type="none" w="med" len="med"/>
                      <a:tailEnd type="none" w="med" len="med"/>
                    </a:lnB>
                    <a:solidFill>
                      <a:srgbClr val="FFFFFF"/>
                    </a:solidFill>
                  </a:tcPr>
                </a:tc>
                <a:tc>
                  <a:txBody>
                    <a:bodyPr/>
                    <a:lstStyle/>
                    <a:p>
                      <a:pPr indent="0" marL="0">
                        <a:buNone/>
                      </a:pPr>
                      <a:r>
                        <a:rPr lang="en-US" sz="1100" dirty="0">
                          <a:solidFill>
                            <a:srgbClr val="1B2B3A"/>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91440" marR="91440" marT="36576" marB="36576" anchor="ctr">
                    <a:lnL w="6350" cap="flat" cmpd="sng" algn="ctr">
                      <a:solidFill>
                        <a:srgbClr val="E1E8EF"/>
                      </a:solidFill>
                      <a:prstDash val="solid"/>
                      <a:round/>
                      <a:headEnd type="none" w="med" len="med"/>
                      <a:tailEnd type="none" w="med" len="med"/>
                    </a:lnL>
                    <a:lnR w="6350" cap="flat" cmpd="sng" algn="ctr">
                      <a:solidFill>
                        <a:srgbClr val="E1E8EF"/>
                      </a:solidFill>
                      <a:prstDash val="solid"/>
                      <a:round/>
                      <a:headEnd type="none" w="med" len="med"/>
                      <a:tailEnd type="none" w="med" len="med"/>
                    </a:lnR>
                    <a:lnT w="6350" cap="flat" cmpd="sng" algn="ctr">
                      <a:solidFill>
                        <a:srgbClr val="E1E8EF"/>
                      </a:solidFill>
                      <a:prstDash val="solid"/>
                      <a:round/>
                      <a:headEnd type="none" w="med" len="med"/>
                      <a:tailEnd type="none" w="med" len="med"/>
                    </a:lnT>
                    <a:lnB w="6350" cap="flat" cmpd="sng" algn="ctr">
                      <a:solidFill>
                        <a:srgbClr val="E1E8EF"/>
                      </a:solidFill>
                      <a:prstDash val="solid"/>
                      <a:round/>
                      <a:headEnd type="none" w="med" len="med"/>
                      <a:tailEnd type="none" w="med" len="med"/>
                    </a:lnB>
                    <a:solidFill>
                      <a:srgbClr val="FFFFFF"/>
                    </a:solidFill>
                  </a:tcPr>
                </a:tc>
                <a:tc>
                  <a:txBody>
                    <a:bodyPr/>
                    <a:lstStyle/>
                    <a:p>
                      <a:pPr indent="0" marL="0">
                        <a:buNone/>
                      </a:pPr>
                      <a:r>
                        <a:rPr lang="en-US" sz="1100" dirty="0">
                          <a:solidFill>
                            <a:srgbClr val="1B2B3A"/>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91440" marR="91440" marT="36576" marB="36576" anchor="ctr">
                    <a:lnL w="6350" cap="flat" cmpd="sng" algn="ctr">
                      <a:solidFill>
                        <a:srgbClr val="E1E8EF"/>
                      </a:solidFill>
                      <a:prstDash val="solid"/>
                      <a:round/>
                      <a:headEnd type="none" w="med" len="med"/>
                      <a:tailEnd type="none" w="med" len="med"/>
                    </a:lnL>
                    <a:lnR w="6350" cap="flat" cmpd="sng" algn="ctr">
                      <a:solidFill>
                        <a:srgbClr val="E1E8EF"/>
                      </a:solidFill>
                      <a:prstDash val="solid"/>
                      <a:round/>
                      <a:headEnd type="none" w="med" len="med"/>
                      <a:tailEnd type="none" w="med" len="med"/>
                    </a:lnR>
                    <a:lnT w="6350" cap="flat" cmpd="sng" algn="ctr">
                      <a:solidFill>
                        <a:srgbClr val="E1E8EF"/>
                      </a:solidFill>
                      <a:prstDash val="solid"/>
                      <a:round/>
                      <a:headEnd type="none" w="med" len="med"/>
                      <a:tailEnd type="none" w="med" len="med"/>
                    </a:lnT>
                    <a:lnB w="6350" cap="flat" cmpd="sng" algn="ctr">
                      <a:solidFill>
                        <a:srgbClr val="E1E8EF"/>
                      </a:solidFill>
                      <a:prstDash val="solid"/>
                      <a:round/>
                      <a:headEnd type="none" w="med" len="med"/>
                      <a:tailEnd type="none" w="med" len="med"/>
                    </a:lnB>
                    <a:solidFill>
                      <a:srgbClr val="FFFFFF"/>
                    </a:solidFill>
                  </a:tcPr>
                </a:tc>
                <a:tc>
                  <a:txBody>
                    <a:bodyPr/>
                    <a:lstStyle/>
                    <a:p>
                      <a:pPr indent="0" marL="0">
                        <a:buNone/>
                      </a:pPr>
                      <a:r>
                        <a:rPr lang="en-US" sz="1100" dirty="0">
                          <a:solidFill>
                            <a:srgbClr val="1B2B3A"/>
                          </a:solidFill>
                          <a:latin typeface="Calibri" pitchFamily="34" charset="0"/>
                          <a:ea typeface="Calibri" pitchFamily="34" charset="-122"/>
                          <a:cs typeface="Calibri" pitchFamily="34" charset="-120"/>
                        </a:rPr>
                        <a:t>45</a:t>
                      </a:r>
                      <a:endParaRPr lang="en-US" sz="1100" dirty="0">
                        <a:latin typeface="Calibri" charset="0"/>
                        <a:ea typeface="Calibri" charset="0"/>
                        <a:cs typeface="Calibri" charset="0"/>
                      </a:endParaRPr>
                    </a:p>
                  </a:txBody>
                  <a:tcPr marL="91440" marR="91440" marT="36576" marB="36576" anchor="ctr">
                    <a:lnL w="6350" cap="flat" cmpd="sng" algn="ctr">
                      <a:solidFill>
                        <a:srgbClr val="E1E8EF"/>
                      </a:solidFill>
                      <a:prstDash val="solid"/>
                      <a:round/>
                      <a:headEnd type="none" w="med" len="med"/>
                      <a:tailEnd type="none" w="med" len="med"/>
                    </a:lnL>
                    <a:lnR w="6350" cap="flat" cmpd="sng" algn="ctr">
                      <a:solidFill>
                        <a:srgbClr val="E1E8EF"/>
                      </a:solidFill>
                      <a:prstDash val="solid"/>
                      <a:round/>
                      <a:headEnd type="none" w="med" len="med"/>
                      <a:tailEnd type="none" w="med" len="med"/>
                    </a:lnR>
                    <a:lnT w="6350" cap="flat" cmpd="sng" algn="ctr">
                      <a:solidFill>
                        <a:srgbClr val="E1E8EF"/>
                      </a:solidFill>
                      <a:prstDash val="solid"/>
                      <a:round/>
                      <a:headEnd type="none" w="med" len="med"/>
                      <a:tailEnd type="none" w="med" len="med"/>
                    </a:lnT>
                    <a:lnB w="6350" cap="flat" cmpd="sng" algn="ctr">
                      <a:solidFill>
                        <a:srgbClr val="E1E8EF"/>
                      </a:solidFill>
                      <a:prstDash val="solid"/>
                      <a:round/>
                      <a:headEnd type="none" w="med" len="med"/>
                      <a:tailEnd type="none" w="med" len="med"/>
                    </a:lnB>
                    <a:solidFill>
                      <a:srgbClr val="FFFFFF"/>
                    </a:solidFill>
                  </a:tcPr>
                </a:tc>
              </a:tr>
              <a:tr h="310896">
                <a:tc>
                  <a:txBody>
                    <a:bodyPr/>
                    <a:lstStyle/>
                    <a:p>
                      <a:pPr indent="0" marL="0">
                        <a:buNone/>
                      </a:pPr>
                      <a:r>
                        <a:rPr lang="en-US" sz="1100" dirty="0">
                          <a:solidFill>
                            <a:srgbClr val="1B2B3A"/>
                          </a:solidFill>
                          <a:latin typeface="Calibri" pitchFamily="34" charset="0"/>
                          <a:ea typeface="Calibri" pitchFamily="34" charset="-122"/>
                          <a:cs typeface="Calibri" pitchFamily="34" charset="-120"/>
                        </a:rPr>
                        <a:t>Safe</a:t>
                      </a:r>
                      <a:endParaRPr lang="en-US" sz="1100" dirty="0">
                        <a:latin typeface="Calibri" charset="0"/>
                        <a:ea typeface="Calibri" charset="0"/>
                        <a:cs typeface="Calibri" charset="0"/>
                      </a:endParaRPr>
                    </a:p>
                  </a:txBody>
                  <a:tcPr marL="91440" marR="91440" marT="36576" marB="36576" anchor="ctr">
                    <a:lnL w="6350" cap="flat" cmpd="sng" algn="ctr">
                      <a:solidFill>
                        <a:srgbClr val="E1E8EF"/>
                      </a:solidFill>
                      <a:prstDash val="solid"/>
                      <a:round/>
                      <a:headEnd type="none" w="med" len="med"/>
                      <a:tailEnd type="none" w="med" len="med"/>
                    </a:lnL>
                    <a:lnR w="6350" cap="flat" cmpd="sng" algn="ctr">
                      <a:solidFill>
                        <a:srgbClr val="E1E8EF"/>
                      </a:solidFill>
                      <a:prstDash val="solid"/>
                      <a:round/>
                      <a:headEnd type="none" w="med" len="med"/>
                      <a:tailEnd type="none" w="med" len="med"/>
                    </a:lnR>
                    <a:lnT w="6350" cap="flat" cmpd="sng" algn="ctr">
                      <a:solidFill>
                        <a:srgbClr val="E1E8EF"/>
                      </a:solidFill>
                      <a:prstDash val="solid"/>
                      <a:round/>
                      <a:headEnd type="none" w="med" len="med"/>
                      <a:tailEnd type="none" w="med" len="med"/>
                    </a:lnT>
                    <a:lnB w="6350" cap="flat" cmpd="sng" algn="ctr">
                      <a:solidFill>
                        <a:srgbClr val="E1E8EF"/>
                      </a:solidFill>
                      <a:prstDash val="solid"/>
                      <a:round/>
                      <a:headEnd type="none" w="med" len="med"/>
                      <a:tailEnd type="none" w="med" len="med"/>
                    </a:lnB>
                    <a:solidFill>
                      <a:srgbClr val="EEF3F8"/>
                    </a:solidFill>
                  </a:tcPr>
                </a:tc>
                <a:tc>
                  <a:txBody>
                    <a:bodyPr/>
                    <a:lstStyle/>
                    <a:p>
                      <a:pPr indent="0" marL="0">
                        <a:buNone/>
                      </a:pPr>
                      <a:r>
                        <a:rPr lang="en-US" sz="1100" dirty="0">
                          <a:solidFill>
                            <a:srgbClr val="1B2B3A"/>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91440" marR="91440" marT="36576" marB="36576" anchor="ctr">
                    <a:lnL w="6350" cap="flat" cmpd="sng" algn="ctr">
                      <a:solidFill>
                        <a:srgbClr val="E1E8EF"/>
                      </a:solidFill>
                      <a:prstDash val="solid"/>
                      <a:round/>
                      <a:headEnd type="none" w="med" len="med"/>
                      <a:tailEnd type="none" w="med" len="med"/>
                    </a:lnL>
                    <a:lnR w="6350" cap="flat" cmpd="sng" algn="ctr">
                      <a:solidFill>
                        <a:srgbClr val="E1E8EF"/>
                      </a:solidFill>
                      <a:prstDash val="solid"/>
                      <a:round/>
                      <a:headEnd type="none" w="med" len="med"/>
                      <a:tailEnd type="none" w="med" len="med"/>
                    </a:lnR>
                    <a:lnT w="6350" cap="flat" cmpd="sng" algn="ctr">
                      <a:solidFill>
                        <a:srgbClr val="E1E8EF"/>
                      </a:solidFill>
                      <a:prstDash val="solid"/>
                      <a:round/>
                      <a:headEnd type="none" w="med" len="med"/>
                      <a:tailEnd type="none" w="med" len="med"/>
                    </a:lnT>
                    <a:lnB w="6350" cap="flat" cmpd="sng" algn="ctr">
                      <a:solidFill>
                        <a:srgbClr val="E1E8EF"/>
                      </a:solidFill>
                      <a:prstDash val="solid"/>
                      <a:round/>
                      <a:headEnd type="none" w="med" len="med"/>
                      <a:tailEnd type="none" w="med" len="med"/>
                    </a:lnB>
                    <a:solidFill>
                      <a:srgbClr val="EEF3F8"/>
                    </a:solidFill>
                  </a:tcPr>
                </a:tc>
                <a:tc>
                  <a:txBody>
                    <a:bodyPr/>
                    <a:lstStyle/>
                    <a:p>
                      <a:pPr indent="0" marL="0">
                        <a:buNone/>
                      </a:pPr>
                      <a:r>
                        <a:rPr lang="en-US" sz="1100" dirty="0">
                          <a:solidFill>
                            <a:srgbClr val="1B2B3A"/>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91440" marR="91440" marT="36576" marB="36576" anchor="ctr">
                    <a:lnL w="6350" cap="flat" cmpd="sng" algn="ctr">
                      <a:solidFill>
                        <a:srgbClr val="E1E8EF"/>
                      </a:solidFill>
                      <a:prstDash val="solid"/>
                      <a:round/>
                      <a:headEnd type="none" w="med" len="med"/>
                      <a:tailEnd type="none" w="med" len="med"/>
                    </a:lnL>
                    <a:lnR w="6350" cap="flat" cmpd="sng" algn="ctr">
                      <a:solidFill>
                        <a:srgbClr val="E1E8EF"/>
                      </a:solidFill>
                      <a:prstDash val="solid"/>
                      <a:round/>
                      <a:headEnd type="none" w="med" len="med"/>
                      <a:tailEnd type="none" w="med" len="med"/>
                    </a:lnR>
                    <a:lnT w="6350" cap="flat" cmpd="sng" algn="ctr">
                      <a:solidFill>
                        <a:srgbClr val="E1E8EF"/>
                      </a:solidFill>
                      <a:prstDash val="solid"/>
                      <a:round/>
                      <a:headEnd type="none" w="med" len="med"/>
                      <a:tailEnd type="none" w="med" len="med"/>
                    </a:lnT>
                    <a:lnB w="6350" cap="flat" cmpd="sng" algn="ctr">
                      <a:solidFill>
                        <a:srgbClr val="E1E8EF"/>
                      </a:solidFill>
                      <a:prstDash val="solid"/>
                      <a:round/>
                      <a:headEnd type="none" w="med" len="med"/>
                      <a:tailEnd type="none" w="med" len="med"/>
                    </a:lnB>
                    <a:solidFill>
                      <a:srgbClr val="EEF3F8"/>
                    </a:solidFill>
                  </a:tcPr>
                </a:tc>
                <a:tc>
                  <a:txBody>
                    <a:bodyPr/>
                    <a:lstStyle/>
                    <a:p>
                      <a:pPr indent="0" marL="0">
                        <a:buNone/>
                      </a:pPr>
                      <a:r>
                        <a:rPr lang="en-US" sz="1100" dirty="0">
                          <a:solidFill>
                            <a:srgbClr val="1B2B3A"/>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91440" marR="91440" marT="36576" marB="36576" anchor="ctr">
                    <a:lnL w="6350" cap="flat" cmpd="sng" algn="ctr">
                      <a:solidFill>
                        <a:srgbClr val="E1E8EF"/>
                      </a:solidFill>
                      <a:prstDash val="solid"/>
                      <a:round/>
                      <a:headEnd type="none" w="med" len="med"/>
                      <a:tailEnd type="none" w="med" len="med"/>
                    </a:lnL>
                    <a:lnR w="6350" cap="flat" cmpd="sng" algn="ctr">
                      <a:solidFill>
                        <a:srgbClr val="E1E8EF"/>
                      </a:solidFill>
                      <a:prstDash val="solid"/>
                      <a:round/>
                      <a:headEnd type="none" w="med" len="med"/>
                      <a:tailEnd type="none" w="med" len="med"/>
                    </a:lnR>
                    <a:lnT w="6350" cap="flat" cmpd="sng" algn="ctr">
                      <a:solidFill>
                        <a:srgbClr val="E1E8EF"/>
                      </a:solidFill>
                      <a:prstDash val="solid"/>
                      <a:round/>
                      <a:headEnd type="none" w="med" len="med"/>
                      <a:tailEnd type="none" w="med" len="med"/>
                    </a:lnT>
                    <a:lnB w="6350" cap="flat" cmpd="sng" algn="ctr">
                      <a:solidFill>
                        <a:srgbClr val="E1E8EF"/>
                      </a:solidFill>
                      <a:prstDash val="solid"/>
                      <a:round/>
                      <a:headEnd type="none" w="med" len="med"/>
                      <a:tailEnd type="none" w="med" len="med"/>
                    </a:lnB>
                    <a:solidFill>
                      <a:srgbClr val="EEF3F8"/>
                    </a:solidFill>
                  </a:tcPr>
                </a:tc>
                <a:tc>
                  <a:txBody>
                    <a:bodyPr/>
                    <a:lstStyle/>
                    <a:p>
                      <a:pPr indent="0" marL="0">
                        <a:buNone/>
                      </a:pPr>
                      <a:r>
                        <a:rPr lang="en-US" sz="1100" dirty="0">
                          <a:solidFill>
                            <a:srgbClr val="1B2B3A"/>
                          </a:solidFill>
                          <a:latin typeface="Calibri" pitchFamily="34" charset="0"/>
                          <a:ea typeface="Calibri" pitchFamily="34" charset="-122"/>
                          <a:cs typeface="Calibri" pitchFamily="34" charset="-120"/>
                        </a:rPr>
                        <a:t>45</a:t>
                      </a:r>
                      <a:endParaRPr lang="en-US" sz="1100" dirty="0">
                        <a:latin typeface="Calibri" charset="0"/>
                        <a:ea typeface="Calibri" charset="0"/>
                        <a:cs typeface="Calibri" charset="0"/>
                      </a:endParaRPr>
                    </a:p>
                  </a:txBody>
                  <a:tcPr marL="91440" marR="91440" marT="36576" marB="36576" anchor="ctr">
                    <a:lnL w="6350" cap="flat" cmpd="sng" algn="ctr">
                      <a:solidFill>
                        <a:srgbClr val="E1E8EF"/>
                      </a:solidFill>
                      <a:prstDash val="solid"/>
                      <a:round/>
                      <a:headEnd type="none" w="med" len="med"/>
                      <a:tailEnd type="none" w="med" len="med"/>
                    </a:lnL>
                    <a:lnR w="6350" cap="flat" cmpd="sng" algn="ctr">
                      <a:solidFill>
                        <a:srgbClr val="E1E8EF"/>
                      </a:solidFill>
                      <a:prstDash val="solid"/>
                      <a:round/>
                      <a:headEnd type="none" w="med" len="med"/>
                      <a:tailEnd type="none" w="med" len="med"/>
                    </a:lnR>
                    <a:lnT w="6350" cap="flat" cmpd="sng" algn="ctr">
                      <a:solidFill>
                        <a:srgbClr val="E1E8EF"/>
                      </a:solidFill>
                      <a:prstDash val="solid"/>
                      <a:round/>
                      <a:headEnd type="none" w="med" len="med"/>
                      <a:tailEnd type="none" w="med" len="med"/>
                    </a:lnT>
                    <a:lnB w="6350" cap="flat" cmpd="sng" algn="ctr">
                      <a:solidFill>
                        <a:srgbClr val="E1E8EF"/>
                      </a:solidFill>
                      <a:prstDash val="solid"/>
                      <a:round/>
                      <a:headEnd type="none" w="med" len="med"/>
                      <a:tailEnd type="none" w="med" len="med"/>
                    </a:lnB>
                    <a:solidFill>
                      <a:srgbClr val="EEF3F8"/>
                    </a:solidFill>
                  </a:tcPr>
                </a:tc>
              </a:tr>
            </a:tbl>
          </a:graphicData>
        </a:graphic>
      </p:graphicFrame>
      <p:sp>
        <p:nvSpPr>
          <p:cNvPr id="24" name="Text 20"/>
          <p:cNvSpPr txBox="1"/>
          <p:nvPr/>
        </p:nvSpPr>
        <p:spPr>
          <a:xfrm>
            <a:off x="4937760" y="3310128"/>
            <a:ext cx="3657600" cy="274320"/>
          </a:xfrm>
          <a:prstGeom prst="rect">
            <a:avLst/>
          </a:prstGeom>
          <a:noFill/>
          <a:ln/>
        </p:spPr>
        <p:txBody>
          <a:bodyPr wrap="square" lIns="0" tIns="0" rIns="0" bIns="0" rtlCol="0" anchor="t"/>
          <a:lstStyle/>
          <a:p>
            <a:pPr indent="0" marL="0">
              <a:buNone/>
            </a:pPr>
            <a:r>
              <a:rPr lang="en-US" sz="1150" i="1" dirty="0">
                <a:solidFill>
                  <a:srgbClr val="5B6B7B"/>
                </a:solidFill>
                <a:latin typeface="Calibri" pitchFamily="34" charset="0"/>
                <a:ea typeface="Calibri" pitchFamily="34" charset="-122"/>
                <a:cs typeface="Calibri" pitchFamily="34" charset="-120"/>
              </a:rPr>
              <a:t>No false positives and no false negatives on the test set.</a:t>
            </a:r>
            <a:endParaRPr lang="en-US" sz="1150" dirty="0"/>
          </a:p>
        </p:txBody>
      </p:sp>
      <p:sp>
        <p:nvSpPr>
          <p:cNvPr id="25" name="Shape 21"/>
          <p:cNvSpPr/>
          <p:nvPr/>
        </p:nvSpPr>
        <p:spPr>
          <a:xfrm>
            <a:off x="548640" y="3703320"/>
            <a:ext cx="8046720" cy="914400"/>
          </a:xfrm>
          <a:prstGeom prst="roundRect">
            <a:avLst>
              <a:gd name="adj" fmla="val 12000"/>
            </a:avLst>
          </a:prstGeom>
          <a:solidFill>
            <a:srgbClr val="FFFFFF"/>
          </a:solidFill>
          <a:ln w="9525">
            <a:solidFill>
              <a:srgbClr val="E1E8EF"/>
            </a:solidFill>
            <a:prstDash val="solid"/>
          </a:ln>
          <a:effectLst>
            <a:outerShdw sx="100000" sy="100000" kx="0" ky="0" algn="bl" rotWithShape="0" blurRad="101600" dist="25400" dir="5400000">
              <a:srgbClr val="000000">
                <a:alpha val="12000"/>
              </a:srgbClr>
            </a:outerShdw>
          </a:effectLst>
        </p:spPr>
      </p:sp>
      <p:sp>
        <p:nvSpPr>
          <p:cNvPr id="26" name="Text 22"/>
          <p:cNvSpPr txBox="1"/>
          <p:nvPr/>
        </p:nvSpPr>
        <p:spPr>
          <a:xfrm>
            <a:off x="731520" y="3749040"/>
            <a:ext cx="1828800" cy="274320"/>
          </a:xfrm>
          <a:prstGeom prst="rect">
            <a:avLst/>
          </a:prstGeom>
          <a:noFill/>
          <a:ln/>
        </p:spPr>
        <p:txBody>
          <a:bodyPr wrap="square" lIns="0" tIns="0" rIns="0" bIns="0" rtlCol="0" anchor="ctr"/>
          <a:lstStyle/>
          <a:p>
            <a:pPr indent="0" marL="0">
              <a:buNone/>
            </a:pPr>
            <a:r>
              <a:rPr lang="en-US" sz="1200" b="1" dirty="0">
                <a:solidFill>
                  <a:srgbClr val="00695C"/>
                </a:solidFill>
                <a:latin typeface="Calibri" pitchFamily="34" charset="0"/>
                <a:ea typeface="Calibri" pitchFamily="34" charset="-122"/>
                <a:cs typeface="Calibri" pitchFamily="34" charset="-120"/>
              </a:rPr>
              <a:t>Unseen emails</a:t>
            </a:r>
            <a:endParaRPr lang="en-US" sz="1200" dirty="0"/>
          </a:p>
        </p:txBody>
      </p:sp>
      <p:sp>
        <p:nvSpPr>
          <p:cNvPr id="27" name="Text 23"/>
          <p:cNvSpPr txBox="1"/>
          <p:nvPr/>
        </p:nvSpPr>
        <p:spPr>
          <a:xfrm>
            <a:off x="731520" y="4023360"/>
            <a:ext cx="5120640" cy="274320"/>
          </a:xfrm>
          <a:prstGeom prst="rect">
            <a:avLst/>
          </a:prstGeom>
          <a:noFill/>
          <a:ln/>
        </p:spPr>
        <p:txBody>
          <a:bodyPr wrap="square" lIns="0" tIns="0" rIns="0" bIns="0" rtlCol="0" anchor="ctr"/>
          <a:lstStyle/>
          <a:p>
            <a:pPr indent="0" marL="0">
              <a:buNone/>
            </a:pPr>
            <a:r>
              <a:rPr lang="en-US" sz="1150" dirty="0">
                <a:solidFill>
                  <a:srgbClr val="1B2B3A"/>
                </a:solidFill>
                <a:latin typeface="Calibri" pitchFamily="34" charset="0"/>
                <a:ea typeface="Calibri" pitchFamily="34" charset="-122"/>
                <a:cs typeface="Calibri" pitchFamily="34" charset="-120"/>
              </a:rPr>
              <a:t>"URGENT: Your account will be suspended! Click http://verify-now-secure.com..."</a:t>
            </a:r>
            <a:endParaRPr lang="en-US" sz="1150" dirty="0"/>
          </a:p>
        </p:txBody>
      </p:sp>
      <p:sp>
        <p:nvSpPr>
          <p:cNvPr id="28" name="Text 24"/>
          <p:cNvSpPr txBox="1"/>
          <p:nvPr/>
        </p:nvSpPr>
        <p:spPr>
          <a:xfrm>
            <a:off x="6126480" y="4023360"/>
            <a:ext cx="2377440" cy="274320"/>
          </a:xfrm>
          <a:prstGeom prst="rect">
            <a:avLst/>
          </a:prstGeom>
          <a:noFill/>
          <a:ln/>
        </p:spPr>
        <p:txBody>
          <a:bodyPr wrap="square" lIns="0" tIns="0" rIns="0" bIns="0" rtlCol="0" anchor="ctr"/>
          <a:lstStyle/>
          <a:p>
            <a:pPr algn="r" indent="0" marL="0">
              <a:buNone/>
            </a:pPr>
            <a:r>
              <a:rPr lang="en-US" sz="1200" b="1" dirty="0">
                <a:solidFill>
                  <a:srgbClr val="8A2A12"/>
                </a:solidFill>
                <a:latin typeface="Calibri" pitchFamily="34" charset="0"/>
                <a:ea typeface="Calibri" pitchFamily="34" charset="-122"/>
                <a:cs typeface="Calibri" pitchFamily="34" charset="-120"/>
              </a:rPr>
              <a:t>Phishing  (0.9133)</a:t>
            </a:r>
            <a:endParaRPr lang="en-US" sz="1200" dirty="0"/>
          </a:p>
        </p:txBody>
      </p:sp>
      <p:sp>
        <p:nvSpPr>
          <p:cNvPr id="29" name="Text 25"/>
          <p:cNvSpPr txBox="1"/>
          <p:nvPr/>
        </p:nvSpPr>
        <p:spPr>
          <a:xfrm>
            <a:off x="731520" y="4297680"/>
            <a:ext cx="5120640" cy="274320"/>
          </a:xfrm>
          <a:prstGeom prst="rect">
            <a:avLst/>
          </a:prstGeom>
          <a:noFill/>
          <a:ln/>
        </p:spPr>
        <p:txBody>
          <a:bodyPr wrap="square" lIns="0" tIns="0" rIns="0" bIns="0" rtlCol="0" anchor="ctr"/>
          <a:lstStyle/>
          <a:p>
            <a:pPr indent="0" marL="0">
              <a:buNone/>
            </a:pPr>
            <a:r>
              <a:rPr lang="en-US" sz="1150" dirty="0">
                <a:solidFill>
                  <a:srgbClr val="1B2B3A"/>
                </a:solidFill>
                <a:latin typeface="Calibri" pitchFamily="34" charset="0"/>
                <a:ea typeface="Calibri" pitchFamily="34" charset="-122"/>
                <a:cs typeface="Calibri" pitchFamily="34" charset="-120"/>
              </a:rPr>
              <a:t>"Hi Sarah, attached is the agenda for tomorrow's 10am standup..."</a:t>
            </a:r>
            <a:endParaRPr lang="en-US" sz="1150" dirty="0"/>
          </a:p>
        </p:txBody>
      </p:sp>
      <p:sp>
        <p:nvSpPr>
          <p:cNvPr id="30" name="Text 26"/>
          <p:cNvSpPr txBox="1"/>
          <p:nvPr/>
        </p:nvSpPr>
        <p:spPr>
          <a:xfrm>
            <a:off x="6126480" y="4297680"/>
            <a:ext cx="2377440" cy="274320"/>
          </a:xfrm>
          <a:prstGeom prst="rect">
            <a:avLst/>
          </a:prstGeom>
          <a:noFill/>
          <a:ln/>
        </p:spPr>
        <p:txBody>
          <a:bodyPr wrap="square" lIns="0" tIns="0" rIns="0" bIns="0" rtlCol="0" anchor="ctr"/>
          <a:lstStyle/>
          <a:p>
            <a:pPr algn="r" indent="0" marL="0">
              <a:buNone/>
            </a:pPr>
            <a:r>
              <a:rPr lang="en-US" sz="1200" b="1" dirty="0">
                <a:solidFill>
                  <a:srgbClr val="00695C"/>
                </a:solidFill>
                <a:latin typeface="Calibri" pitchFamily="34" charset="0"/>
                <a:ea typeface="Calibri" pitchFamily="34" charset="-122"/>
                <a:cs typeface="Calibri" pitchFamily="34" charset="-120"/>
              </a:rPr>
              <a:t>Safe  (1.0000)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2F6FA"/>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640080"/>
          </a:xfrm>
          <a:prstGeom prst="rect">
            <a:avLst/>
          </a:prstGeom>
          <a:noFill/>
          <a:ln/>
        </p:spPr>
        <p:txBody>
          <a:bodyPr wrap="square" lIns="0" tIns="0" rIns="0" bIns="0" rtlCol="0" anchor="ctr"/>
          <a:lstStyle/>
          <a:p>
            <a:pPr indent="0" marL="0">
              <a:buNone/>
            </a:pPr>
            <a:r>
              <a:rPr lang="en-US" sz="3200" b="1" dirty="0">
                <a:solidFill>
                  <a:srgbClr val="1B2B3A"/>
                </a:solidFill>
                <a:latin typeface="Cambria" pitchFamily="34" charset="0"/>
                <a:ea typeface="Cambria" pitchFamily="34" charset="-122"/>
                <a:cs typeface="Cambria" pitchFamily="34" charset="-120"/>
              </a:rPr>
              <a:t>What the model relies on</a:t>
            </a:r>
            <a:endParaRPr lang="en-US" sz="3200" dirty="0"/>
          </a:p>
        </p:txBody>
      </p:sp>
      <p:sp>
        <p:nvSpPr>
          <p:cNvPr id="3" name="Text 1"/>
          <p:cNvSpPr txBox="1"/>
          <p:nvPr/>
        </p:nvSpPr>
        <p:spPr>
          <a:xfrm>
            <a:off x="548640" y="4846320"/>
            <a:ext cx="6400800" cy="201168"/>
          </a:xfrm>
          <a:prstGeom prst="rect">
            <a:avLst/>
          </a:prstGeom>
          <a:noFill/>
          <a:ln/>
        </p:spPr>
        <p:txBody>
          <a:bodyPr wrap="square" lIns="0" tIns="0" rIns="0" bIns="0" rtlCol="0" anchor="ctr"/>
          <a:lstStyle/>
          <a:p>
            <a:pPr indent="0" marL="0">
              <a:buNone/>
            </a:pPr>
            <a:r>
              <a:rPr lang="en-US" sz="900" dirty="0">
                <a:solidFill>
                  <a:srgbClr val="5B6B7B"/>
                </a:solidFill>
                <a:latin typeface="Calibri" pitchFamily="34" charset="0"/>
                <a:ea typeface="Calibri" pitchFamily="34" charset="-122"/>
                <a:cs typeface="Calibri" pitchFamily="34" charset="-120"/>
              </a:rPr>
              <a:t>Phishing Detection System  |  Aman Kumar Gautam  |  CS-2341642</a:t>
            </a:r>
            <a:endParaRPr lang="en-US" sz="900" dirty="0"/>
          </a:p>
        </p:txBody>
      </p:sp>
      <p:sp>
        <p:nvSpPr>
          <p:cNvPr id="4" name="Text 2"/>
          <p:cNvSpPr txBox="1"/>
          <p:nvPr/>
        </p:nvSpPr>
        <p:spPr>
          <a:xfrm>
            <a:off x="8138160" y="4846320"/>
            <a:ext cx="457200" cy="201168"/>
          </a:xfrm>
          <a:prstGeom prst="rect">
            <a:avLst/>
          </a:prstGeom>
          <a:noFill/>
          <a:ln/>
        </p:spPr>
        <p:txBody>
          <a:bodyPr wrap="square" lIns="0" tIns="0" rIns="0" bIns="0"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11</a:t>
            </a:r>
            <a:endParaRPr lang="en-US" sz="900" dirty="0"/>
          </a:p>
        </p:txBody>
      </p:sp>
      <p:sp>
        <p:nvSpPr>
          <p:cNvPr id="6" name="Text 3"/>
          <p:cNvSpPr txBox="1"/>
          <p:nvPr/>
        </p:nvSpPr>
        <p:spPr>
          <a:xfrm>
            <a:off x="548640" y="1051560"/>
            <a:ext cx="4572000" cy="274320"/>
          </a:xfrm>
          <a:prstGeom prst="rect">
            <a:avLst/>
          </a:prstGeom>
          <a:noFill/>
          <a:ln/>
        </p:spPr>
        <p:txBody>
          <a:bodyPr wrap="square" lIns="0" tIns="0" rIns="0" bIns="0" rtlCol="0" anchor="ctr"/>
          <a:lstStyle/>
          <a:p>
            <a:pPr indent="0" marL="0">
              <a:buNone/>
            </a:pPr>
            <a:r>
              <a:rPr lang="en-US" sz="1300" b="1" dirty="0">
                <a:solidFill>
                  <a:srgbClr val="5B6B7B"/>
                </a:solidFill>
                <a:latin typeface="Calibri" pitchFamily="34" charset="0"/>
                <a:ea typeface="Calibri" pitchFamily="34" charset="-122"/>
                <a:cs typeface="Calibri" pitchFamily="34" charset="-120"/>
              </a:rPr>
              <a:t>Top 10 features by importance</a:t>
            </a:r>
            <a:endParaRPr lang="en-US" sz="1300" dirty="0"/>
          </a:p>
        </p:txBody>
      </p:sp>
      <p:graphicFrame>
        <p:nvGraphicFramePr>
          <p:cNvPr id="7" name="Chart 0" descr=""/>
          <p:cNvGraphicFramePr/>
          <p:nvPr/>
        </p:nvGraphicFramePr>
        <p:xfrm>
          <a:off x="457200" y="1325880"/>
          <a:ext cx="4846320" cy="3337560"/>
        </p:xfrm>
        <a:graphic xmlns:a="http://schemas.openxmlformats.org/drawingml/2006/main">
          <a:graphicData uri="http://schemas.openxmlformats.org/drawingml/2006/chart">
            <c:chart xmlns:c="http://schemas.openxmlformats.org/drawingml/2006/chart" r:id="rId1"/>
          </a:graphicData>
        </a:graphic>
      </p:graphicFrame>
      <p:sp>
        <p:nvSpPr>
          <p:cNvPr id="8" name="Shape 4"/>
          <p:cNvSpPr/>
          <p:nvPr/>
        </p:nvSpPr>
        <p:spPr>
          <a:xfrm>
            <a:off x="5486400" y="1188720"/>
            <a:ext cx="3108960" cy="3429000"/>
          </a:xfrm>
          <a:prstGeom prst="roundRect">
            <a:avLst>
              <a:gd name="adj" fmla="val 3529"/>
            </a:avLst>
          </a:prstGeom>
          <a:solidFill>
            <a:srgbClr val="FDE6DF"/>
          </a:solidFill>
          <a:ln w="9525">
            <a:solidFill>
              <a:srgbClr val="E1E8EF"/>
            </a:solidFill>
            <a:prstDash val="solid"/>
          </a:ln>
          <a:effectLst>
            <a:outerShdw sx="100000" sy="100000" kx="0" ky="0" algn="bl" rotWithShape="0" blurRad="101600" dist="25400" dir="5400000">
              <a:srgbClr val="000000">
                <a:alpha val="12000"/>
              </a:srgbClr>
            </a:outerShdw>
          </a:effectLst>
        </p:spPr>
      </p:sp>
      <p:sp>
        <p:nvSpPr>
          <p:cNvPr id="9" name="Shape 5"/>
          <p:cNvSpPr/>
          <p:nvPr/>
        </p:nvSpPr>
        <p:spPr>
          <a:xfrm>
            <a:off x="5669280" y="1325880"/>
            <a:ext cx="457200" cy="457200"/>
          </a:xfrm>
          <a:prstGeom prst="ellipse">
            <a:avLst/>
          </a:prstGeom>
          <a:solidFill>
            <a:srgbClr val="E4572E"/>
          </a:solidFill>
          <a:ln w="12700">
            <a:solidFill>
              <a:srgbClr val="E4572E"/>
            </a:solidFill>
            <a:prstDash val="solid"/>
          </a:ln>
        </p:spPr>
      </p:sp>
      <p:pic>
        <p:nvPicPr>
          <p:cNvPr id="10" name="Image 0" descr="preencoded.png">    </p:cNvPr>
          <p:cNvPicPr>
            <a:picLocks noChangeAspect="1"/>
          </p:cNvPicPr>
          <p:nvPr/>
        </p:nvPicPr>
        <p:blipFill>
          <a:blip r:embed="rId2"/>
          <a:stretch>
            <a:fillRect/>
          </a:stretch>
        </p:blipFill>
        <p:spPr>
          <a:xfrm>
            <a:off x="5783580" y="1440180"/>
            <a:ext cx="228600" cy="228600"/>
          </a:xfrm>
          <a:prstGeom prst="rect">
            <a:avLst/>
          </a:prstGeom>
        </p:spPr>
      </p:pic>
      <p:sp>
        <p:nvSpPr>
          <p:cNvPr id="11" name="Text 6"/>
          <p:cNvSpPr txBox="1"/>
          <p:nvPr/>
        </p:nvSpPr>
        <p:spPr>
          <a:xfrm>
            <a:off x="6263640" y="1325880"/>
            <a:ext cx="2240280" cy="457200"/>
          </a:xfrm>
          <a:prstGeom prst="rect">
            <a:avLst/>
          </a:prstGeom>
          <a:noFill/>
          <a:ln/>
        </p:spPr>
        <p:txBody>
          <a:bodyPr wrap="square" lIns="0" tIns="0" rIns="0" bIns="0" rtlCol="0" anchor="ctr"/>
          <a:lstStyle/>
          <a:p>
            <a:pPr indent="0" marL="0">
              <a:buNone/>
            </a:pPr>
            <a:r>
              <a:rPr lang="en-US" sz="1400" b="1" dirty="0">
                <a:solidFill>
                  <a:srgbClr val="8A2A12"/>
                </a:solidFill>
                <a:latin typeface="Calibri" pitchFamily="34" charset="0"/>
                <a:ea typeface="Calibri" pitchFamily="34" charset="-122"/>
                <a:cs typeface="Calibri" pitchFamily="34" charset="-120"/>
              </a:rPr>
              <a:t>Read 100% with care</a:t>
            </a:r>
            <a:endParaRPr lang="en-US" sz="1400" dirty="0"/>
          </a:p>
        </p:txBody>
      </p:sp>
      <p:sp>
        <p:nvSpPr>
          <p:cNvPr id="12" name="Text 7"/>
          <p:cNvSpPr txBox="1"/>
          <p:nvPr/>
        </p:nvSpPr>
        <p:spPr>
          <a:xfrm>
            <a:off x="5669280" y="1965960"/>
            <a:ext cx="2788920" cy="2560320"/>
          </a:xfrm>
          <a:prstGeom prst="rect">
            <a:avLst/>
          </a:prstGeom>
          <a:noFill/>
          <a:ln/>
        </p:spPr>
        <p:txBody>
          <a:bodyPr wrap="square" lIns="0" tIns="0" rIns="0" bIns="0" rtlCol="0" anchor="t"/>
          <a:lstStyle/>
          <a:p>
            <a:pPr marL="342900" indent="-342900">
              <a:spcAft>
                <a:spcPts val="1200"/>
              </a:spcAft>
              <a:buSzPct val="100000"/>
              <a:buChar char="•"/>
            </a:pPr>
            <a:r>
              <a:rPr lang="en-US" sz="1400" dirty="0">
                <a:solidFill>
                  <a:srgbClr val="8A2A12"/>
                </a:solidFill>
                <a:latin typeface="Calibri" pitchFamily="34" charset="0"/>
                <a:ea typeface="Calibri" pitchFamily="34" charset="-122"/>
                <a:cs typeface="Calibri" pitchFamily="34" charset="-120"/>
              </a:rPr>
              <a:t>Data is synthetic and template-based</a:t>
            </a:r>
            <a:endParaRPr lang="en-US" sz="1400" dirty="0"/>
          </a:p>
          <a:p>
            <a:pPr marL="342900" indent="-342900">
              <a:spcAft>
                <a:spcPts val="1200"/>
              </a:spcAft>
              <a:buSzPct val="100000"/>
              <a:buChar char="•"/>
            </a:pPr>
            <a:r>
              <a:rPr lang="en-US" sz="1400" dirty="0">
                <a:solidFill>
                  <a:srgbClr val="8A2A12"/>
                </a:solidFill>
                <a:latin typeface="Calibri" pitchFamily="34" charset="0"/>
                <a:ea typeface="Calibri" pitchFamily="34" charset="-122"/>
                <a:cs typeface="Calibri" pitchFamily="34" charset="-120"/>
              </a:rPr>
              <a:t>Only 270 of 360 rows are unique</a:t>
            </a:r>
            <a:endParaRPr lang="en-US" sz="1400" dirty="0"/>
          </a:p>
          <a:p>
            <a:pPr marL="342900" indent="-342900">
              <a:spcAft>
                <a:spcPts val="1200"/>
              </a:spcAft>
              <a:buSzPct val="100000"/>
              <a:buChar char="•"/>
            </a:pPr>
            <a:r>
              <a:rPr lang="en-US" sz="1400" dirty="0">
                <a:solidFill>
                  <a:srgbClr val="8A2A12"/>
                </a:solidFill>
                <a:latin typeface="Calibri" pitchFamily="34" charset="0"/>
                <a:ea typeface="Calibri" pitchFamily="34" charset="-122"/>
                <a:cs typeface="Calibri" pitchFamily="34" charset="-120"/>
              </a:rPr>
              <a:t>33 of 90 test emails also appear in training</a:t>
            </a:r>
            <a:endParaRPr lang="en-US" sz="1400" dirty="0"/>
          </a:p>
          <a:p>
            <a:pPr marL="342900" indent="-342900">
              <a:spcAft>
                <a:spcPts val="1200"/>
              </a:spcAft>
              <a:buSzPct val="100000"/>
              <a:buChar char="•"/>
            </a:pPr>
            <a:r>
              <a:rPr lang="en-US" sz="1400" dirty="0">
                <a:solidFill>
                  <a:srgbClr val="8A2A12"/>
                </a:solidFill>
                <a:latin typeface="Calibri" pitchFamily="34" charset="0"/>
                <a:ea typeface="Calibri" pitchFamily="34" charset="-122"/>
                <a:cs typeface="Calibri" pitchFamily="34" charset="-120"/>
              </a:rPr>
              <a:t>So it validates the pipeline, not real-world accuracy</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2F6FA"/>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640080"/>
          </a:xfrm>
          <a:prstGeom prst="rect">
            <a:avLst/>
          </a:prstGeom>
          <a:noFill/>
          <a:ln/>
        </p:spPr>
        <p:txBody>
          <a:bodyPr wrap="square" lIns="0" tIns="0" rIns="0" bIns="0" rtlCol="0" anchor="ctr"/>
          <a:lstStyle/>
          <a:p>
            <a:pPr indent="0" marL="0">
              <a:buNone/>
            </a:pPr>
            <a:r>
              <a:rPr lang="en-US" sz="3200" b="1" dirty="0">
                <a:solidFill>
                  <a:srgbClr val="1B2B3A"/>
                </a:solidFill>
                <a:latin typeface="Cambria" pitchFamily="34" charset="0"/>
                <a:ea typeface="Cambria" pitchFamily="34" charset="-122"/>
                <a:cs typeface="Cambria" pitchFamily="34" charset="-120"/>
              </a:rPr>
              <a:t>Limitations, future scope and conclusion</a:t>
            </a:r>
            <a:endParaRPr lang="en-US" sz="3200" dirty="0"/>
          </a:p>
        </p:txBody>
      </p:sp>
      <p:sp>
        <p:nvSpPr>
          <p:cNvPr id="3" name="Text 1"/>
          <p:cNvSpPr txBox="1"/>
          <p:nvPr/>
        </p:nvSpPr>
        <p:spPr>
          <a:xfrm>
            <a:off x="548640" y="4846320"/>
            <a:ext cx="6400800" cy="201168"/>
          </a:xfrm>
          <a:prstGeom prst="rect">
            <a:avLst/>
          </a:prstGeom>
          <a:noFill/>
          <a:ln/>
        </p:spPr>
        <p:txBody>
          <a:bodyPr wrap="square" lIns="0" tIns="0" rIns="0" bIns="0" rtlCol="0" anchor="ctr"/>
          <a:lstStyle/>
          <a:p>
            <a:pPr indent="0" marL="0">
              <a:buNone/>
            </a:pPr>
            <a:r>
              <a:rPr lang="en-US" sz="900" dirty="0">
                <a:solidFill>
                  <a:srgbClr val="5B6B7B"/>
                </a:solidFill>
                <a:latin typeface="Calibri" pitchFamily="34" charset="0"/>
                <a:ea typeface="Calibri" pitchFamily="34" charset="-122"/>
                <a:cs typeface="Calibri" pitchFamily="34" charset="-120"/>
              </a:rPr>
              <a:t>Phishing Detection System  |  Aman Kumar Gautam  |  CS-2341642</a:t>
            </a:r>
            <a:endParaRPr lang="en-US" sz="900" dirty="0"/>
          </a:p>
        </p:txBody>
      </p:sp>
      <p:sp>
        <p:nvSpPr>
          <p:cNvPr id="4" name="Text 2"/>
          <p:cNvSpPr txBox="1"/>
          <p:nvPr/>
        </p:nvSpPr>
        <p:spPr>
          <a:xfrm>
            <a:off x="8138160" y="4846320"/>
            <a:ext cx="457200" cy="201168"/>
          </a:xfrm>
          <a:prstGeom prst="rect">
            <a:avLst/>
          </a:prstGeom>
          <a:noFill/>
          <a:ln/>
        </p:spPr>
        <p:txBody>
          <a:bodyPr wrap="square" lIns="0" tIns="0" rIns="0" bIns="0"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12</a:t>
            </a:r>
            <a:endParaRPr lang="en-US" sz="900" dirty="0"/>
          </a:p>
        </p:txBody>
      </p:sp>
      <p:sp>
        <p:nvSpPr>
          <p:cNvPr id="6" name="Shape 3"/>
          <p:cNvSpPr/>
          <p:nvPr/>
        </p:nvSpPr>
        <p:spPr>
          <a:xfrm>
            <a:off x="548640" y="1143000"/>
            <a:ext cx="3931920" cy="2331720"/>
          </a:xfrm>
          <a:prstGeom prst="roundRect">
            <a:avLst>
              <a:gd name="adj" fmla="val 4706"/>
            </a:avLst>
          </a:prstGeom>
          <a:solidFill>
            <a:srgbClr val="FFFFFF"/>
          </a:solidFill>
          <a:ln w="9525">
            <a:solidFill>
              <a:srgbClr val="E1E8EF"/>
            </a:solidFill>
            <a:prstDash val="solid"/>
          </a:ln>
          <a:effectLst>
            <a:outerShdw sx="100000" sy="100000" kx="0" ky="0" algn="bl" rotWithShape="0" blurRad="101600" dist="25400" dir="5400000">
              <a:srgbClr val="000000">
                <a:alpha val="12000"/>
              </a:srgbClr>
            </a:outerShdw>
          </a:effectLst>
        </p:spPr>
      </p:sp>
      <p:sp>
        <p:nvSpPr>
          <p:cNvPr id="7" name="Shape 4"/>
          <p:cNvSpPr/>
          <p:nvPr/>
        </p:nvSpPr>
        <p:spPr>
          <a:xfrm>
            <a:off x="731520" y="1280160"/>
            <a:ext cx="457200" cy="457200"/>
          </a:xfrm>
          <a:prstGeom prst="ellipse">
            <a:avLst/>
          </a:prstGeom>
          <a:solidFill>
            <a:srgbClr val="0F2A47"/>
          </a:solidFill>
          <a:ln w="12700">
            <a:solidFill>
              <a:srgbClr val="0F2A47"/>
            </a:solidFill>
            <a:prstDash val="solid"/>
          </a:ln>
        </p:spPr>
      </p:sp>
      <p:pic>
        <p:nvPicPr>
          <p:cNvPr id="8" name="Image 0" descr="preencoded.png">    </p:cNvPr>
          <p:cNvPicPr>
            <a:picLocks noChangeAspect="1"/>
          </p:cNvPicPr>
          <p:nvPr/>
        </p:nvPicPr>
        <p:blipFill>
          <a:blip r:embed="rId1"/>
          <a:stretch>
            <a:fillRect/>
          </a:stretch>
        </p:blipFill>
        <p:spPr>
          <a:xfrm>
            <a:off x="845820" y="1394460"/>
            <a:ext cx="228600" cy="228600"/>
          </a:xfrm>
          <a:prstGeom prst="rect">
            <a:avLst/>
          </a:prstGeom>
        </p:spPr>
      </p:pic>
      <p:sp>
        <p:nvSpPr>
          <p:cNvPr id="9" name="Text 5"/>
          <p:cNvSpPr txBox="1"/>
          <p:nvPr/>
        </p:nvSpPr>
        <p:spPr>
          <a:xfrm>
            <a:off x="1325880" y="1280160"/>
            <a:ext cx="2926080" cy="457200"/>
          </a:xfrm>
          <a:prstGeom prst="rect">
            <a:avLst/>
          </a:prstGeom>
          <a:noFill/>
          <a:ln/>
        </p:spPr>
        <p:txBody>
          <a:bodyPr wrap="square" lIns="0" tIns="0" rIns="0" bIns="0" rtlCol="0" anchor="ctr"/>
          <a:lstStyle/>
          <a:p>
            <a:pPr indent="0" marL="0">
              <a:buNone/>
            </a:pPr>
            <a:r>
              <a:rPr lang="en-US" sz="1600" b="1" dirty="0">
                <a:solidFill>
                  <a:srgbClr val="1B2B3A"/>
                </a:solidFill>
                <a:latin typeface="Calibri" pitchFamily="34" charset="0"/>
                <a:ea typeface="Calibri" pitchFamily="34" charset="-122"/>
                <a:cs typeface="Calibri" pitchFamily="34" charset="-120"/>
              </a:rPr>
              <a:t>Limitations</a:t>
            </a:r>
            <a:endParaRPr lang="en-US" sz="1600" dirty="0"/>
          </a:p>
        </p:txBody>
      </p:sp>
      <p:sp>
        <p:nvSpPr>
          <p:cNvPr id="10" name="Text 6"/>
          <p:cNvSpPr txBox="1"/>
          <p:nvPr/>
        </p:nvSpPr>
        <p:spPr>
          <a:xfrm>
            <a:off x="777240" y="1920240"/>
            <a:ext cx="3566160" cy="146304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B2B3A"/>
                </a:solidFill>
                <a:latin typeface="Calibri" pitchFamily="34" charset="0"/>
                <a:ea typeface="Calibri" pitchFamily="34" charset="-122"/>
                <a:cs typeface="Calibri" pitchFamily="34" charset="-120"/>
              </a:rPr>
              <a:t>Small synthetic dataset with duplicates</a:t>
            </a:r>
            <a:endParaRPr lang="en-US" sz="1250" dirty="0"/>
          </a:p>
          <a:p>
            <a:pPr marL="342900" indent="-342900">
              <a:spcAft>
                <a:spcPts val="600"/>
              </a:spcAft>
              <a:buSzPct val="100000"/>
              <a:buChar char="•"/>
            </a:pPr>
            <a:r>
              <a:rPr lang="en-US" sz="1250" dirty="0">
                <a:solidFill>
                  <a:srgbClr val="1B2B3A"/>
                </a:solidFill>
                <a:latin typeface="Calibri" pitchFamily="34" charset="0"/>
                <a:ea typeface="Calibri" pitchFamily="34" charset="-122"/>
                <a:cs typeface="Calibri" pitchFamily="34" charset="-120"/>
              </a:rPr>
              <a:t>Text only: no attachments or images</a:t>
            </a:r>
            <a:endParaRPr lang="en-US" sz="1250" dirty="0"/>
          </a:p>
          <a:p>
            <a:pPr marL="342900" indent="-342900">
              <a:spcAft>
                <a:spcPts val="600"/>
              </a:spcAft>
              <a:buSzPct val="100000"/>
              <a:buChar char="•"/>
            </a:pPr>
            <a:r>
              <a:rPr lang="en-US" sz="1250" dirty="0">
                <a:solidFill>
                  <a:srgbClr val="1B2B3A"/>
                </a:solidFill>
                <a:latin typeface="Calibri" pitchFamily="34" charset="0"/>
                <a:ea typeface="Calibri" pitchFamily="34" charset="-122"/>
                <a:cs typeface="Calibri" pitchFamily="34" charset="-120"/>
              </a:rPr>
              <a:t>No sender checks (SPF, DKIM, domain)</a:t>
            </a:r>
            <a:endParaRPr lang="en-US" sz="1250" dirty="0"/>
          </a:p>
          <a:p>
            <a:pPr marL="342900" indent="-342900">
              <a:spcAft>
                <a:spcPts val="600"/>
              </a:spcAft>
              <a:buSzPct val="100000"/>
              <a:buChar char="•"/>
            </a:pPr>
            <a:r>
              <a:rPr lang="en-US" sz="1250" dirty="0">
                <a:solidFill>
                  <a:srgbClr val="1B2B3A"/>
                </a:solidFill>
                <a:latin typeface="Calibri" pitchFamily="34" charset="0"/>
                <a:ea typeface="Calibri" pitchFamily="34" charset="-122"/>
                <a:cs typeface="Calibri" pitchFamily="34" charset="-120"/>
              </a:rPr>
              <a:t>Attackers can avoid obvious keywords</a:t>
            </a:r>
            <a:endParaRPr lang="en-US" sz="1250" dirty="0"/>
          </a:p>
        </p:txBody>
      </p:sp>
      <p:sp>
        <p:nvSpPr>
          <p:cNvPr id="11" name="Shape 7"/>
          <p:cNvSpPr/>
          <p:nvPr/>
        </p:nvSpPr>
        <p:spPr>
          <a:xfrm>
            <a:off x="4663440" y="1143000"/>
            <a:ext cx="3931920" cy="2331720"/>
          </a:xfrm>
          <a:prstGeom prst="roundRect">
            <a:avLst>
              <a:gd name="adj" fmla="val 4706"/>
            </a:avLst>
          </a:prstGeom>
          <a:solidFill>
            <a:srgbClr val="FFFFFF"/>
          </a:solidFill>
          <a:ln w="9525">
            <a:solidFill>
              <a:srgbClr val="E1E8EF"/>
            </a:solidFill>
            <a:prstDash val="solid"/>
          </a:ln>
          <a:effectLst>
            <a:outerShdw sx="100000" sy="100000" kx="0" ky="0" algn="bl" rotWithShape="0" blurRad="101600" dist="25400" dir="5400000">
              <a:srgbClr val="000000">
                <a:alpha val="12000"/>
              </a:srgbClr>
            </a:outerShdw>
          </a:effectLst>
        </p:spPr>
      </p:sp>
      <p:sp>
        <p:nvSpPr>
          <p:cNvPr id="12" name="Shape 8"/>
          <p:cNvSpPr/>
          <p:nvPr/>
        </p:nvSpPr>
        <p:spPr>
          <a:xfrm>
            <a:off x="4846320" y="1280160"/>
            <a:ext cx="457200" cy="457200"/>
          </a:xfrm>
          <a:prstGeom prst="ellipse">
            <a:avLst/>
          </a:prstGeom>
          <a:solidFill>
            <a:srgbClr val="0F2A47"/>
          </a:solidFill>
          <a:ln w="12700">
            <a:solidFill>
              <a:srgbClr val="0F2A47"/>
            </a:solidFill>
            <a:prstDash val="solid"/>
          </a:ln>
        </p:spPr>
      </p:sp>
      <p:pic>
        <p:nvPicPr>
          <p:cNvPr id="13" name="Image 1" descr="preencoded.png">    </p:cNvPr>
          <p:cNvPicPr>
            <a:picLocks noChangeAspect="1"/>
          </p:cNvPicPr>
          <p:nvPr/>
        </p:nvPicPr>
        <p:blipFill>
          <a:blip r:embed="rId2"/>
          <a:stretch>
            <a:fillRect/>
          </a:stretch>
        </p:blipFill>
        <p:spPr>
          <a:xfrm>
            <a:off x="4960620" y="1394460"/>
            <a:ext cx="228600" cy="228600"/>
          </a:xfrm>
          <a:prstGeom prst="rect">
            <a:avLst/>
          </a:prstGeom>
        </p:spPr>
      </p:pic>
      <p:sp>
        <p:nvSpPr>
          <p:cNvPr id="14" name="Text 9"/>
          <p:cNvSpPr txBox="1"/>
          <p:nvPr/>
        </p:nvSpPr>
        <p:spPr>
          <a:xfrm>
            <a:off x="5440680" y="1280160"/>
            <a:ext cx="2926080" cy="457200"/>
          </a:xfrm>
          <a:prstGeom prst="rect">
            <a:avLst/>
          </a:prstGeom>
          <a:noFill/>
          <a:ln/>
        </p:spPr>
        <p:txBody>
          <a:bodyPr wrap="square" lIns="0" tIns="0" rIns="0" bIns="0" rtlCol="0" anchor="ctr"/>
          <a:lstStyle/>
          <a:p>
            <a:pPr indent="0" marL="0">
              <a:buNone/>
            </a:pPr>
            <a:r>
              <a:rPr lang="en-US" sz="1600" b="1" dirty="0">
                <a:solidFill>
                  <a:srgbClr val="1B2B3A"/>
                </a:solidFill>
                <a:latin typeface="Calibri" pitchFamily="34" charset="0"/>
                <a:ea typeface="Calibri" pitchFamily="34" charset="-122"/>
                <a:cs typeface="Calibri" pitchFamily="34" charset="-120"/>
              </a:rPr>
              <a:t>Future scope</a:t>
            </a:r>
            <a:endParaRPr lang="en-US" sz="1600" dirty="0"/>
          </a:p>
        </p:txBody>
      </p:sp>
      <p:sp>
        <p:nvSpPr>
          <p:cNvPr id="15" name="Text 10"/>
          <p:cNvSpPr txBox="1"/>
          <p:nvPr/>
        </p:nvSpPr>
        <p:spPr>
          <a:xfrm>
            <a:off x="4892040" y="1920240"/>
            <a:ext cx="3566160" cy="146304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B2B3A"/>
                </a:solidFill>
                <a:latin typeface="Calibri" pitchFamily="34" charset="0"/>
                <a:ea typeface="Calibri" pitchFamily="34" charset="-122"/>
                <a:cs typeface="Calibri" pitchFamily="34" charset="-120"/>
              </a:rPr>
              <a:t>Train on a large real Kaggle dataset</a:t>
            </a:r>
            <a:endParaRPr lang="en-US" sz="1250" dirty="0"/>
          </a:p>
          <a:p>
            <a:pPr marL="342900" indent="-342900">
              <a:spcAft>
                <a:spcPts val="600"/>
              </a:spcAft>
              <a:buSzPct val="100000"/>
              <a:buChar char="•"/>
            </a:pPr>
            <a:r>
              <a:rPr lang="en-US" sz="1250" dirty="0">
                <a:solidFill>
                  <a:srgbClr val="1B2B3A"/>
                </a:solidFill>
                <a:latin typeface="Calibri" pitchFamily="34" charset="0"/>
                <a:ea typeface="Calibri" pitchFamily="34" charset="-122"/>
                <a:cs typeface="Calibri" pitchFamily="34" charset="-120"/>
              </a:rPr>
              <a:t>Add sender and URL-based features</a:t>
            </a:r>
            <a:endParaRPr lang="en-US" sz="1250" dirty="0"/>
          </a:p>
          <a:p>
            <a:pPr marL="342900" indent="-342900">
              <a:spcAft>
                <a:spcPts val="600"/>
              </a:spcAft>
              <a:buSzPct val="100000"/>
              <a:buChar char="•"/>
            </a:pPr>
            <a:r>
              <a:rPr lang="en-US" sz="1250" dirty="0">
                <a:solidFill>
                  <a:srgbClr val="1B2B3A"/>
                </a:solidFill>
                <a:latin typeface="Calibri" pitchFamily="34" charset="0"/>
                <a:ea typeface="Calibri" pitchFamily="34" charset="-122"/>
                <a:cs typeface="Calibri" pitchFamily="34" charset="-120"/>
              </a:rPr>
              <a:t>Compare Logistic Regression, boosting</a:t>
            </a:r>
            <a:endParaRPr lang="en-US" sz="1250" dirty="0"/>
          </a:p>
          <a:p>
            <a:pPr marL="342900" indent="-342900">
              <a:spcAft>
                <a:spcPts val="600"/>
              </a:spcAft>
              <a:buSzPct val="100000"/>
              <a:buChar char="•"/>
            </a:pPr>
            <a:r>
              <a:rPr lang="en-US" sz="1250" dirty="0">
                <a:solidFill>
                  <a:srgbClr val="1B2B3A"/>
                </a:solidFill>
                <a:latin typeface="Calibri" pitchFamily="34" charset="0"/>
                <a:ea typeface="Calibri" pitchFamily="34" charset="-122"/>
                <a:cs typeface="Calibri" pitchFamily="34" charset="-120"/>
              </a:rPr>
              <a:t>Email plugin for real-time checks</a:t>
            </a:r>
            <a:endParaRPr lang="en-US" sz="1250" dirty="0"/>
          </a:p>
        </p:txBody>
      </p:sp>
      <p:sp>
        <p:nvSpPr>
          <p:cNvPr id="16" name="Shape 11"/>
          <p:cNvSpPr/>
          <p:nvPr/>
        </p:nvSpPr>
        <p:spPr>
          <a:xfrm>
            <a:off x="548640" y="3657600"/>
            <a:ext cx="8046720" cy="1005840"/>
          </a:xfrm>
          <a:prstGeom prst="roundRect">
            <a:avLst>
              <a:gd name="adj" fmla="val 10909"/>
            </a:avLst>
          </a:prstGeom>
          <a:solidFill>
            <a:srgbClr val="0F2A47"/>
          </a:solidFill>
          <a:ln w="12700">
            <a:solidFill>
              <a:srgbClr val="0F2A47"/>
            </a:solidFill>
            <a:prstDash val="solid"/>
          </a:ln>
        </p:spPr>
      </p:sp>
      <p:sp>
        <p:nvSpPr>
          <p:cNvPr id="17" name="Text 12"/>
          <p:cNvSpPr txBox="1"/>
          <p:nvPr/>
        </p:nvSpPr>
        <p:spPr>
          <a:xfrm>
            <a:off x="777240" y="3721608"/>
            <a:ext cx="2743200" cy="274320"/>
          </a:xfrm>
          <a:prstGeom prst="rect">
            <a:avLst/>
          </a:prstGeom>
          <a:noFill/>
          <a:ln/>
        </p:spPr>
        <p:txBody>
          <a:bodyPr wrap="square" lIns="0" tIns="0" rIns="0" bIns="0" rtlCol="0" anchor="ctr"/>
          <a:lstStyle/>
          <a:p>
            <a:pPr indent="0" marL="0">
              <a:buNone/>
            </a:pPr>
            <a:r>
              <a:rPr lang="en-US" sz="1100" b="1" spc="200" kern="0" dirty="0">
                <a:solidFill>
                  <a:srgbClr val="00A896"/>
                </a:solidFill>
                <a:latin typeface="Calibri" pitchFamily="34" charset="0"/>
                <a:ea typeface="Calibri" pitchFamily="34" charset="-122"/>
                <a:cs typeface="Calibri" pitchFamily="34" charset="-120"/>
              </a:rPr>
              <a:t>Conclusion</a:t>
            </a:r>
            <a:endParaRPr lang="en-US" sz="1100" dirty="0"/>
          </a:p>
        </p:txBody>
      </p:sp>
      <p:sp>
        <p:nvSpPr>
          <p:cNvPr id="18" name="Text 13"/>
          <p:cNvSpPr txBox="1"/>
          <p:nvPr/>
        </p:nvSpPr>
        <p:spPr>
          <a:xfrm>
            <a:off x="777240" y="4005072"/>
            <a:ext cx="5669280" cy="59436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A working Phishing Detection System: TF-IDF plus red-flag features and a 300-tree Random Forest. It validates the pipeline; real-data testing is the next step.</a:t>
            </a:r>
            <a:endParaRPr lang="en-US" sz="1250" dirty="0"/>
          </a:p>
        </p:txBody>
      </p:sp>
      <p:sp>
        <p:nvSpPr>
          <p:cNvPr id="19" name="Text 14"/>
          <p:cNvSpPr txBox="1"/>
          <p:nvPr/>
        </p:nvSpPr>
        <p:spPr>
          <a:xfrm>
            <a:off x="6492240" y="3840480"/>
            <a:ext cx="2011680" cy="731520"/>
          </a:xfrm>
          <a:prstGeom prst="rect">
            <a:avLst/>
          </a:prstGeom>
          <a:noFill/>
          <a:ln/>
        </p:spPr>
        <p:txBody>
          <a:bodyPr wrap="square" lIns="0" tIns="0" rIns="0" bIns="0" rtlCol="0" anchor="ctr"/>
          <a:lstStyle/>
          <a:p>
            <a:pPr algn="r" indent="0" marL="0">
              <a:buNone/>
            </a:pPr>
            <a:r>
              <a:rPr lang="en-US" sz="2400" b="1" dirty="0">
                <a:solidFill>
                  <a:srgbClr val="00A896"/>
                </a:solidFill>
                <a:latin typeface="Cambria" pitchFamily="34" charset="0"/>
                <a:ea typeface="Cambria" pitchFamily="34" charset="-122"/>
                <a:cs typeface="Cambria" pitchFamily="34" charset="-120"/>
              </a:rPr>
              <a:t>Thank you</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Phishing Detection System</dc:title>
  <dc:subject>PptxGenJS Presentation</dc:subject>
  <dc:creator>Aman Kumar Gautam</dc:creator>
  <cp:lastModifiedBy>Aman Kumar Gautam</cp:lastModifiedBy>
  <cp:revision>1</cp:revision>
  <dcterms:created xsi:type="dcterms:W3CDTF">2026-10-16T10:32:54Z</dcterms:created>
  <dcterms:modified xsi:type="dcterms:W3CDTF">2026-10-16T10:32:54Z</dcterms:modified>
</cp:coreProperties>
</file>